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2000" b="0" i="0" u="none" strike="noStrike">
                <a:solidFill>
                  <a:srgbClr val="F8FAFC"/>
                </a:solidFill>
                <a:latin typeface="Calibri"/>
              </a:defRPr>
            </a:pPr>
            <a:r>
              <a:rPr sz="2000" b="0" i="0" u="none" strike="noStrike">
                <a:solidFill>
                  <a:srgbClr val="F8FAFC"/>
                </a:solidFill>
                <a:latin typeface="Calibri"/>
              </a:rPr>
              <a:t>Programas com resultado esperado</a:t>
            </a:r>
          </a:p>
        </c:rich>
      </c:tx>
      <c:layout/>
      <c:overlay val="0"/>
    </c:title>
    <c:autoTitleDeleted val="0"/>
    <c:plotArea>
      <c:layout/>
      <c:barChart>
        <c:barDir val="col"/>
        <c:grouping val="clustered"/>
        <c:varyColors val="0"/>
        <c:ser>
          <c:idx val="0"/>
          <c:order val="0"/>
          <c:tx>
            <c:strRef>
              <c:f>Sheet1!$B$1</c:f>
              <c:strCache>
                <c:ptCount val="1"/>
                <c:pt idx="0">
                  <c:v>Resultado esperado</c:v>
                </c:pt>
              </c:strCache>
            </c:strRef>
          </c:tx>
          <c:spPr>
            <a:solidFill>
              <a:srgbClr val="10BCD8"/>
            </a:solidFill>
            <a:effectLst/>
          </c:spPr>
          <c:invertIfNegative val="0"/>
          <c:dLbls>
            <c:numFmt formatCode="0" sourceLinked="0"/>
            <c:txPr>
              <a:bodyPr/>
              <a:lstStyle/>
              <a:p>
                <a:pPr>
                  <a:defRPr b="0" i="0" strike="noStrike" sz="2200" u="none">
                    <a:solidFill>
                      <a:srgbClr val="F8FAFC"/>
                    </a:solidFill>
                    <a:latin typeface="Calibri"/>
                  </a:defRPr>
                </a:pPr>
              </a:p>
            </c:txPr>
            <c:showLegendKey val="0"/>
            <c:showVal val="1"/>
            <c:showCatName val="0"/>
            <c:showSerName val="0"/>
            <c:showPercent val="0"/>
            <c:showBubbleSize val="0"/>
            <c:showLeaderLines val="0"/>
          </c:dLbls>
          <c:cat>
            <c:multiLvlStrRef>
              <c:f>Sheet1!$A$2:$A$3</c:f>
              <c:multiLvlStrCache>
                <c:ptCount val="2"/>
                <c:lvl>
                  <c:pt idx="0">
                    <c:v>Erros detectados</c:v>
                  </c:pt>
                  <c:pt idx="1">
                    <c:v>Controles aceitos</c:v>
                  </c:pt>
                </c:lvl>
              </c:multiLvlStrCache>
            </c:multiLvlStrRef>
          </c:cat>
          <c:val>
            <c:numRef>
              <c:f>Sheet1!$B$2:$B$3</c:f>
              <c:numCache>
                <c:formatCode>General</c:formatCode>
                <c:ptCount val="2"/>
                <c:pt idx="0">
                  <c:v>25</c:v>
                </c:pt>
                <c:pt idx="1">
                  <c:v>10</c:v>
                </c:pt>
              </c:numCache>
            </c:numRef>
          </c:val>
        </c:ser>
        <c:dLbls>
          <c:numFmt formatCode="0" sourceLinked="0"/>
          <c:txPr>
            <a:bodyPr/>
            <a:lstStyle/>
            <a:p>
              <a:pPr>
                <a:defRPr b="0" i="0" strike="noStrike" sz="2200" u="none">
                  <a:solidFill>
                    <a:srgbClr val="F8FAFC"/>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700" b="0" i="0" u="none" strike="noStrike">
                <a:solidFill>
                  <a:srgbClr val="F8FAFC"/>
                </a:solidFill>
                <a:latin typeface="Calibri"/>
              </a:defRPr>
            </a:pPr>
            <a:endParaRPr lang="en-US"/>
          </a:p>
        </c:txPr>
        <c:crossAx val="2094734552"/>
        <c:crosses val="autoZero"/>
        <c:auto val="1"/>
        <c:lblAlgn val="ctr"/>
        <c:noMultiLvlLbl val="1"/>
      </c:catAx>
      <c:valAx>
        <c:axId val="2094734552"/>
        <c:scaling>
          <c:orientation val="minMax"/>
          <c:max val="30"/>
          <c:min val="0"/>
        </c:scaling>
        <c:delete val="0"/>
        <c:axPos val="l"/>
        <c:majorGridlines>
          <c:spPr>
            <a:ln w="12700" cap="flat">
              <a:solidFill>
                <a:srgbClr val="283449"/>
              </a:solidFill>
              <a:prstDash val="solid"/>
              <a:round/>
            </a:ln>
          </c:spPr>
        </c:majorGridlines>
        <c:title>
          <c:tx>
            <c:rich>
              <a:bodyPr/>
              <a:lstStyle/>
              <a:p>
                <a:pPr>
                  <a:defRPr sz="1500" b="0" i="0" u="none" strike="noStrike">
                    <a:solidFill>
                      <a:srgbClr val="CBD5E1"/>
                    </a:solidFill>
                    <a:latin typeface="Calibri"/>
                  </a:defRPr>
                </a:pPr>
                <a:r>
                  <a:rPr sz="1500" b="0" i="0" u="none" strike="noStrike">
                    <a:solidFill>
                      <a:srgbClr val="CBD5E1"/>
                    </a:solidFill>
                    <a:latin typeface="Calibri"/>
                  </a:rPr>
                  <a:t>Quantidade de programas</a:t>
                </a:r>
              </a:p>
            </c:rich>
          </c:tx>
          <c:layout/>
          <c:overlay val="0"/>
        </c:title>
        <c:numFmt formatCode="General" sourceLinked="0"/>
        <c:majorTickMark val="out"/>
        <c:minorTickMark val="none"/>
        <c:tickLblPos val="nextTo"/>
        <c:spPr>
          <a:ln w="12700" cap="flat">
            <a:noFill/>
            <a:prstDash val="solid"/>
            <a:round/>
          </a:ln>
        </c:spPr>
        <c:txPr>
          <a:bodyPr/>
          <a:lstStyle/>
          <a:p>
            <a:pPr>
              <a:defRPr sz="1500" b="0" i="0" u="none" strike="noStrike">
                <a:solidFill>
                  <a:srgbClr val="CBD5E1"/>
                </a:solidFill>
                <a:latin typeface="Calibri"/>
              </a:defRPr>
            </a:pPr>
            <a:endParaRPr lang="en-US"/>
          </a:p>
        </c:txPr>
        <c:crossAx val="2094734554"/>
        <c:crosses val="autoZero"/>
        <c:crossBetween val="between"/>
        <c:majorUnit val="10"/>
      </c:valAx>
      <c:spPr>
        <a:solidFill>
          <a:srgbClr val="0B1324"/>
        </a:solidFill>
        <a:ln>
          <a:noFill/>
        </a:ln>
        <a:effectLst/>
      </c:spPr>
    </c:plotArea>
    <c:plotVisOnly val="1"/>
    <c:dispBlanksAs val="span"/>
  </c:chart>
  <c:spPr>
    <a:solidFill>
      <a:srgbClr val="0B1324"/>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15 segundos.
Apresente a NetSec como uma linguagem específica de domínio. O objetivo desta demonstração é explicar como o código escrito pelo usuário passa por um compilador próprio e chega a uma ação observável. O escopo validado de firewall é o laboratório Linux, não uma implantação de produção.
Fontes:
https://github.com/Mathwesm/NetSec/blob/5a56802/README.md
https://github.com/Mathwesm/NetSec/blob/5a56802/docs/especificacao.md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30 segundos.
Use um exemplo concreto: dois grupos podem apontar para o mesmo servidor, enquanto um play permite a porta 22 e outro a bloqueia. O diferencial acadêmico é detectar essa contradição antes de tocar na rede. Situe o público sem prometer provisionamento, roteamento ou monitoramento contínuo já implementados.
Fontes:
https://github.com/Mathwesm/NetSec/blob/5a56802/docs/especificacao.md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45 segundos.
Leia o programa de cima para baixo. admin tem tipo port, e o construtor port(22) valida o domínio. O IP pertence ao bloco reservado para documentação, portanto este exemplo deve rodar em simulação. Explique que report é uma mensagem escrita pelo autor, não uma prova automática de sucesso. A prova está nos registros de execução. O código completo equivalente está nos exemplos do repositório.
Fontes:
https://github.com/Mathwesm/NetSec/blob/5a56802/examples/02_policy.netsec
https://github.com/Mathwesm/NetSec/blob/5a56802/docs/especificacao.md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30 segundos.
Explique a separação entre sintaxe, significado e execução. A AST ainda pode representar um programa semanticamente inválido. A verificação de tipos e a expansão de grupos, condições e repetições produzem um plano próprio. Não usamos um analisador semântico pronto nem eval ou exec para executar NetSec. Pydantic cuida das fronteiras de dados, não das regras de tipos da linguagem.
Fontes:
https://github.com/Mathwesm/NetSec/blob/5a56802/src/netsec/core/lexer.py
https://github.com/Mathwesm/NetSec/blob/5a56802/src/netsec/core/parser.py
https://github.com/Mathwesm/NetSec/blob/5a56802/src/netsec/core/compiler.py
https://github.com/Mathwesm/NetSec/blob/5a56802/src/netsec/runtime.py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30 segundos.
Aponte que espaços e comentários não viram comandos, mas as posições são preservadas. A regra EBNF define a estrutura de declaração e a relação entre play, grupo e bloco. O exemplo usa os nomes da especificação; a implementação chama o token de identificador NAME. Um erro de ponto e vírgula é sintático. Um inteiro fora do intervalo de port é semântico.
Fontes:
https://github.com/Mathwesm/NetSec/blob/5a56802/src/netsec/core/lexer.py
https://github.com/Mathwesm/NetSec/blob/5a56802/src/netsec/core/parser.py
https://github.com/Mathwesm/NetSec/blob/5a56802/docs/especificacao.md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35 segundos.
Explique a árvore com o operador mais externo na raiz. O parser usa uma tabela de precedência: multiplicação tem nível 6, adição nível 5. Há também operadores lógicos, comparações e o operador de pertinência in. A avaliação resolve 3 durante a compilação. O diagrama é uma projeção da expressão, não a serialização completa de todos os campos da AST.
Fontes:
https://github.com/Mathwesm/NetSec/blob/5a56802/src/netsec/core/parser.py
https://github.com/Mathwesm/NetSec/blob/5a56802/src/netsec/core/values.py
https://github.com/Mathwesm/NetSec/blob/5a56802/examples/03_scopes.netsec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30 segundos.
Mostre que tipos de domínio são diferentes de um inteiro ou string genéricos. O construtor port valida os limites. O contexto check port 22 admite o literal por uma regra contextual documentada, mas port admin = 22 é rejeitado. As regras próprias de tipos estão em values.py. A biblioteca ipaddress valida somente os formatos de endereços e redes.
Fontes:
https://github.com/Mathwesm/NetSec/blob/5a56802/src/netsec/core/values.py
https://github.com/Mathwesm/NetSec/blob/5a56802/docs/especificacao.md
https://docs.python.org/3.12/library/ipaddress.html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40 segundos.
Este slide contém um trecho, não um programa completo. trusted é a rede declarada no exemplo 03, e current_host é o IP predefinido no play. Um bloco interno pode sombrear passes sem mudar a variável externa. Ambos os ramos de if são tipados, mas apenas o selecionado integra o plano. A condição não lê o resultado de um check. A repetição aceita de zero a cem iterações.
Fontes:
https://github.com/Mathwesm/NetSec/blob/5a56802/examples/03_scopes.netsec
https://github.com/Mathwesm/NetSec/blob/5a56802/src/netsec/core/compiler.py
https://github.com/Mathwesm/NetSec/blob/5a56802/src/netsec/core/values.py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40 segundos.
Execute o exemplo 04. O parser aceita a sintaxe. A análise semântica normaliza os IPs e compara a tripla IP, porta, protocolo ao longo do plano inteiro. A segunda política contradiz a primeira e gera E_FIREWALL_CONFLICT na linha 12, coluna 5. O objeto de diagnóstico também conserva a posição relacionada da regra anterior. O programa termina antes de iniciar qualquer ação. As instruções exibidas são recortes dos dois plays do exemplo.
Fontes:
https://github.com/Mathwesm/NetSec/blob/5a56802/examples/04_rejected.netsec
https://github.com/Mathwesm/NetSec/blob/5a56802/src/netsec/core/compiler.py
https://github.com/Mathwesm/NetSec/blob/5a56802/src/netsec/core/model.py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30 segundos.
À esquerda está uma projeção dos campos de uma instrução, omitindo source e message para caber. À direita está o despacho de _execute_instruction, reformatado sem mudar sua lógica. Antes do loop, preflight valida todos os alvos. O executor mantém registros por instrução, inclusive quando um adaptador falha. Não existe execução de strings Python nem delegação do fluxo da NetSec a outra linguagem.
Fontes:
https://github.com/Mathwesm/NetSec/blob/5a56802/src/netsec/core/compiler.py
https://github.com/Mathwesm/NetSec/blob/5a56802/src/netsec/runtime.py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25 segundos.
Diferencie resultado simulado de observação real. network não modifica firewall. docker exige inventário, label de propriedade e correspondência entre IP e container. Uma porta aberta não comprova que o serviço é seguro. SSH verifica o banner, HTTP verifica uma resposta HTTP e HTTPS também exige certificado válido para o IP. UDP genérico não é uma sonda suportada, embora regras UDP sejam aceitas.
Fontes:
https://github.com/Mathwesm/NetSec/blob/5a56802/src/netsec/runtime.py
https://github.com/Mathwesm/NetSec/blob/5a56802/src/netsec/services/probes.py
https://github.com/Mathwesm/NetSec/blob/5a56802/src/netsec/services/docker.py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30 segundos.
Abra o exemplo no editor e mostre autocomplete e ir à declaração. Introduza temporariamente int broken = true para mostrar o erro. O quadro representa o conteúdo e a sugestão, não é uma captura de tela. A integração real foi testada no VS Code: completion tipada, navegação e E_TYPE em documento não salvo. A extensão usa APIs diretas do VS Code, não um servidor LSP nesta versão. Reverta a edição de demonstração ao terminar.
Fontes:
https://github.com/Mathwesm/NetSec/blob/5a56802/src/netsec/editor.py
https://github.com/Mathwesm/NetSec/blob/5a56802/editor/vscode/extension.js
https://github.com/Mathwesm/NetSec/blob/5a56802/editor/vscode/test/integration.js
https://github.com/Mathwesm/NetSec/blob/5a56802/docs/validacao-2026-09-18.md
https://code.visualstudio.com/api/language-extensions/programmatic-language-features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30 segundos.
Identifique a origem da observação: as sondas saem do probe, não do próprio servidor. Os dois alvos têm nftables e capacidade NET_ADMIN no namespace de rede do container. A porta 23 usa uma fixture TCP em texto simples, não um servidor Telnet completo. O ambiente usa IPs explícitos e não publica portas. O firewall do Windows permaneceu intocado. Este teste usa o kernel Linux do ambiente Docker e comprova comportamento real de pacotes nesse laboratório.
Fontes:
https://github.com/Mathwesm/NetSec/blob/5a56802/lab/compose.yaml
https://github.com/Mathwesm/NetSec/blob/5a56802/lab/Dockerfile
https://github.com/Mathwesm/NetSec/blob/5a56802/lab/server.py
https://github.com/Mathwesm/NetSec/blob/5a56802/docs/laboratorio.md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105 segundos.
Reserve cerca de 1 minuto e 45 segundos. Antes da fala, inicie o laboratório com docker compose -f lab/compose.yaml up -d e abra o VS Code. Execute check, depois a simulação. No segundo comando, a quebra visual não deve ser copiada como dois comandos separados: use uma única linha. Mostre o código de saída 2 e E_FIREWALL_CONFLICT do exemplo inválido. Rode lab-test para obter evidências novas. O comando redefine apenas regras gerenciadas nos alvos do laboratório e testa a reaplicação. Se a inicialização do Docker consumir o tempo da apresentação, mostre os arquivos de evidência da execução anterior, identificando-os como execução gravada. Não apresente uma simulação como teste real. O roteiro completo está em docs/demonstracao.md.
Fontes:
https://github.com/Mathwesm/NetSec/blob/5a56802/docs/laboratorio.md
https://github.com/Mathwesm/NetSec/blob/5a56802/src/netsec/lab_validation.py
https://github.com/Mathwesm/NetSec/blob/5a56802/examples/02_policy.netsec
https://github.com/Mathwesm/NetSec/blob/5a56802/examples/04_rejected.netsec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35 segundos.
Mostre a comparação antes e depois. O teste considera timeout na porta 23 o comportamento esperado do drop aplicado. SSH e HTTP continuam disponíveis. O teste também exige unchanged na segunda aplicação das mesmas regras. A execução local e o job Linux do GitHub Actions tiveram sucesso. Isso valida esse cenário controlado, sem provar compatibilidade com qualquer firewall ou ambiente de produção. O JSON bruto fica em data/processed, fora do Git.
Fontes:
https://github.com/Mathwesm/NetSec/blob/5a56802/docs/validacao-2026-09-18.md
https://github.com/Mathwesm/NetSec/blob/5a56802/src/netsec/lab_validation.py
https://github.com/Mathwesm/NetSec/actions/runs/35370618495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35 segundos.
O experimento separa sintaxe de semântica: cada caso inválido passa pelo parser antes de avaliar a rejeição. São 25 programas com erro deliberado e 10 controles. Todos tiveram o diagnóstico ou aceitação esperados. Cada caso roda dez vezes e o relatório guarda a mediana de tempo, embora o gráfico mostre apenas contagens. O conjunto cobre tipos, fronteiras, escopo, IP/CIDR e conflitos. Zero falhas neste conjunto sintético não estima a precisão em uso real nem prova que todo erro possível é detectado.
Fontes:
https://github.com/Mathwesm/NetSec/blob/5a56802/src/netsec/evaluation.py
https://github.com/Mathwesm/NetSec/blob/5a56802/docs/validacao-2026-09-18.md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25 segundos.
Os 61 testes Python e quatro testes Node são executáveis e passaram novamente durante a preparação. A cobertura unitária registrada é 84% de src, sem contar as integrações separadas. O VS Code também teve um teste real de integração, e o laboratório validou o firewall. Não confunda CI Windows com aplicação do Windows Firewall: o job Windows valida compilador, runtime e editor. O código é organizado em src e as dependências Python são fixadas no lock do Poetry.
Fontes:
https://github.com/Mathwesm/NetSec/blob/5a56802/pyproject.toml
https://github.com/Mathwesm/NetSec/blob/5a56802/.github/workflows/ci.yml
https://github.com/Mathwesm/NetSec/blob/5a56802/docs/validacao-2026-09-18.md
https://github.com/Mathwesm/NetSec/actions/runs/35370618495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25 segundos.
Defenda as escolhas de escopo. Tipagem explícita, ausência de módulos e funções mantêm o foco nos requisitos obrigatórios. O compilador apresenta o primeiro erro e ainda não faz recuperação de múltiplos diagnósticos. O firewall Windows e servidores remotos não foram implementados. A sessão Windows atual não está elevada. A automação atual é um programa disparado manualmente; grupos e plays não significam que já existe coordenação distribuída de servidores.
Fontes:
https://github.com/Mathwesm/NetSec/blob/5a56802/README.md
https://github.com/Mathwesm/NetSec/blob/5a56802/docs/especificacao.md
https://github.com/Mathwesm/NetSec/blob/feat/academic-presentation/docs/evolucao.md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30 segundos.
Conclua retomando o objetivo: a NetSec transforma um programa tipado em verificações e regras observáveis. A entrega acadêmica preserva uma base demonstrável. A branch feat/professional-platform foi separada para evolução futura, ainda sem novos adaptadores. Os resultados esperados dessa evolução são uso por profissionais de redes, políticas com prévia, privilégio explícito, auditoria e testes em servidores. Isso é um plano, não um resultado medido. O artigo, as referências obrigatórias da disciplina e a revisão entre integrantes continuam sendo entregas separadas.
Fontes:
https://github.com/Mathwesm/NetSec/blob/5a56802/README.md
https://github.com/Mathwesm/NetSec/blob/feat/academic-presentation/docs/evolucao.md
https://github.com/Mathwesm/NetSec/blob/5a56802/docs/entregas.md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10 segundos.
Deixe este slide disponível durante a arguição. Os títulos têm links clicáveis. As notas de cada slide identificam os arquivos de implementação que sustentam as afirmações. A referência visual é NetSec Apresentacao_v.pdf, fornecida pela equipe. Os critérios acadêmicos vêm da apresentação oficial atividade_final_apresentacao (1).pptx. Os ícones usam Font Awesome Free via react-icons, licença CC BY 4.0 para os glifos. Estas referências técnicas não substituem as duas referências da bibliografia da disciplina exigidas para o artigo final.
Fontes:
https://github.com/Mathwesm/NetSec/blob/5a56802/README.md
https://github.com/Mathwesm/NetSec/blob/5a56802/docs/entregas.md
https://github.com/Mathwesm/NetSec/blob/5a56802/docs/validacao-2026-09-18.md
https://github.com/Mathwesm/NetSec
https://github.com/Mathwesm/NetSec/actions/runs/35370618495
https://docs.python.org/3.12/library/ipaddress.html
https://code.visualstudio.com/api/language-extensions/programmatic-language-features
https://wiki.nftables.org/wiki-nftables/index.php/Quick_reference-nftables_in_10_minutes
https://fontawesome.com/license/free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6-1.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Mathwesm/NetSec" TargetMode="External"/><Relationship Id="rId5" Type="http://schemas.openxmlformats.org/officeDocument/2006/relationships/hyperlink" Target="https://github.com/Mathwesm/NetSec/actions/runs/35370618495" TargetMode="External"/><Relationship Id="rId7" Type="http://schemas.openxmlformats.org/officeDocument/2006/relationships/hyperlink" Target="https://docs.python.org/3.12/library/ipaddress.html" TargetMode="External"/><Relationship Id="rId9" Type="http://schemas.openxmlformats.org/officeDocument/2006/relationships/hyperlink" Target="https://code.visualstudio.com/api/language-extensions/programmatic-language-features" TargetMode="External"/><Relationship Id="rId11" Type="http://schemas.openxmlformats.org/officeDocument/2006/relationships/hyperlink" Target="https://wiki.nftables.org/wiki-nftables/index.php/Quick_reference-nftables_in_10_minutes" TargetMode="External"/><Relationship Id="rId1" Type="http://schemas.openxmlformats.org/officeDocument/2006/relationships/image" Target="../media/image-20-1.png"/><Relationship Id="rId2" Type="http://schemas.openxmlformats.org/officeDocument/2006/relationships/image" Target="../media/image-20-2.png"/><Relationship Id="rId4" Type="http://schemas.openxmlformats.org/officeDocument/2006/relationships/image" Target="../media/image-20-3.png"/><Relationship Id="rId6" Type="http://schemas.openxmlformats.org/officeDocument/2006/relationships/image" Target="../media/image-20-4.png"/><Relationship Id="rId8" Type="http://schemas.openxmlformats.org/officeDocument/2006/relationships/image" Target="../media/image-20-5.png"/><Relationship Id="rId10" Type="http://schemas.openxmlformats.org/officeDocument/2006/relationships/image" Target="../media/image-20-6.png"/><Relationship Id="rId12" Type="http://schemas.openxmlformats.org/officeDocument/2006/relationships/slideLayout" Target="../slideLayouts/slideLayout1.xml"/><Relationship Id="rId1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24"/>
        </a:solidFill>
      </p:bgPr>
    </p:bg>
    <p:spTree>
      <p:nvGrpSpPr>
        <p:cNvPr id="1" name=""/>
        <p:cNvGrpSpPr/>
        <p:nvPr/>
      </p:nvGrpSpPr>
      <p:grpSpPr>
        <a:xfrm>
          <a:off x="0" y="0"/>
          <a:ext cx="0" cy="0"/>
          <a:chOff x="0" y="0"/>
          <a:chExt cx="0" cy="0"/>
        </a:xfrm>
      </p:grpSpPr>
      <p:sp>
        <p:nvSpPr>
          <p:cNvPr id="2" name="Shape 0"/>
          <p:cNvSpPr/>
          <p:nvPr/>
        </p:nvSpPr>
        <p:spPr>
          <a:xfrm>
            <a:off x="-1024128" y="-1005840"/>
            <a:ext cx="3456432" cy="3364992"/>
          </a:xfrm>
          <a:prstGeom prst="ellipse">
            <a:avLst/>
          </a:prstGeom>
          <a:solidFill>
            <a:srgbClr val="122B3F"/>
          </a:solidFill>
          <a:ln w="12700">
            <a:solidFill>
              <a:srgbClr val="333333">
                <a:alpha val="0"/>
              </a:srgbClr>
            </a:solidFill>
            <a:prstDash val="solid"/>
          </a:ln>
        </p:spPr>
      </p:sp>
      <p:sp>
        <p:nvSpPr>
          <p:cNvPr id="3" name="Shape 1"/>
          <p:cNvSpPr/>
          <p:nvPr/>
        </p:nvSpPr>
        <p:spPr>
          <a:xfrm>
            <a:off x="8686800" y="4709160"/>
            <a:ext cx="4663440" cy="3310128"/>
          </a:xfrm>
          <a:prstGeom prst="ellipse">
            <a:avLst/>
          </a:prstGeom>
          <a:solidFill>
            <a:srgbClr val="1D1D40"/>
          </a:solidFill>
          <a:ln w="12700">
            <a:solidFill>
              <a:srgbClr val="333333">
                <a:alpha val="0"/>
              </a:srgbClr>
            </a:solidFill>
            <a:prstDash val="solid"/>
          </a:ln>
        </p:spPr>
      </p:sp>
      <p:sp>
        <p:nvSpPr>
          <p:cNvPr id="4" name="Text 2"/>
          <p:cNvSpPr txBox="1"/>
          <p:nvPr/>
        </p:nvSpPr>
        <p:spPr>
          <a:xfrm>
            <a:off x="502920" y="6556248"/>
            <a:ext cx="7772400" cy="164592"/>
          </a:xfrm>
          <a:prstGeom prst="rect">
            <a:avLst/>
          </a:prstGeom>
          <a:noFill/>
          <a:ln/>
        </p:spPr>
        <p:txBody>
          <a:bodyPr wrap="square" lIns="0" tIns="0" rIns="0" bIns="0" rtlCol="0" anchor="ctr"/>
          <a:lstStyle/>
          <a:p>
            <a:pPr indent="0" marL="0">
              <a:buNone/>
            </a:pPr>
            <a:r>
              <a:rPr lang="en-US" sz="850" dirty="0">
                <a:solidFill>
                  <a:srgbClr val="8796AD"/>
                </a:solidFill>
                <a:latin typeface="Calibri" pitchFamily="34" charset="0"/>
                <a:ea typeface="Calibri" pitchFamily="34" charset="-122"/>
                <a:cs typeface="Calibri" pitchFamily="34" charset="-120"/>
              </a:rPr>
              <a:t>NetSec  ·  Redes + Segurança + Automação</a:t>
            </a:r>
            <a:endParaRPr lang="en-US" sz="850" dirty="0"/>
          </a:p>
        </p:txBody>
      </p:sp>
      <p:sp>
        <p:nvSpPr>
          <p:cNvPr id="5" name="Text 3"/>
          <p:cNvSpPr txBox="1"/>
          <p:nvPr/>
        </p:nvSpPr>
        <p:spPr>
          <a:xfrm>
            <a:off x="11292840" y="6547104"/>
            <a:ext cx="320040" cy="182880"/>
          </a:xfrm>
          <a:prstGeom prst="rect">
            <a:avLst/>
          </a:prstGeom>
          <a:noFill/>
          <a:ln/>
        </p:spPr>
        <p:txBody>
          <a:bodyPr wrap="square" lIns="0" tIns="0" rIns="0" bIns="0" rtlCol="0" anchor="ctr"/>
          <a:lstStyle/>
          <a:p>
            <a:pPr algn="r" indent="0" marL="0">
              <a:buNone/>
            </a:pPr>
            <a:r>
              <a:rPr lang="en-US" sz="850" dirty="0">
                <a:solidFill>
                  <a:srgbClr val="8796AD"/>
                </a:solidFill>
                <a:latin typeface="Calibri" pitchFamily="34" charset="0"/>
                <a:ea typeface="Calibri" pitchFamily="34" charset="-122"/>
                <a:cs typeface="Calibri" pitchFamily="34" charset="-120"/>
              </a:rPr>
              <a:t>1</a:t>
            </a:r>
            <a:endParaRPr lang="en-US" sz="850" dirty="0"/>
          </a:p>
        </p:txBody>
      </p:sp>
      <p:sp>
        <p:nvSpPr>
          <p:cNvPr id="6" name="Shape 4"/>
          <p:cNvSpPr/>
          <p:nvPr/>
        </p:nvSpPr>
        <p:spPr>
          <a:xfrm>
            <a:off x="5760720" y="777240"/>
            <a:ext cx="658368" cy="658368"/>
          </a:xfrm>
          <a:prstGeom prst="ellipse">
            <a:avLst/>
          </a:prstGeom>
          <a:solidFill>
            <a:srgbClr val="10BCD8"/>
          </a:solidFill>
          <a:ln w="12700">
            <a:solidFill>
              <a:srgbClr val="10BCD8">
                <a:alpha val="0"/>
              </a:srgbClr>
            </a:solidFill>
            <a:prstDash val="solid"/>
          </a:ln>
        </p:spPr>
      </p:sp>
      <p:pic>
        <p:nvPicPr>
          <p:cNvPr id="7" name="Image 0" descr="preencoded.png">    </p:cNvPr>
          <p:cNvPicPr>
            <a:picLocks noChangeAspect="1"/>
          </p:cNvPicPr>
          <p:nvPr/>
        </p:nvPicPr>
        <p:blipFill>
          <a:blip r:embed="rId1"/>
          <a:stretch>
            <a:fillRect/>
          </a:stretch>
        </p:blipFill>
        <p:spPr>
          <a:xfrm>
            <a:off x="5912145" y="928665"/>
            <a:ext cx="355519" cy="355519"/>
          </a:xfrm>
          <a:prstGeom prst="rect">
            <a:avLst/>
          </a:prstGeom>
        </p:spPr>
      </p:pic>
      <p:sp>
        <p:nvSpPr>
          <p:cNvPr id="8" name="Text 5"/>
          <p:cNvSpPr txBox="1"/>
          <p:nvPr/>
        </p:nvSpPr>
        <p:spPr>
          <a:xfrm>
            <a:off x="914400" y="1737360"/>
            <a:ext cx="10360152" cy="777240"/>
          </a:xfrm>
          <a:prstGeom prst="rect">
            <a:avLst/>
          </a:prstGeom>
          <a:noFill/>
          <a:ln/>
        </p:spPr>
        <p:txBody>
          <a:bodyPr wrap="square" lIns="0" tIns="0" rIns="0" bIns="0" rtlCol="0" anchor="ctr"/>
          <a:lstStyle/>
          <a:p>
            <a:pPr algn="ctr" indent="0" marL="0">
              <a:buNone/>
            </a:pPr>
            <a:r>
              <a:rPr lang="en-US" sz="4600" b="1" dirty="0">
                <a:solidFill>
                  <a:srgbClr val="F8FAFC"/>
                </a:solidFill>
                <a:latin typeface="Arial" pitchFamily="34" charset="0"/>
                <a:ea typeface="Arial" pitchFamily="34" charset="-122"/>
                <a:cs typeface="Arial" pitchFamily="34" charset="-120"/>
              </a:rPr>
              <a:t>NetSec</a:t>
            </a:r>
            <a:endParaRPr lang="en-US" sz="4600" dirty="0"/>
          </a:p>
        </p:txBody>
      </p:sp>
      <p:sp>
        <p:nvSpPr>
          <p:cNvPr id="9" name="Text 6"/>
          <p:cNvSpPr txBox="1"/>
          <p:nvPr/>
        </p:nvSpPr>
        <p:spPr>
          <a:xfrm>
            <a:off x="1005840" y="2779776"/>
            <a:ext cx="10149840" cy="457200"/>
          </a:xfrm>
          <a:prstGeom prst="rect">
            <a:avLst/>
          </a:prstGeom>
          <a:noFill/>
          <a:ln/>
        </p:spPr>
        <p:txBody>
          <a:bodyPr wrap="square" lIns="0" tIns="0" rIns="0" bIns="0" rtlCol="0" anchor="ctr"/>
          <a:lstStyle/>
          <a:p>
            <a:pPr algn="ctr" indent="0" marL="0">
              <a:buNone/>
            </a:pPr>
            <a:r>
              <a:rPr lang="en-US" sz="2500" dirty="0">
                <a:solidFill>
                  <a:srgbClr val="10BCD8"/>
                </a:solidFill>
                <a:latin typeface="Calibri" pitchFamily="34" charset="0"/>
                <a:ea typeface="Calibri" pitchFamily="34" charset="-122"/>
                <a:cs typeface="Calibri" pitchFamily="34" charset="-120"/>
              </a:rPr>
              <a:t>Linguagem de programação para redes e segurança</a:t>
            </a:r>
            <a:endParaRPr lang="en-US" sz="2500" dirty="0"/>
          </a:p>
        </p:txBody>
      </p:sp>
      <p:sp>
        <p:nvSpPr>
          <p:cNvPr id="10" name="Text 7"/>
          <p:cNvSpPr txBox="1"/>
          <p:nvPr/>
        </p:nvSpPr>
        <p:spPr>
          <a:xfrm>
            <a:off x="1188720" y="3749040"/>
            <a:ext cx="9784080" cy="502920"/>
          </a:xfrm>
          <a:prstGeom prst="rect">
            <a:avLst/>
          </a:prstGeom>
          <a:noFill/>
          <a:ln/>
        </p:spPr>
        <p:txBody>
          <a:bodyPr wrap="square" lIns="0" tIns="0" rIns="0" bIns="0" rtlCol="0" anchor="ctr"/>
          <a:lstStyle/>
          <a:p>
            <a:pPr algn="ctr" indent="0" marL="0">
              <a:buNone/>
            </a:pPr>
            <a:r>
              <a:rPr lang="en-US" sz="2000" i="1" dirty="0">
                <a:solidFill>
                  <a:srgbClr val="CBD5E1"/>
                </a:solidFill>
                <a:latin typeface="Calibri" pitchFamily="34" charset="0"/>
                <a:ea typeface="Calibri" pitchFamily="34" charset="-122"/>
                <a:cs typeface="Calibri" pitchFamily="34" charset="-120"/>
              </a:rPr>
              <a:t>Compilador próprio, tipos explícitos e uma demonstração de firewall real</a:t>
            </a:r>
            <a:endParaRPr lang="en-US" sz="2000" dirty="0"/>
          </a:p>
        </p:txBody>
      </p:sp>
      <p:sp>
        <p:nvSpPr>
          <p:cNvPr id="11" name="Shape 8"/>
          <p:cNvSpPr/>
          <p:nvPr/>
        </p:nvSpPr>
        <p:spPr>
          <a:xfrm>
            <a:off x="2852928" y="4828032"/>
            <a:ext cx="411480" cy="411480"/>
          </a:xfrm>
          <a:prstGeom prst="ellipse">
            <a:avLst/>
          </a:prstGeom>
          <a:solidFill>
            <a:srgbClr val="7B6FF0"/>
          </a:solidFill>
          <a:ln w="12700">
            <a:solidFill>
              <a:srgbClr val="7B6FF0">
                <a:alpha val="0"/>
              </a:srgbClr>
            </a:solidFill>
            <a:prstDash val="solid"/>
          </a:ln>
        </p:spPr>
      </p:sp>
      <p:pic>
        <p:nvPicPr>
          <p:cNvPr id="12" name="Image 1" descr="preencoded.png">    </p:cNvPr>
          <p:cNvPicPr>
            <a:picLocks noChangeAspect="1"/>
          </p:cNvPicPr>
          <p:nvPr/>
        </p:nvPicPr>
        <p:blipFill>
          <a:blip r:embed="rId2"/>
          <a:stretch>
            <a:fillRect/>
          </a:stretch>
        </p:blipFill>
        <p:spPr>
          <a:xfrm>
            <a:off x="2947568" y="4922672"/>
            <a:ext cx="222199" cy="222199"/>
          </a:xfrm>
          <a:prstGeom prst="rect">
            <a:avLst/>
          </a:prstGeom>
        </p:spPr>
      </p:pic>
      <p:sp>
        <p:nvSpPr>
          <p:cNvPr id="13" name="Text 9"/>
          <p:cNvSpPr txBox="1"/>
          <p:nvPr/>
        </p:nvSpPr>
        <p:spPr>
          <a:xfrm>
            <a:off x="3401568" y="4855464"/>
            <a:ext cx="1463040" cy="320040"/>
          </a:xfrm>
          <a:prstGeom prst="rect">
            <a:avLst/>
          </a:prstGeom>
          <a:noFill/>
          <a:ln/>
        </p:spPr>
        <p:txBody>
          <a:bodyPr wrap="square" lIns="0" tIns="0" rIns="0" bIns="0" rtlCol="0" anchor="ctr"/>
          <a:lstStyle/>
          <a:p>
            <a:pPr indent="0" marL="0">
              <a:buNone/>
            </a:pPr>
            <a:r>
              <a:rPr lang="en-US" sz="1700" dirty="0">
                <a:solidFill>
                  <a:srgbClr val="8796AD"/>
                </a:solidFill>
                <a:latin typeface="Calibri" pitchFamily="34" charset="0"/>
                <a:ea typeface="Calibri" pitchFamily="34" charset="-122"/>
                <a:cs typeface="Calibri" pitchFamily="34" charset="-120"/>
              </a:rPr>
              <a:t>Redes</a:t>
            </a:r>
            <a:endParaRPr lang="en-US" sz="1700" dirty="0"/>
          </a:p>
        </p:txBody>
      </p:sp>
      <p:sp>
        <p:nvSpPr>
          <p:cNvPr id="14" name="Shape 10"/>
          <p:cNvSpPr/>
          <p:nvPr/>
        </p:nvSpPr>
        <p:spPr>
          <a:xfrm>
            <a:off x="5138928" y="4828032"/>
            <a:ext cx="411480" cy="411480"/>
          </a:xfrm>
          <a:prstGeom prst="ellipse">
            <a:avLst/>
          </a:prstGeom>
          <a:solidFill>
            <a:srgbClr val="7B6FF0"/>
          </a:solidFill>
          <a:ln w="12700">
            <a:solidFill>
              <a:srgbClr val="7B6FF0">
                <a:alpha val="0"/>
              </a:srgbClr>
            </a:solidFill>
            <a:prstDash val="solid"/>
          </a:ln>
        </p:spPr>
      </p:sp>
      <p:pic>
        <p:nvPicPr>
          <p:cNvPr id="15" name="Image 2" descr="preencoded.png">    </p:cNvPr>
          <p:cNvPicPr>
            <a:picLocks noChangeAspect="1"/>
          </p:cNvPicPr>
          <p:nvPr/>
        </p:nvPicPr>
        <p:blipFill>
          <a:blip r:embed="rId3"/>
          <a:stretch>
            <a:fillRect/>
          </a:stretch>
        </p:blipFill>
        <p:spPr>
          <a:xfrm>
            <a:off x="5233568" y="4922672"/>
            <a:ext cx="222199" cy="222199"/>
          </a:xfrm>
          <a:prstGeom prst="rect">
            <a:avLst/>
          </a:prstGeom>
        </p:spPr>
      </p:pic>
      <p:sp>
        <p:nvSpPr>
          <p:cNvPr id="16" name="Text 11"/>
          <p:cNvSpPr txBox="1"/>
          <p:nvPr/>
        </p:nvSpPr>
        <p:spPr>
          <a:xfrm>
            <a:off x="5687568" y="4855464"/>
            <a:ext cx="1463040" cy="320040"/>
          </a:xfrm>
          <a:prstGeom prst="rect">
            <a:avLst/>
          </a:prstGeom>
          <a:noFill/>
          <a:ln/>
        </p:spPr>
        <p:txBody>
          <a:bodyPr wrap="square" lIns="0" tIns="0" rIns="0" bIns="0" rtlCol="0" anchor="ctr"/>
          <a:lstStyle/>
          <a:p>
            <a:pPr indent="0" marL="0">
              <a:buNone/>
            </a:pPr>
            <a:r>
              <a:rPr lang="en-US" sz="1700" dirty="0">
                <a:solidFill>
                  <a:srgbClr val="8796AD"/>
                </a:solidFill>
                <a:latin typeface="Calibri" pitchFamily="34" charset="0"/>
                <a:ea typeface="Calibri" pitchFamily="34" charset="-122"/>
                <a:cs typeface="Calibri" pitchFamily="34" charset="-120"/>
              </a:rPr>
              <a:t>Linguagem</a:t>
            </a:r>
            <a:endParaRPr lang="en-US" sz="1700" dirty="0"/>
          </a:p>
        </p:txBody>
      </p:sp>
      <p:sp>
        <p:nvSpPr>
          <p:cNvPr id="17" name="Shape 12"/>
          <p:cNvSpPr/>
          <p:nvPr/>
        </p:nvSpPr>
        <p:spPr>
          <a:xfrm>
            <a:off x="7424928" y="4828032"/>
            <a:ext cx="411480" cy="411480"/>
          </a:xfrm>
          <a:prstGeom prst="ellipse">
            <a:avLst/>
          </a:prstGeom>
          <a:solidFill>
            <a:srgbClr val="7B6FF0"/>
          </a:solidFill>
          <a:ln w="12700">
            <a:solidFill>
              <a:srgbClr val="7B6FF0">
                <a:alpha val="0"/>
              </a:srgbClr>
            </a:solidFill>
            <a:prstDash val="solid"/>
          </a:ln>
        </p:spPr>
      </p:sp>
      <p:pic>
        <p:nvPicPr>
          <p:cNvPr id="18" name="Image 3" descr="preencoded.png">    </p:cNvPr>
          <p:cNvPicPr>
            <a:picLocks noChangeAspect="1"/>
          </p:cNvPicPr>
          <p:nvPr/>
        </p:nvPicPr>
        <p:blipFill>
          <a:blip r:embed="rId4"/>
          <a:stretch>
            <a:fillRect/>
          </a:stretch>
        </p:blipFill>
        <p:spPr>
          <a:xfrm>
            <a:off x="7519568" y="4922672"/>
            <a:ext cx="222199" cy="222199"/>
          </a:xfrm>
          <a:prstGeom prst="rect">
            <a:avLst/>
          </a:prstGeom>
        </p:spPr>
      </p:pic>
      <p:sp>
        <p:nvSpPr>
          <p:cNvPr id="19" name="Text 13"/>
          <p:cNvSpPr txBox="1"/>
          <p:nvPr/>
        </p:nvSpPr>
        <p:spPr>
          <a:xfrm>
            <a:off x="7973568" y="4855464"/>
            <a:ext cx="1463040" cy="320040"/>
          </a:xfrm>
          <a:prstGeom prst="rect">
            <a:avLst/>
          </a:prstGeom>
          <a:noFill/>
          <a:ln/>
        </p:spPr>
        <p:txBody>
          <a:bodyPr wrap="square" lIns="0" tIns="0" rIns="0" bIns="0" rtlCol="0" anchor="ctr"/>
          <a:lstStyle/>
          <a:p>
            <a:pPr indent="0" marL="0">
              <a:buNone/>
            </a:pPr>
            <a:r>
              <a:rPr lang="en-US" sz="1700" dirty="0">
                <a:solidFill>
                  <a:srgbClr val="8796AD"/>
                </a:solidFill>
                <a:latin typeface="Calibri" pitchFamily="34" charset="0"/>
                <a:ea typeface="Calibri" pitchFamily="34" charset="-122"/>
                <a:cs typeface="Calibri" pitchFamily="34" charset="-120"/>
              </a:rPr>
              <a:t>Segurança</a:t>
            </a:r>
            <a:endParaRPr lang="en-US" sz="1700" dirty="0"/>
          </a:p>
        </p:txBody>
      </p:sp>
      <p:sp>
        <p:nvSpPr>
          <p:cNvPr id="20" name="Text 14"/>
          <p:cNvSpPr txBox="1"/>
          <p:nvPr/>
        </p:nvSpPr>
        <p:spPr>
          <a:xfrm>
            <a:off x="1828800" y="5742432"/>
            <a:ext cx="8531352" cy="365760"/>
          </a:xfrm>
          <a:prstGeom prst="rect">
            <a:avLst/>
          </a:prstGeom>
          <a:noFill/>
          <a:ln/>
        </p:spPr>
        <p:txBody>
          <a:bodyPr wrap="square" lIns="0" tIns="0" rIns="0" bIns="0" rtlCol="0" anchor="ctr"/>
          <a:lstStyle/>
          <a:p>
            <a:pPr algn="ctr" indent="0" marL="0">
              <a:buNone/>
            </a:pPr>
            <a:r>
              <a:rPr lang="en-US" sz="1500" dirty="0">
                <a:solidFill>
                  <a:srgbClr val="8796AD"/>
                </a:solidFill>
                <a:latin typeface="Calibri" pitchFamily="34" charset="0"/>
                <a:ea typeface="Calibri" pitchFamily="34" charset="-122"/>
                <a:cs typeface="Calibri" pitchFamily="34" charset="-120"/>
              </a:rPr>
              <a:t>Projeto acadêmico de implementação de linguagem</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324"/>
        </a:solidFill>
      </p:bgPr>
    </p:bg>
    <p:spTree>
      <p:nvGrpSpPr>
        <p:cNvPr id="1" name=""/>
        <p:cNvGrpSpPr/>
        <p:nvPr/>
      </p:nvGrpSpPr>
      <p:grpSpPr>
        <a:xfrm>
          <a:off x="0" y="0"/>
          <a:ext cx="0" cy="0"/>
          <a:chOff x="0" y="0"/>
          <a:chExt cx="0" cy="0"/>
        </a:xfrm>
      </p:grpSpPr>
      <p:sp>
        <p:nvSpPr>
          <p:cNvPr id="2" name="Shape 0"/>
          <p:cNvSpPr/>
          <p:nvPr/>
        </p:nvSpPr>
        <p:spPr>
          <a:xfrm>
            <a:off x="-1024128" y="-1005840"/>
            <a:ext cx="3456432" cy="3364992"/>
          </a:xfrm>
          <a:prstGeom prst="ellipse">
            <a:avLst/>
          </a:prstGeom>
          <a:solidFill>
            <a:srgbClr val="122B3F"/>
          </a:solidFill>
          <a:ln w="12700">
            <a:solidFill>
              <a:srgbClr val="333333">
                <a:alpha val="0"/>
              </a:srgbClr>
            </a:solidFill>
            <a:prstDash val="solid"/>
          </a:ln>
        </p:spPr>
      </p:sp>
      <p:sp>
        <p:nvSpPr>
          <p:cNvPr id="3" name="Shape 1"/>
          <p:cNvSpPr/>
          <p:nvPr/>
        </p:nvSpPr>
        <p:spPr>
          <a:xfrm>
            <a:off x="8686800" y="4709160"/>
            <a:ext cx="4663440" cy="3310128"/>
          </a:xfrm>
          <a:prstGeom prst="ellipse">
            <a:avLst/>
          </a:prstGeom>
          <a:solidFill>
            <a:srgbClr val="1D1D40"/>
          </a:solidFill>
          <a:ln w="12700">
            <a:solidFill>
              <a:srgbClr val="333333">
                <a:alpha val="0"/>
              </a:srgbClr>
            </a:solidFill>
            <a:prstDash val="solid"/>
          </a:ln>
        </p:spPr>
      </p:sp>
      <p:sp>
        <p:nvSpPr>
          <p:cNvPr id="4" name="Text 2"/>
          <p:cNvSpPr txBox="1"/>
          <p:nvPr/>
        </p:nvSpPr>
        <p:spPr>
          <a:xfrm>
            <a:off x="594360" y="292608"/>
            <a:ext cx="10469880" cy="530352"/>
          </a:xfrm>
          <a:prstGeom prst="rect">
            <a:avLst/>
          </a:prstGeom>
          <a:noFill/>
          <a:ln/>
        </p:spPr>
        <p:txBody>
          <a:bodyPr wrap="square" lIns="0" tIns="0" rIns="0" bIns="0" rtlCol="0" anchor="ctr"/>
          <a:lstStyle/>
          <a:p>
            <a:pPr algn="ctr" indent="0" marL="0">
              <a:buNone/>
            </a:pPr>
            <a:r>
              <a:rPr lang="en-US" sz="2900" b="1" dirty="0">
                <a:solidFill>
                  <a:srgbClr val="F8FAFC"/>
                </a:solidFill>
                <a:latin typeface="Arial" pitchFamily="34" charset="0"/>
                <a:ea typeface="Arial" pitchFamily="34" charset="-122"/>
                <a:cs typeface="Arial" pitchFamily="34" charset="-120"/>
              </a:rPr>
              <a:t>Problema e </a:t>
            </a:r>
            <a:pPr algn="ctr" indent="0" marL="0">
              <a:buNone/>
            </a:pPr>
            <a:r>
              <a:rPr lang="en-US" sz="2900" b="1" dirty="0">
                <a:solidFill>
                  <a:srgbClr val="10BCD8"/>
                </a:solidFill>
                <a:latin typeface="Arial" pitchFamily="34" charset="0"/>
                <a:ea typeface="Arial" pitchFamily="34" charset="-122"/>
                <a:cs typeface="Arial" pitchFamily="34" charset="-120"/>
              </a:rPr>
              <a:t>objetivo</a:t>
            </a:r>
            <a:endParaRPr lang="en-US" sz="2900" dirty="0"/>
          </a:p>
        </p:txBody>
      </p:sp>
      <p:sp>
        <p:nvSpPr>
          <p:cNvPr id="5" name="Shape 3"/>
          <p:cNvSpPr/>
          <p:nvPr/>
        </p:nvSpPr>
        <p:spPr>
          <a:xfrm>
            <a:off x="10991088" y="310896"/>
            <a:ext cx="621792" cy="621792"/>
          </a:xfrm>
          <a:prstGeom prst="ellipse">
            <a:avLst/>
          </a:prstGeom>
          <a:solidFill>
            <a:srgbClr val="7B6FF0"/>
          </a:solidFill>
          <a:ln w="12700">
            <a:solidFill>
              <a:srgbClr val="7B6FF0">
                <a:alpha val="0"/>
              </a:srgbClr>
            </a:solidFill>
            <a:prstDash val="solid"/>
          </a:ln>
        </p:spPr>
      </p:sp>
      <p:pic>
        <p:nvPicPr>
          <p:cNvPr id="6" name="Image 0" descr="preencoded.png">    </p:cNvPr>
          <p:cNvPicPr>
            <a:picLocks noChangeAspect="1"/>
          </p:cNvPicPr>
          <p:nvPr/>
        </p:nvPicPr>
        <p:blipFill>
          <a:blip r:embed="rId1"/>
          <a:stretch>
            <a:fillRect/>
          </a:stretch>
        </p:blipFill>
        <p:spPr>
          <a:xfrm>
            <a:off x="11134100" y="453908"/>
            <a:ext cx="335768" cy="335768"/>
          </a:xfrm>
          <a:prstGeom prst="rect">
            <a:avLst/>
          </a:prstGeom>
        </p:spPr>
      </p:pic>
      <p:sp>
        <p:nvSpPr>
          <p:cNvPr id="7" name="Text 4"/>
          <p:cNvSpPr txBox="1"/>
          <p:nvPr/>
        </p:nvSpPr>
        <p:spPr>
          <a:xfrm>
            <a:off x="685800" y="987552"/>
            <a:ext cx="10789920" cy="384048"/>
          </a:xfrm>
          <a:prstGeom prst="rect">
            <a:avLst/>
          </a:prstGeom>
          <a:noFill/>
          <a:ln/>
        </p:spPr>
        <p:txBody>
          <a:bodyPr wrap="square" lIns="0" tIns="0" rIns="0" bIns="0" rtlCol="0" anchor="ctr"/>
          <a:lstStyle/>
          <a:p>
            <a:pPr algn="ctr" indent="0" marL="0">
              <a:buNone/>
            </a:pPr>
            <a:r>
              <a:rPr lang="en-US" sz="1800" dirty="0">
                <a:solidFill>
                  <a:srgbClr val="CBD5E1"/>
                </a:solidFill>
                <a:latin typeface="Calibri" pitchFamily="34" charset="0"/>
                <a:ea typeface="Calibri" pitchFamily="34" charset="-122"/>
                <a:cs typeface="Calibri" pitchFamily="34" charset="-120"/>
              </a:rPr>
              <a:t>Descrever políticas de rede com regras verificáveis antes da execução</a:t>
            </a:r>
            <a:endParaRPr lang="en-US" sz="1800" dirty="0"/>
          </a:p>
        </p:txBody>
      </p:sp>
      <p:sp>
        <p:nvSpPr>
          <p:cNvPr id="8" name="Text 5"/>
          <p:cNvSpPr txBox="1"/>
          <p:nvPr/>
        </p:nvSpPr>
        <p:spPr>
          <a:xfrm>
            <a:off x="502920" y="6556248"/>
            <a:ext cx="7772400" cy="164592"/>
          </a:xfrm>
          <a:prstGeom prst="rect">
            <a:avLst/>
          </a:prstGeom>
          <a:noFill/>
          <a:ln/>
        </p:spPr>
        <p:txBody>
          <a:bodyPr wrap="square" lIns="0" tIns="0" rIns="0" bIns="0" rtlCol="0" anchor="ctr"/>
          <a:lstStyle/>
          <a:p>
            <a:pPr indent="0" marL="0">
              <a:buNone/>
            </a:pPr>
            <a:r>
              <a:rPr lang="en-US" sz="850" dirty="0">
                <a:solidFill>
                  <a:srgbClr val="8796AD"/>
                </a:solidFill>
                <a:latin typeface="Calibri" pitchFamily="34" charset="0"/>
                <a:ea typeface="Calibri" pitchFamily="34" charset="-122"/>
                <a:cs typeface="Calibri" pitchFamily="34" charset="-120"/>
              </a:rPr>
              <a:t>NetSec  ·  Redes + Segurança + Automação</a:t>
            </a:r>
            <a:endParaRPr lang="en-US" sz="850" dirty="0"/>
          </a:p>
        </p:txBody>
      </p:sp>
      <p:sp>
        <p:nvSpPr>
          <p:cNvPr id="9" name="Text 6"/>
          <p:cNvSpPr txBox="1"/>
          <p:nvPr/>
        </p:nvSpPr>
        <p:spPr>
          <a:xfrm>
            <a:off x="11292840" y="6547104"/>
            <a:ext cx="320040" cy="182880"/>
          </a:xfrm>
          <a:prstGeom prst="rect">
            <a:avLst/>
          </a:prstGeom>
          <a:noFill/>
          <a:ln/>
        </p:spPr>
        <p:txBody>
          <a:bodyPr wrap="square" lIns="0" tIns="0" rIns="0" bIns="0" rtlCol="0" anchor="ctr"/>
          <a:lstStyle/>
          <a:p>
            <a:pPr algn="r" indent="0" marL="0">
              <a:buNone/>
            </a:pPr>
            <a:r>
              <a:rPr lang="en-US" sz="850" dirty="0">
                <a:solidFill>
                  <a:srgbClr val="8796AD"/>
                </a:solidFill>
                <a:latin typeface="Calibri" pitchFamily="34" charset="0"/>
                <a:ea typeface="Calibri" pitchFamily="34" charset="-122"/>
                <a:cs typeface="Calibri" pitchFamily="34" charset="-120"/>
              </a:rPr>
              <a:t>2</a:t>
            </a:r>
            <a:endParaRPr lang="en-US" sz="850" dirty="0"/>
          </a:p>
        </p:txBody>
      </p:sp>
      <p:sp>
        <p:nvSpPr>
          <p:cNvPr id="10" name="Shape 7"/>
          <p:cNvSpPr/>
          <p:nvPr/>
        </p:nvSpPr>
        <p:spPr>
          <a:xfrm>
            <a:off x="685800" y="1691640"/>
            <a:ext cx="5212080" cy="4462272"/>
          </a:xfrm>
          <a:prstGeom prst="roundRect">
            <a:avLst>
              <a:gd name="adj" fmla="val 2459"/>
            </a:avLst>
          </a:prstGeom>
          <a:solidFill>
            <a:srgbClr val="1E293B"/>
          </a:solidFill>
          <a:ln w="7620">
            <a:solidFill>
              <a:srgbClr val="283449"/>
            </a:solidFill>
            <a:prstDash val="solid"/>
          </a:ln>
        </p:spPr>
      </p:sp>
      <p:sp>
        <p:nvSpPr>
          <p:cNvPr id="11" name="Shape 8"/>
          <p:cNvSpPr/>
          <p:nvPr/>
        </p:nvSpPr>
        <p:spPr>
          <a:xfrm>
            <a:off x="6172200" y="1691640"/>
            <a:ext cx="5321808" cy="4462272"/>
          </a:xfrm>
          <a:prstGeom prst="roundRect">
            <a:avLst>
              <a:gd name="adj" fmla="val 2459"/>
            </a:avLst>
          </a:prstGeom>
          <a:solidFill>
            <a:srgbClr val="0F1C30"/>
          </a:solidFill>
          <a:ln w="7620">
            <a:solidFill>
              <a:srgbClr val="283449"/>
            </a:solidFill>
            <a:prstDash val="solid"/>
          </a:ln>
        </p:spPr>
      </p:sp>
      <p:sp>
        <p:nvSpPr>
          <p:cNvPr id="12" name="Shape 9"/>
          <p:cNvSpPr/>
          <p:nvPr/>
        </p:nvSpPr>
        <p:spPr>
          <a:xfrm>
            <a:off x="987552" y="2011680"/>
            <a:ext cx="530352" cy="530352"/>
          </a:xfrm>
          <a:prstGeom prst="ellipse">
            <a:avLst/>
          </a:prstGeom>
          <a:solidFill>
            <a:srgbClr val="7B6FF0"/>
          </a:solidFill>
          <a:ln w="12700">
            <a:solidFill>
              <a:srgbClr val="7B6FF0">
                <a:alpha val="0"/>
              </a:srgbClr>
            </a:solidFill>
            <a:prstDash val="solid"/>
          </a:ln>
        </p:spPr>
      </p:sp>
      <p:pic>
        <p:nvPicPr>
          <p:cNvPr id="13" name="Image 1" descr="preencoded.png">    </p:cNvPr>
          <p:cNvPicPr>
            <a:picLocks noChangeAspect="1"/>
          </p:cNvPicPr>
          <p:nvPr/>
        </p:nvPicPr>
        <p:blipFill>
          <a:blip r:embed="rId2"/>
          <a:stretch>
            <a:fillRect/>
          </a:stretch>
        </p:blipFill>
        <p:spPr>
          <a:xfrm>
            <a:off x="1109533" y="2133661"/>
            <a:ext cx="286390" cy="286390"/>
          </a:xfrm>
          <a:prstGeom prst="rect">
            <a:avLst/>
          </a:prstGeom>
        </p:spPr>
      </p:pic>
      <p:sp>
        <p:nvSpPr>
          <p:cNvPr id="14" name="Text 10"/>
          <p:cNvSpPr txBox="1"/>
          <p:nvPr/>
        </p:nvSpPr>
        <p:spPr>
          <a:xfrm>
            <a:off x="1719072" y="1993392"/>
            <a:ext cx="3749040" cy="384048"/>
          </a:xfrm>
          <a:prstGeom prst="rect">
            <a:avLst/>
          </a:prstGeom>
          <a:noFill/>
          <a:ln/>
        </p:spPr>
        <p:txBody>
          <a:bodyPr wrap="square" lIns="0" tIns="0" rIns="0" bIns="0"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O problema</a:t>
            </a:r>
            <a:endParaRPr lang="en-US" sz="2100" dirty="0"/>
          </a:p>
        </p:txBody>
      </p:sp>
      <p:sp>
        <p:nvSpPr>
          <p:cNvPr id="15" name="Text 11"/>
          <p:cNvSpPr txBox="1"/>
          <p:nvPr/>
        </p:nvSpPr>
        <p:spPr>
          <a:xfrm>
            <a:off x="1719072" y="2441448"/>
            <a:ext cx="3749040" cy="758952"/>
          </a:xfrm>
          <a:prstGeom prst="rect">
            <a:avLst/>
          </a:prstGeom>
          <a:noFill/>
          <a:ln/>
        </p:spPr>
        <p:txBody>
          <a:bodyPr wrap="square" lIns="0" tIns="0" rIns="0" bIns="0" rtlCol="0" anchor="t"/>
          <a:lstStyle/>
          <a:p>
            <a:pPr indent="0" marL="0">
              <a:buNone/>
            </a:pPr>
            <a:r>
              <a:rPr lang="en-US" sz="1800" dirty="0">
                <a:solidFill>
                  <a:srgbClr val="CBD5E1"/>
                </a:solidFill>
                <a:latin typeface="Calibri" pitchFamily="34" charset="0"/>
                <a:ea typeface="Calibri" pitchFamily="34" charset="-122"/>
                <a:cs typeface="Calibri" pitchFamily="34" charset="-120"/>
              </a:rPr>
              <a:t>Comandos dispersos podem aplicar políticas contraditórias ao mesmo IP.</a:t>
            </a:r>
            <a:endParaRPr lang="en-US" sz="1800" dirty="0"/>
          </a:p>
        </p:txBody>
      </p:sp>
      <p:sp>
        <p:nvSpPr>
          <p:cNvPr id="16" name="Shape 12"/>
          <p:cNvSpPr/>
          <p:nvPr/>
        </p:nvSpPr>
        <p:spPr>
          <a:xfrm>
            <a:off x="987552" y="3886200"/>
            <a:ext cx="530352" cy="530352"/>
          </a:xfrm>
          <a:prstGeom prst="ellipse">
            <a:avLst/>
          </a:prstGeom>
          <a:solidFill>
            <a:srgbClr val="10BCD8"/>
          </a:solidFill>
          <a:ln w="12700">
            <a:solidFill>
              <a:srgbClr val="10BCD8">
                <a:alpha val="0"/>
              </a:srgbClr>
            </a:solidFill>
            <a:prstDash val="solid"/>
          </a:ln>
        </p:spPr>
      </p:sp>
      <p:pic>
        <p:nvPicPr>
          <p:cNvPr id="17" name="Image 2" descr="preencoded.png">    </p:cNvPr>
          <p:cNvPicPr>
            <a:picLocks noChangeAspect="1"/>
          </p:cNvPicPr>
          <p:nvPr/>
        </p:nvPicPr>
        <p:blipFill>
          <a:blip r:embed="rId3"/>
          <a:stretch>
            <a:fillRect/>
          </a:stretch>
        </p:blipFill>
        <p:spPr>
          <a:xfrm>
            <a:off x="1109533" y="4008181"/>
            <a:ext cx="286390" cy="286390"/>
          </a:xfrm>
          <a:prstGeom prst="rect">
            <a:avLst/>
          </a:prstGeom>
        </p:spPr>
      </p:pic>
      <p:sp>
        <p:nvSpPr>
          <p:cNvPr id="18" name="Text 13"/>
          <p:cNvSpPr txBox="1"/>
          <p:nvPr/>
        </p:nvSpPr>
        <p:spPr>
          <a:xfrm>
            <a:off x="1719072" y="3867912"/>
            <a:ext cx="3749040" cy="384048"/>
          </a:xfrm>
          <a:prstGeom prst="rect">
            <a:avLst/>
          </a:prstGeom>
          <a:noFill/>
          <a:ln/>
        </p:spPr>
        <p:txBody>
          <a:bodyPr wrap="square" lIns="0" tIns="0" rIns="0" bIns="0"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Público e domínio</a:t>
            </a:r>
            <a:endParaRPr lang="en-US" sz="2100" dirty="0"/>
          </a:p>
        </p:txBody>
      </p:sp>
      <p:sp>
        <p:nvSpPr>
          <p:cNvPr id="19" name="Text 14"/>
          <p:cNvSpPr txBox="1"/>
          <p:nvPr/>
        </p:nvSpPr>
        <p:spPr>
          <a:xfrm>
            <a:off x="1719072" y="4315968"/>
            <a:ext cx="3749040" cy="758952"/>
          </a:xfrm>
          <a:prstGeom prst="rect">
            <a:avLst/>
          </a:prstGeom>
          <a:noFill/>
          <a:ln/>
        </p:spPr>
        <p:txBody>
          <a:bodyPr wrap="square" lIns="0" tIns="0" rIns="0" bIns="0" rtlCol="0" anchor="t"/>
          <a:lstStyle/>
          <a:p>
            <a:pPr indent="0" marL="0">
              <a:buNone/>
            </a:pPr>
            <a:r>
              <a:rPr lang="en-US" sz="1800" dirty="0">
                <a:solidFill>
                  <a:srgbClr val="CBD5E1"/>
                </a:solidFill>
                <a:latin typeface="Calibri" pitchFamily="34" charset="0"/>
                <a:ea typeface="Calibri" pitchFamily="34" charset="-122"/>
                <a:cs typeface="Calibri" pitchFamily="34" charset="-120"/>
              </a:rPr>
              <a:t>Estudantes e profissionais de redes, segurança e infraestrutura.</a:t>
            </a:r>
            <a:endParaRPr lang="en-US" sz="1800" dirty="0"/>
          </a:p>
        </p:txBody>
      </p:sp>
      <p:sp>
        <p:nvSpPr>
          <p:cNvPr id="20" name="Text 15"/>
          <p:cNvSpPr txBox="1"/>
          <p:nvPr/>
        </p:nvSpPr>
        <p:spPr>
          <a:xfrm>
            <a:off x="6492240" y="2057400"/>
            <a:ext cx="4389120" cy="457200"/>
          </a:xfrm>
          <a:prstGeom prst="rect">
            <a:avLst/>
          </a:prstGeom>
          <a:noFill/>
          <a:ln/>
        </p:spPr>
        <p:txBody>
          <a:bodyPr wrap="square" lIns="0" tIns="0" rIns="0" bIns="0" rtlCol="0" anchor="ctr"/>
          <a:lstStyle/>
          <a:p>
            <a:pPr indent="0" marL="0">
              <a:buNone/>
            </a:pPr>
            <a:r>
              <a:rPr lang="en-US" sz="2500" b="1" dirty="0">
                <a:solidFill>
                  <a:srgbClr val="10BCD8"/>
                </a:solidFill>
                <a:latin typeface="Calibri" pitchFamily="34" charset="0"/>
                <a:ea typeface="Calibri" pitchFamily="34" charset="-122"/>
                <a:cs typeface="Calibri" pitchFamily="34" charset="-120"/>
              </a:rPr>
              <a:t>Objetivo da linguagem</a:t>
            </a:r>
            <a:endParaRPr lang="en-US" sz="2500" dirty="0"/>
          </a:p>
        </p:txBody>
      </p:sp>
      <p:sp>
        <p:nvSpPr>
          <p:cNvPr id="21" name="Text 16"/>
          <p:cNvSpPr txBox="1"/>
          <p:nvPr/>
        </p:nvSpPr>
        <p:spPr>
          <a:xfrm>
            <a:off x="6492240" y="2798064"/>
            <a:ext cx="4434840" cy="2523744"/>
          </a:xfrm>
          <a:prstGeom prst="rect">
            <a:avLst/>
          </a:prstGeom>
          <a:noFill/>
          <a:ln/>
        </p:spPr>
        <p:txBody>
          <a:bodyPr wrap="square" lIns="0" tIns="0" rIns="0" bIns="0" rtlCol="0" anchor="t"/>
          <a:lstStyle/>
          <a:p>
            <a:pPr indent="0" marL="0">
              <a:buNone/>
            </a:pPr>
            <a:r>
              <a:rPr lang="en-US" sz="2200" dirty="0">
                <a:solidFill>
                  <a:srgbClr val="CBD5E1"/>
                </a:solidFill>
                <a:latin typeface="Calibri" pitchFamily="34" charset="0"/>
                <a:ea typeface="Calibri" pitchFamily="34" charset="-122"/>
                <a:cs typeface="Calibri" pitchFamily="34" charset="-120"/>
              </a:rPr>
              <a:t>Declarar hosts e políticas com tipos explícitos.</a:t>
            </a:r>
            <a:endParaRPr lang="en-US" sz="2200" dirty="0"/>
          </a:p>
          <a:p>
            <a:pPr indent="0" marL="0">
              <a:buNone/>
            </a:pPr>
            <a:endParaRPr lang="en-US" sz="2200" dirty="0"/>
          </a:p>
          <a:p>
            <a:pPr indent="0" marL="0">
              <a:buNone/>
            </a:pPr>
            <a:r>
              <a:rPr lang="en-US" sz="2200" dirty="0">
                <a:solidFill>
                  <a:srgbClr val="CBD5E1"/>
                </a:solidFill>
                <a:latin typeface="Calibri" pitchFamily="34" charset="0"/>
                <a:ea typeface="Calibri" pitchFamily="34" charset="-122"/>
                <a:cs typeface="Calibri" pitchFamily="34" charset="-120"/>
              </a:rPr>
              <a:t>Rejeitar inconsistências com localização no código.</a:t>
            </a:r>
            <a:endParaRPr lang="en-US" sz="2200" dirty="0"/>
          </a:p>
          <a:p>
            <a:pPr indent="0" marL="0">
              <a:buNone/>
            </a:pPr>
            <a:endParaRPr lang="en-US" sz="2200" dirty="0"/>
          </a:p>
          <a:p>
            <a:pPr indent="0" marL="0">
              <a:buNone/>
            </a:pPr>
            <a:r>
              <a:rPr lang="en-US" sz="2200" dirty="0">
                <a:solidFill>
                  <a:srgbClr val="CBD5E1"/>
                </a:solidFill>
                <a:latin typeface="Calibri" pitchFamily="34" charset="0"/>
                <a:ea typeface="Calibri" pitchFamily="34" charset="-122"/>
                <a:cs typeface="Calibri" pitchFamily="34" charset="-120"/>
              </a:rPr>
              <a:t>Executar checks e regras em um ambiente definido.</a:t>
            </a:r>
            <a:endParaRPr lang="en-US" sz="2200" dirty="0"/>
          </a:p>
        </p:txBody>
      </p:sp>
      <p:sp>
        <p:nvSpPr>
          <p:cNvPr id="22" name="Text 17"/>
          <p:cNvSpPr txBox="1"/>
          <p:nvPr/>
        </p:nvSpPr>
        <p:spPr>
          <a:xfrm>
            <a:off x="1005840" y="5577840"/>
            <a:ext cx="4572000" cy="411480"/>
          </a:xfrm>
          <a:prstGeom prst="rect">
            <a:avLst/>
          </a:prstGeom>
          <a:noFill/>
          <a:ln/>
        </p:spPr>
        <p:txBody>
          <a:bodyPr wrap="square" lIns="0" tIns="0" rIns="0" bIns="0" rtlCol="0" anchor="ctr"/>
          <a:lstStyle/>
          <a:p>
            <a:pPr indent="0" marL="0">
              <a:buNone/>
            </a:pPr>
            <a:r>
              <a:rPr lang="en-US" sz="1700" dirty="0">
                <a:solidFill>
                  <a:srgbClr val="8796AD"/>
                </a:solidFill>
                <a:latin typeface="Calibri" pitchFamily="34" charset="0"/>
                <a:ea typeface="Calibri" pitchFamily="34" charset="-122"/>
                <a:cs typeface="Calibri" pitchFamily="34" charset="-120"/>
              </a:rPr>
              <a:t>Roteiro: código, compilação, execução e evidências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324"/>
        </a:solidFill>
      </p:bgPr>
    </p:bg>
    <p:spTree>
      <p:nvGrpSpPr>
        <p:cNvPr id="1" name=""/>
        <p:cNvGrpSpPr/>
        <p:nvPr/>
      </p:nvGrpSpPr>
      <p:grpSpPr>
        <a:xfrm>
          <a:off x="0" y="0"/>
          <a:ext cx="0" cy="0"/>
          <a:chOff x="0" y="0"/>
          <a:chExt cx="0" cy="0"/>
        </a:xfrm>
      </p:grpSpPr>
      <p:sp>
        <p:nvSpPr>
          <p:cNvPr id="2" name="Shape 0"/>
          <p:cNvSpPr/>
          <p:nvPr/>
        </p:nvSpPr>
        <p:spPr>
          <a:xfrm>
            <a:off x="-1024128" y="-1005840"/>
            <a:ext cx="3456432" cy="3364992"/>
          </a:xfrm>
          <a:prstGeom prst="ellipse">
            <a:avLst/>
          </a:prstGeom>
          <a:solidFill>
            <a:srgbClr val="122B3F"/>
          </a:solidFill>
          <a:ln w="12700">
            <a:solidFill>
              <a:srgbClr val="333333">
                <a:alpha val="0"/>
              </a:srgbClr>
            </a:solidFill>
            <a:prstDash val="solid"/>
          </a:ln>
        </p:spPr>
      </p:sp>
      <p:sp>
        <p:nvSpPr>
          <p:cNvPr id="3" name="Shape 1"/>
          <p:cNvSpPr/>
          <p:nvPr/>
        </p:nvSpPr>
        <p:spPr>
          <a:xfrm>
            <a:off x="8686800" y="4709160"/>
            <a:ext cx="4663440" cy="3310128"/>
          </a:xfrm>
          <a:prstGeom prst="ellipse">
            <a:avLst/>
          </a:prstGeom>
          <a:solidFill>
            <a:srgbClr val="1D1D40"/>
          </a:solidFill>
          <a:ln w="12700">
            <a:solidFill>
              <a:srgbClr val="333333">
                <a:alpha val="0"/>
              </a:srgbClr>
            </a:solidFill>
            <a:prstDash val="solid"/>
          </a:ln>
        </p:spPr>
      </p:sp>
      <p:sp>
        <p:nvSpPr>
          <p:cNvPr id="4" name="Text 2"/>
          <p:cNvSpPr txBox="1"/>
          <p:nvPr/>
        </p:nvSpPr>
        <p:spPr>
          <a:xfrm>
            <a:off x="594360" y="292608"/>
            <a:ext cx="10469880" cy="530352"/>
          </a:xfrm>
          <a:prstGeom prst="rect">
            <a:avLst/>
          </a:prstGeom>
          <a:noFill/>
          <a:ln/>
        </p:spPr>
        <p:txBody>
          <a:bodyPr wrap="square" lIns="0" tIns="0" rIns="0" bIns="0" rtlCol="0" anchor="ctr"/>
          <a:lstStyle/>
          <a:p>
            <a:pPr algn="ctr" indent="0" marL="0">
              <a:buNone/>
            </a:pPr>
            <a:r>
              <a:rPr lang="en-US" sz="2900" b="1" dirty="0">
                <a:solidFill>
                  <a:srgbClr val="F8FAFC"/>
                </a:solidFill>
                <a:latin typeface="Arial" pitchFamily="34" charset="0"/>
                <a:ea typeface="Arial" pitchFamily="34" charset="-122"/>
                <a:cs typeface="Arial" pitchFamily="34" charset="-120"/>
              </a:rPr>
              <a:t>Um programa </a:t>
            </a:r>
            <a:pPr algn="ctr" indent="0" marL="0">
              <a:buNone/>
            </a:pPr>
            <a:r>
              <a:rPr lang="en-US" sz="2900" b="1" dirty="0">
                <a:solidFill>
                  <a:srgbClr val="10BCD8"/>
                </a:solidFill>
                <a:latin typeface="Arial" pitchFamily="34" charset="0"/>
                <a:ea typeface="Arial" pitchFamily="34" charset="-122"/>
                <a:cs typeface="Arial" pitchFamily="34" charset="-120"/>
              </a:rPr>
              <a:t>completo</a:t>
            </a:r>
            <a:endParaRPr lang="en-US" sz="2900" dirty="0"/>
          </a:p>
        </p:txBody>
      </p:sp>
      <p:sp>
        <p:nvSpPr>
          <p:cNvPr id="5" name="Shape 3"/>
          <p:cNvSpPr/>
          <p:nvPr/>
        </p:nvSpPr>
        <p:spPr>
          <a:xfrm>
            <a:off x="10991088" y="310896"/>
            <a:ext cx="621792" cy="621792"/>
          </a:xfrm>
          <a:prstGeom prst="ellipse">
            <a:avLst/>
          </a:prstGeom>
          <a:solidFill>
            <a:srgbClr val="7B6FF0"/>
          </a:solidFill>
          <a:ln w="12700">
            <a:solidFill>
              <a:srgbClr val="7B6FF0">
                <a:alpha val="0"/>
              </a:srgbClr>
            </a:solidFill>
            <a:prstDash val="solid"/>
          </a:ln>
        </p:spPr>
      </p:sp>
      <p:pic>
        <p:nvPicPr>
          <p:cNvPr id="6" name="Image 0" descr="preencoded.png">    </p:cNvPr>
          <p:cNvPicPr>
            <a:picLocks noChangeAspect="1"/>
          </p:cNvPicPr>
          <p:nvPr/>
        </p:nvPicPr>
        <p:blipFill>
          <a:blip r:embed="rId1"/>
          <a:stretch>
            <a:fillRect/>
          </a:stretch>
        </p:blipFill>
        <p:spPr>
          <a:xfrm>
            <a:off x="11134100" y="453908"/>
            <a:ext cx="335768" cy="335768"/>
          </a:xfrm>
          <a:prstGeom prst="rect">
            <a:avLst/>
          </a:prstGeom>
        </p:spPr>
      </p:pic>
      <p:sp>
        <p:nvSpPr>
          <p:cNvPr id="7" name="Text 4"/>
          <p:cNvSpPr txBox="1"/>
          <p:nvPr/>
        </p:nvSpPr>
        <p:spPr>
          <a:xfrm>
            <a:off x="685800" y="987552"/>
            <a:ext cx="10789920" cy="384048"/>
          </a:xfrm>
          <a:prstGeom prst="rect">
            <a:avLst/>
          </a:prstGeom>
          <a:noFill/>
          <a:ln/>
        </p:spPr>
        <p:txBody>
          <a:bodyPr wrap="square" lIns="0" tIns="0" rIns="0" bIns="0" rtlCol="0" anchor="ctr"/>
          <a:lstStyle/>
          <a:p>
            <a:pPr algn="ctr" indent="0" marL="0">
              <a:buNone/>
            </a:pPr>
            <a:r>
              <a:rPr lang="en-US" sz="1800" dirty="0">
                <a:solidFill>
                  <a:srgbClr val="CBD5E1"/>
                </a:solidFill>
                <a:latin typeface="Calibri" pitchFamily="34" charset="0"/>
                <a:ea typeface="Calibri" pitchFamily="34" charset="-122"/>
                <a:cs typeface="Calibri" pitchFamily="34" charset="-120"/>
              </a:rPr>
              <a:t>O vocabulário representa inventário, verificações e política de firewall</a:t>
            </a:r>
            <a:endParaRPr lang="en-US" sz="1800" dirty="0"/>
          </a:p>
        </p:txBody>
      </p:sp>
      <p:sp>
        <p:nvSpPr>
          <p:cNvPr id="8" name="Text 5"/>
          <p:cNvSpPr txBox="1"/>
          <p:nvPr/>
        </p:nvSpPr>
        <p:spPr>
          <a:xfrm>
            <a:off x="502920" y="6556248"/>
            <a:ext cx="7772400" cy="164592"/>
          </a:xfrm>
          <a:prstGeom prst="rect">
            <a:avLst/>
          </a:prstGeom>
          <a:noFill/>
          <a:ln/>
        </p:spPr>
        <p:txBody>
          <a:bodyPr wrap="square" lIns="0" tIns="0" rIns="0" bIns="0" rtlCol="0" anchor="ctr"/>
          <a:lstStyle/>
          <a:p>
            <a:pPr indent="0" marL="0">
              <a:buNone/>
            </a:pPr>
            <a:r>
              <a:rPr lang="en-US" sz="850" dirty="0">
                <a:solidFill>
                  <a:srgbClr val="8796AD"/>
                </a:solidFill>
                <a:latin typeface="Calibri" pitchFamily="34" charset="0"/>
                <a:ea typeface="Calibri" pitchFamily="34" charset="-122"/>
                <a:cs typeface="Calibri" pitchFamily="34" charset="-120"/>
              </a:rPr>
              <a:t>NetSec  ·  Redes + Segurança + Automação</a:t>
            </a:r>
            <a:endParaRPr lang="en-US" sz="850" dirty="0"/>
          </a:p>
        </p:txBody>
      </p:sp>
      <p:sp>
        <p:nvSpPr>
          <p:cNvPr id="9" name="Text 6"/>
          <p:cNvSpPr txBox="1"/>
          <p:nvPr/>
        </p:nvSpPr>
        <p:spPr>
          <a:xfrm>
            <a:off x="11292840" y="6547104"/>
            <a:ext cx="320040" cy="182880"/>
          </a:xfrm>
          <a:prstGeom prst="rect">
            <a:avLst/>
          </a:prstGeom>
          <a:noFill/>
          <a:ln/>
        </p:spPr>
        <p:txBody>
          <a:bodyPr wrap="square" lIns="0" tIns="0" rIns="0" bIns="0" rtlCol="0" anchor="ctr"/>
          <a:lstStyle/>
          <a:p>
            <a:pPr algn="r" indent="0" marL="0">
              <a:buNone/>
            </a:pPr>
            <a:r>
              <a:rPr lang="en-US" sz="850" dirty="0">
                <a:solidFill>
                  <a:srgbClr val="8796AD"/>
                </a:solidFill>
                <a:latin typeface="Calibri" pitchFamily="34" charset="0"/>
                <a:ea typeface="Calibri" pitchFamily="34" charset="-122"/>
                <a:cs typeface="Calibri" pitchFamily="34" charset="-120"/>
              </a:rPr>
              <a:t>3</a:t>
            </a:r>
            <a:endParaRPr lang="en-US" sz="850" dirty="0"/>
          </a:p>
        </p:txBody>
      </p:sp>
      <p:sp>
        <p:nvSpPr>
          <p:cNvPr id="10" name="Shape 7"/>
          <p:cNvSpPr/>
          <p:nvPr/>
        </p:nvSpPr>
        <p:spPr>
          <a:xfrm>
            <a:off x="685800" y="1664208"/>
            <a:ext cx="7406640" cy="4443984"/>
          </a:xfrm>
          <a:prstGeom prst="roundRect">
            <a:avLst>
              <a:gd name="adj" fmla="val 2469"/>
            </a:avLst>
          </a:prstGeom>
          <a:solidFill>
            <a:srgbClr val="060A19"/>
          </a:solidFill>
          <a:ln w="7620">
            <a:solidFill>
              <a:srgbClr val="283449"/>
            </a:solidFill>
            <a:prstDash val="solid"/>
          </a:ln>
        </p:spPr>
      </p:sp>
      <p:sp>
        <p:nvSpPr>
          <p:cNvPr id="11" name="Text 8"/>
          <p:cNvSpPr txBox="1"/>
          <p:nvPr/>
        </p:nvSpPr>
        <p:spPr>
          <a:xfrm>
            <a:off x="905256" y="1828800"/>
            <a:ext cx="6967728" cy="409651"/>
          </a:xfrm>
          <a:prstGeom prst="rect">
            <a:avLst/>
          </a:prstGeom>
          <a:noFill/>
          <a:ln/>
        </p:spPr>
        <p:txBody>
          <a:bodyPr wrap="square" lIns="0" tIns="0" rIns="0" bIns="0" rtlCol="0" anchor="ctr"/>
          <a:lstStyle/>
          <a:p>
            <a:pPr indent="0" marL="0">
              <a:buNone/>
            </a:pPr>
            <a:r>
              <a:rPr lang="en-US" sz="1750" dirty="0">
                <a:solidFill>
                  <a:srgbClr val="7B6FF0"/>
                </a:solidFill>
                <a:latin typeface="Courier New" pitchFamily="34" charset="0"/>
                <a:ea typeface="Courier New" pitchFamily="34" charset="-122"/>
                <a:cs typeface="Courier New" pitchFamily="34" charset="-120"/>
              </a:rPr>
              <a:t>port</a:t>
            </a:r>
            <a:pPr indent="0" marL="0">
              <a:buNone/>
            </a:pPr>
            <a:r>
              <a:rPr lang="en-US" sz="1750" dirty="0">
                <a:solidFill>
                  <a:srgbClr val="F8FAFC"/>
                </a:solidFill>
                <a:latin typeface="Courier New" pitchFamily="34" charset="0"/>
                <a:ea typeface="Courier New" pitchFamily="34" charset="-122"/>
                <a:cs typeface="Courier New" pitchFamily="34" charset="-120"/>
              </a:rPr>
              <a:t> admin = </a:t>
            </a:r>
            <a:pPr indent="0" marL="0">
              <a:buNone/>
            </a:pPr>
            <a:r>
              <a:rPr lang="en-US" sz="1750" dirty="0">
                <a:solidFill>
                  <a:srgbClr val="7B6FF0"/>
                </a:solidFill>
                <a:latin typeface="Courier New" pitchFamily="34" charset="0"/>
                <a:ea typeface="Courier New" pitchFamily="34" charset="-122"/>
                <a:cs typeface="Courier New" pitchFamily="34" charset="-120"/>
              </a:rPr>
              <a:t>port</a:t>
            </a:r>
            <a:pPr indent="0" marL="0">
              <a:buNone/>
            </a:pPr>
            <a:r>
              <a:rPr lang="en-US" sz="1750" dirty="0">
                <a:solidFill>
                  <a:srgbClr val="F8FAFC"/>
                </a:solidFill>
                <a:latin typeface="Courier New" pitchFamily="34" charset="0"/>
                <a:ea typeface="Courier New" pitchFamily="34" charset="-122"/>
                <a:cs typeface="Courier New" pitchFamily="34" charset="-120"/>
              </a:rPr>
              <a:t>(</a:t>
            </a:r>
            <a:pPr indent="0" marL="0">
              <a:buNone/>
            </a:pPr>
            <a:r>
              <a:rPr lang="en-US" sz="1750" dirty="0">
                <a:solidFill>
                  <a:srgbClr val="10BCD8"/>
                </a:solidFill>
                <a:latin typeface="Courier New" pitchFamily="34" charset="0"/>
                <a:ea typeface="Courier New" pitchFamily="34" charset="-122"/>
                <a:cs typeface="Courier New" pitchFamily="34" charset="-120"/>
              </a:rPr>
              <a:t>22</a:t>
            </a:r>
            <a:pPr indent="0" marL="0">
              <a:buNone/>
            </a:pPr>
            <a:r>
              <a:rPr lang="en-US" sz="1750" dirty="0">
                <a:solidFill>
                  <a:srgbClr val="F8FAFC"/>
                </a:solidFill>
                <a:latin typeface="Courier New" pitchFamily="34" charset="0"/>
                <a:ea typeface="Courier New" pitchFamily="34" charset="-122"/>
                <a:cs typeface="Courier New" pitchFamily="34" charset="-120"/>
              </a:rPr>
              <a:t>);</a:t>
            </a:r>
            <a:endParaRPr lang="en-US" sz="1750" dirty="0"/>
          </a:p>
        </p:txBody>
      </p:sp>
      <p:sp>
        <p:nvSpPr>
          <p:cNvPr id="12" name="Text 9"/>
          <p:cNvSpPr txBox="1"/>
          <p:nvPr/>
        </p:nvSpPr>
        <p:spPr>
          <a:xfrm>
            <a:off x="905256" y="2238451"/>
            <a:ext cx="6967728" cy="409651"/>
          </a:xfrm>
          <a:prstGeom prst="rect">
            <a:avLst/>
          </a:prstGeom>
          <a:noFill/>
          <a:ln/>
        </p:spPr>
        <p:txBody>
          <a:bodyPr wrap="square" lIns="0" tIns="0" rIns="0" bIns="0" rtlCol="0" anchor="ctr"/>
          <a:lstStyle/>
          <a:p>
            <a:pPr indent="0" marL="0">
              <a:buNone/>
            </a:pPr>
            <a:r>
              <a:rPr lang="en-US" sz="1750" dirty="0">
                <a:solidFill>
                  <a:srgbClr val="7B6FF0"/>
                </a:solidFill>
                <a:latin typeface="Courier New" pitchFamily="34" charset="0"/>
                <a:ea typeface="Courier New" pitchFamily="34" charset="-122"/>
                <a:cs typeface="Courier New" pitchFamily="34" charset="-120"/>
              </a:rPr>
              <a:t>group</a:t>
            </a:r>
            <a:pPr indent="0" marL="0">
              <a:buNone/>
            </a:pPr>
            <a:r>
              <a:rPr lang="en-US" sz="1750" dirty="0">
                <a:solidFill>
                  <a:srgbClr val="F8FAFC"/>
                </a:solidFill>
                <a:latin typeface="Courier New" pitchFamily="34" charset="0"/>
                <a:ea typeface="Courier New" pitchFamily="34" charset="-122"/>
                <a:cs typeface="Courier New" pitchFamily="34" charset="-120"/>
              </a:rPr>
              <a:t> servers {</a:t>
            </a:r>
            <a:endParaRPr lang="en-US" sz="1750" dirty="0"/>
          </a:p>
        </p:txBody>
      </p:sp>
      <p:sp>
        <p:nvSpPr>
          <p:cNvPr id="13" name="Text 10"/>
          <p:cNvSpPr txBox="1"/>
          <p:nvPr/>
        </p:nvSpPr>
        <p:spPr>
          <a:xfrm>
            <a:off x="905256" y="2648102"/>
            <a:ext cx="6967728" cy="409651"/>
          </a:xfrm>
          <a:prstGeom prst="rect">
            <a:avLst/>
          </a:prstGeom>
          <a:noFill/>
          <a:ln/>
        </p:spPr>
        <p:txBody>
          <a:bodyPr wrap="square" lIns="0" tIns="0" rIns="0" bIns="0" rtlCol="0" anchor="ctr"/>
          <a:lstStyle/>
          <a:p>
            <a:pPr indent="0" marL="0">
              <a:buNone/>
            </a:pPr>
            <a:r>
              <a:rPr lang="en-US" sz="1750" dirty="0">
                <a:solidFill>
                  <a:srgbClr val="F8FAFC"/>
                </a:solidFill>
                <a:latin typeface="Courier New" pitchFamily="34" charset="0"/>
                <a:ea typeface="Courier New" pitchFamily="34" charset="-122"/>
                <a:cs typeface="Courier New" pitchFamily="34" charset="-120"/>
              </a:rPr>
              <a:t>  </a:t>
            </a:r>
            <a:pPr indent="0" marL="0">
              <a:buNone/>
            </a:pPr>
            <a:r>
              <a:rPr lang="en-US" sz="1750" dirty="0">
                <a:solidFill>
                  <a:srgbClr val="7B6FF0"/>
                </a:solidFill>
                <a:latin typeface="Courier New" pitchFamily="34" charset="0"/>
                <a:ea typeface="Courier New" pitchFamily="34" charset="-122"/>
                <a:cs typeface="Courier New" pitchFamily="34" charset="-120"/>
              </a:rPr>
              <a:t>host</a:t>
            </a:r>
            <a:pPr indent="0" marL="0">
              <a:buNone/>
            </a:pPr>
            <a:r>
              <a:rPr lang="en-US" sz="1750" dirty="0">
                <a:solidFill>
                  <a:srgbClr val="F8FAFC"/>
                </a:solidFill>
                <a:latin typeface="Courier New" pitchFamily="34" charset="0"/>
                <a:ea typeface="Courier New" pitchFamily="34" charset="-122"/>
                <a:cs typeface="Courier New" pitchFamily="34" charset="-120"/>
              </a:rPr>
              <a:t> </a:t>
            </a:r>
            <a:pPr indent="0" marL="0">
              <a:buNone/>
            </a:pPr>
            <a:r>
              <a:rPr lang="en-US" sz="1750" dirty="0">
                <a:solidFill>
                  <a:srgbClr val="4ADE80"/>
                </a:solidFill>
                <a:latin typeface="Courier New" pitchFamily="34" charset="0"/>
                <a:ea typeface="Courier New" pitchFamily="34" charset="-122"/>
                <a:cs typeface="Courier New" pitchFamily="34" charset="-120"/>
              </a:rPr>
              <a:t>"server01"</a:t>
            </a:r>
            <a:pPr indent="0" marL="0">
              <a:buNone/>
            </a:pPr>
            <a:r>
              <a:rPr lang="en-US" sz="1750" dirty="0">
                <a:solidFill>
                  <a:srgbClr val="F8FAFC"/>
                </a:solidFill>
                <a:latin typeface="Courier New" pitchFamily="34" charset="0"/>
                <a:ea typeface="Courier New" pitchFamily="34" charset="-122"/>
                <a:cs typeface="Courier New" pitchFamily="34" charset="-120"/>
              </a:rPr>
              <a:t> </a:t>
            </a:r>
            <a:pPr indent="0" marL="0">
              <a:buNone/>
            </a:pPr>
            <a:r>
              <a:rPr lang="en-US" sz="1750" dirty="0">
                <a:solidFill>
                  <a:srgbClr val="7B6FF0"/>
                </a:solidFill>
                <a:latin typeface="Courier New" pitchFamily="34" charset="0"/>
                <a:ea typeface="Courier New" pitchFamily="34" charset="-122"/>
                <a:cs typeface="Courier New" pitchFamily="34" charset="-120"/>
              </a:rPr>
              <a:t>address</a:t>
            </a:r>
            <a:pPr indent="0" marL="0">
              <a:buNone/>
            </a:pPr>
            <a:r>
              <a:rPr lang="en-US" sz="1750" dirty="0">
                <a:solidFill>
                  <a:srgbClr val="F8FAFC"/>
                </a:solidFill>
                <a:latin typeface="Courier New" pitchFamily="34" charset="0"/>
                <a:ea typeface="Courier New" pitchFamily="34" charset="-122"/>
                <a:cs typeface="Courier New" pitchFamily="34" charset="-120"/>
              </a:rPr>
              <a:t> </a:t>
            </a:r>
            <a:pPr indent="0" marL="0">
              <a:buNone/>
            </a:pPr>
            <a:r>
              <a:rPr lang="en-US" sz="1750" dirty="0">
                <a:solidFill>
                  <a:srgbClr val="4ADE80"/>
                </a:solidFill>
                <a:latin typeface="Courier New" pitchFamily="34" charset="0"/>
                <a:ea typeface="Courier New" pitchFamily="34" charset="-122"/>
                <a:cs typeface="Courier New" pitchFamily="34" charset="-120"/>
              </a:rPr>
              <a:t>"192.0.2.10"</a:t>
            </a:r>
            <a:pPr indent="0" marL="0">
              <a:buNone/>
            </a:pPr>
            <a:r>
              <a:rPr lang="en-US" sz="1750" dirty="0">
                <a:solidFill>
                  <a:srgbClr val="F8FAFC"/>
                </a:solidFill>
                <a:latin typeface="Courier New" pitchFamily="34" charset="0"/>
                <a:ea typeface="Courier New" pitchFamily="34" charset="-122"/>
                <a:cs typeface="Courier New" pitchFamily="34" charset="-120"/>
              </a:rPr>
              <a:t>;</a:t>
            </a:r>
            <a:endParaRPr lang="en-US" sz="1750" dirty="0"/>
          </a:p>
        </p:txBody>
      </p:sp>
      <p:sp>
        <p:nvSpPr>
          <p:cNvPr id="14" name="Text 11"/>
          <p:cNvSpPr txBox="1"/>
          <p:nvPr/>
        </p:nvSpPr>
        <p:spPr>
          <a:xfrm>
            <a:off x="905256" y="3057754"/>
            <a:ext cx="6967728" cy="409651"/>
          </a:xfrm>
          <a:prstGeom prst="rect">
            <a:avLst/>
          </a:prstGeom>
          <a:noFill/>
          <a:ln/>
        </p:spPr>
        <p:txBody>
          <a:bodyPr wrap="square" lIns="0" tIns="0" rIns="0" bIns="0" rtlCol="0" anchor="ctr"/>
          <a:lstStyle/>
          <a:p>
            <a:pPr indent="0" marL="0">
              <a:buNone/>
            </a:pPr>
            <a:r>
              <a:rPr lang="en-US" sz="1750" dirty="0">
                <a:solidFill>
                  <a:srgbClr val="F8FAFC"/>
                </a:solidFill>
                <a:latin typeface="Courier New" pitchFamily="34" charset="0"/>
                <a:ea typeface="Courier New" pitchFamily="34" charset="-122"/>
                <a:cs typeface="Courier New" pitchFamily="34" charset="-120"/>
              </a:rPr>
              <a:t>}</a:t>
            </a:r>
            <a:endParaRPr lang="en-US" sz="1750" dirty="0"/>
          </a:p>
        </p:txBody>
      </p:sp>
      <p:sp>
        <p:nvSpPr>
          <p:cNvPr id="15" name="Text 12"/>
          <p:cNvSpPr txBox="1"/>
          <p:nvPr/>
        </p:nvSpPr>
        <p:spPr>
          <a:xfrm>
            <a:off x="905256" y="3467405"/>
            <a:ext cx="6967728" cy="409651"/>
          </a:xfrm>
          <a:prstGeom prst="rect">
            <a:avLst/>
          </a:prstGeom>
          <a:noFill/>
          <a:ln/>
        </p:spPr>
        <p:txBody>
          <a:bodyPr wrap="square" lIns="0" tIns="0" rIns="0" bIns="0" rtlCol="0" anchor="ctr"/>
          <a:lstStyle/>
          <a:p>
            <a:pPr indent="0" marL="0">
              <a:buNone/>
            </a:pPr>
            <a:r>
              <a:rPr lang="en-US" sz="1750" dirty="0">
                <a:solidFill>
                  <a:srgbClr val="7B6FF0"/>
                </a:solidFill>
                <a:latin typeface="Courier New" pitchFamily="34" charset="0"/>
                <a:ea typeface="Courier New" pitchFamily="34" charset="-122"/>
                <a:cs typeface="Courier New" pitchFamily="34" charset="-120"/>
              </a:rPr>
              <a:t>play</a:t>
            </a:r>
            <a:pPr indent="0" marL="0">
              <a:buNone/>
            </a:pPr>
            <a:r>
              <a:rPr lang="en-US" sz="1750" dirty="0">
                <a:solidFill>
                  <a:srgbClr val="F8FAFC"/>
                </a:solidFill>
                <a:latin typeface="Courier New" pitchFamily="34" charset="0"/>
                <a:ea typeface="Courier New" pitchFamily="34" charset="-122"/>
                <a:cs typeface="Courier New" pitchFamily="34" charset="-120"/>
              </a:rPr>
              <a:t> </a:t>
            </a:r>
            <a:pPr indent="0" marL="0">
              <a:buNone/>
            </a:pPr>
            <a:r>
              <a:rPr lang="en-US" sz="1750" dirty="0">
                <a:solidFill>
                  <a:srgbClr val="4ADE80"/>
                </a:solidFill>
                <a:latin typeface="Courier New" pitchFamily="34" charset="0"/>
                <a:ea typeface="Courier New" pitchFamily="34" charset="-122"/>
                <a:cs typeface="Courier New" pitchFamily="34" charset="-120"/>
              </a:rPr>
              <a:t>"protect"</a:t>
            </a:r>
            <a:pPr indent="0" marL="0">
              <a:buNone/>
            </a:pPr>
            <a:r>
              <a:rPr lang="en-US" sz="1750" dirty="0">
                <a:solidFill>
                  <a:srgbClr val="F8FAFC"/>
                </a:solidFill>
                <a:latin typeface="Courier New" pitchFamily="34" charset="0"/>
                <a:ea typeface="Courier New" pitchFamily="34" charset="-122"/>
                <a:cs typeface="Courier New" pitchFamily="34" charset="-120"/>
              </a:rPr>
              <a:t> </a:t>
            </a:r>
            <a:pPr indent="0" marL="0">
              <a:buNone/>
            </a:pPr>
            <a:r>
              <a:rPr lang="en-US" sz="1750" dirty="0">
                <a:solidFill>
                  <a:srgbClr val="7B6FF0"/>
                </a:solidFill>
                <a:latin typeface="Courier New" pitchFamily="34" charset="0"/>
                <a:ea typeface="Courier New" pitchFamily="34" charset="-122"/>
                <a:cs typeface="Courier New" pitchFamily="34" charset="-120"/>
              </a:rPr>
              <a:t>targets</a:t>
            </a:r>
            <a:pPr indent="0" marL="0">
              <a:buNone/>
            </a:pPr>
            <a:r>
              <a:rPr lang="en-US" sz="1750" dirty="0">
                <a:solidFill>
                  <a:srgbClr val="F8FAFC"/>
                </a:solidFill>
                <a:latin typeface="Courier New" pitchFamily="34" charset="0"/>
                <a:ea typeface="Courier New" pitchFamily="34" charset="-122"/>
                <a:cs typeface="Courier New" pitchFamily="34" charset="-120"/>
              </a:rPr>
              <a:t> servers {</a:t>
            </a:r>
            <a:endParaRPr lang="en-US" sz="1750" dirty="0"/>
          </a:p>
        </p:txBody>
      </p:sp>
      <p:sp>
        <p:nvSpPr>
          <p:cNvPr id="16" name="Text 13"/>
          <p:cNvSpPr txBox="1"/>
          <p:nvPr/>
        </p:nvSpPr>
        <p:spPr>
          <a:xfrm>
            <a:off x="905256" y="3877056"/>
            <a:ext cx="6967728" cy="409651"/>
          </a:xfrm>
          <a:prstGeom prst="rect">
            <a:avLst/>
          </a:prstGeom>
          <a:noFill/>
          <a:ln/>
        </p:spPr>
        <p:txBody>
          <a:bodyPr wrap="square" lIns="0" tIns="0" rIns="0" bIns="0" rtlCol="0" anchor="ctr"/>
          <a:lstStyle/>
          <a:p>
            <a:pPr indent="0" marL="0">
              <a:buNone/>
            </a:pPr>
            <a:r>
              <a:rPr lang="en-US" sz="1750" dirty="0">
                <a:solidFill>
                  <a:srgbClr val="F8FAFC"/>
                </a:solidFill>
                <a:latin typeface="Courier New" pitchFamily="34" charset="0"/>
                <a:ea typeface="Courier New" pitchFamily="34" charset="-122"/>
                <a:cs typeface="Courier New" pitchFamily="34" charset="-120"/>
              </a:rPr>
              <a:t>  </a:t>
            </a:r>
            <a:pPr indent="0" marL="0">
              <a:buNone/>
            </a:pPr>
            <a:r>
              <a:rPr lang="en-US" sz="1750" dirty="0">
                <a:solidFill>
                  <a:srgbClr val="7B6FF0"/>
                </a:solidFill>
                <a:latin typeface="Courier New" pitchFamily="34" charset="0"/>
                <a:ea typeface="Courier New" pitchFamily="34" charset="-122"/>
                <a:cs typeface="Courier New" pitchFamily="34" charset="-120"/>
              </a:rPr>
              <a:t>firewall</a:t>
            </a:r>
            <a:pPr indent="0" marL="0">
              <a:buNone/>
            </a:pPr>
            <a:r>
              <a:rPr lang="en-US" sz="1750" dirty="0">
                <a:solidFill>
                  <a:srgbClr val="F8FAFC"/>
                </a:solidFill>
                <a:latin typeface="Courier New" pitchFamily="34" charset="0"/>
                <a:ea typeface="Courier New" pitchFamily="34" charset="-122"/>
                <a:cs typeface="Courier New" pitchFamily="34" charset="-120"/>
              </a:rPr>
              <a:t> </a:t>
            </a:r>
            <a:pPr indent="0" marL="0">
              <a:buNone/>
            </a:pPr>
            <a:r>
              <a:rPr lang="en-US" sz="1750" dirty="0">
                <a:solidFill>
                  <a:srgbClr val="FF4E58"/>
                </a:solidFill>
                <a:latin typeface="Courier New" pitchFamily="34" charset="0"/>
                <a:ea typeface="Courier New" pitchFamily="34" charset="-122"/>
                <a:cs typeface="Courier New" pitchFamily="34" charset="-120"/>
              </a:rPr>
              <a:t>deny</a:t>
            </a:r>
            <a:pPr indent="0" marL="0">
              <a:buNone/>
            </a:pPr>
            <a:r>
              <a:rPr lang="en-US" sz="1750" dirty="0">
                <a:solidFill>
                  <a:srgbClr val="F8FAFC"/>
                </a:solidFill>
                <a:latin typeface="Courier New" pitchFamily="34" charset="0"/>
                <a:ea typeface="Courier New" pitchFamily="34" charset="-122"/>
                <a:cs typeface="Courier New" pitchFamily="34" charset="-120"/>
              </a:rPr>
              <a:t> </a:t>
            </a:r>
            <a:pPr indent="0" marL="0">
              <a:buNone/>
            </a:pPr>
            <a:r>
              <a:rPr lang="en-US" sz="1750" dirty="0">
                <a:solidFill>
                  <a:srgbClr val="7B6FF0"/>
                </a:solidFill>
                <a:latin typeface="Courier New" pitchFamily="34" charset="0"/>
                <a:ea typeface="Courier New" pitchFamily="34" charset="-122"/>
                <a:cs typeface="Courier New" pitchFamily="34" charset="-120"/>
              </a:rPr>
              <a:t>port</a:t>
            </a:r>
            <a:pPr indent="0" marL="0">
              <a:buNone/>
            </a:pPr>
            <a:r>
              <a:rPr lang="en-US" sz="1750" dirty="0">
                <a:solidFill>
                  <a:srgbClr val="F8FAFC"/>
                </a:solidFill>
                <a:latin typeface="Courier New" pitchFamily="34" charset="0"/>
                <a:ea typeface="Courier New" pitchFamily="34" charset="-122"/>
                <a:cs typeface="Courier New" pitchFamily="34" charset="-120"/>
              </a:rPr>
              <a:t> </a:t>
            </a:r>
            <a:pPr indent="0" marL="0">
              <a:buNone/>
            </a:pPr>
            <a:r>
              <a:rPr lang="en-US" sz="1750" dirty="0">
                <a:solidFill>
                  <a:srgbClr val="10BCD8"/>
                </a:solidFill>
                <a:latin typeface="Courier New" pitchFamily="34" charset="0"/>
                <a:ea typeface="Courier New" pitchFamily="34" charset="-122"/>
                <a:cs typeface="Courier New" pitchFamily="34" charset="-120"/>
              </a:rPr>
              <a:t>23</a:t>
            </a:r>
            <a:pPr indent="0" marL="0">
              <a:buNone/>
            </a:pPr>
            <a:r>
              <a:rPr lang="en-US" sz="1750" dirty="0">
                <a:solidFill>
                  <a:srgbClr val="F8FAFC"/>
                </a:solidFill>
                <a:latin typeface="Courier New" pitchFamily="34" charset="0"/>
                <a:ea typeface="Courier New" pitchFamily="34" charset="-122"/>
                <a:cs typeface="Courier New" pitchFamily="34" charset="-120"/>
              </a:rPr>
              <a:t> </a:t>
            </a:r>
            <a:pPr indent="0" marL="0">
              <a:buNone/>
            </a:pPr>
            <a:r>
              <a:rPr lang="en-US" sz="1750" dirty="0">
                <a:solidFill>
                  <a:srgbClr val="7B6FF0"/>
                </a:solidFill>
                <a:latin typeface="Courier New" pitchFamily="34" charset="0"/>
                <a:ea typeface="Courier New" pitchFamily="34" charset="-122"/>
                <a:cs typeface="Courier New" pitchFamily="34" charset="-120"/>
              </a:rPr>
              <a:t>protocol</a:t>
            </a:r>
            <a:pPr indent="0" marL="0">
              <a:buNone/>
            </a:pPr>
            <a:r>
              <a:rPr lang="en-US" sz="1750" dirty="0">
                <a:solidFill>
                  <a:srgbClr val="F8FAFC"/>
                </a:solidFill>
                <a:latin typeface="Courier New" pitchFamily="34" charset="0"/>
                <a:ea typeface="Courier New" pitchFamily="34" charset="-122"/>
                <a:cs typeface="Courier New" pitchFamily="34" charset="-120"/>
              </a:rPr>
              <a:t> tcp;</a:t>
            </a:r>
            <a:endParaRPr lang="en-US" sz="1750" dirty="0"/>
          </a:p>
        </p:txBody>
      </p:sp>
      <p:sp>
        <p:nvSpPr>
          <p:cNvPr id="17" name="Text 14"/>
          <p:cNvSpPr txBox="1"/>
          <p:nvPr/>
        </p:nvSpPr>
        <p:spPr>
          <a:xfrm>
            <a:off x="905256" y="4286707"/>
            <a:ext cx="6967728" cy="409651"/>
          </a:xfrm>
          <a:prstGeom prst="rect">
            <a:avLst/>
          </a:prstGeom>
          <a:noFill/>
          <a:ln/>
        </p:spPr>
        <p:txBody>
          <a:bodyPr wrap="square" lIns="0" tIns="0" rIns="0" bIns="0" rtlCol="0" anchor="ctr"/>
          <a:lstStyle/>
          <a:p>
            <a:pPr indent="0" marL="0">
              <a:buNone/>
            </a:pPr>
            <a:r>
              <a:rPr lang="en-US" sz="1750" dirty="0">
                <a:solidFill>
                  <a:srgbClr val="F8FAFC"/>
                </a:solidFill>
                <a:latin typeface="Courier New" pitchFamily="34" charset="0"/>
                <a:ea typeface="Courier New" pitchFamily="34" charset="-122"/>
                <a:cs typeface="Courier New" pitchFamily="34" charset="-120"/>
              </a:rPr>
              <a:t>  </a:t>
            </a:r>
            <a:pPr indent="0" marL="0">
              <a:buNone/>
            </a:pPr>
            <a:r>
              <a:rPr lang="en-US" sz="1750" dirty="0">
                <a:solidFill>
                  <a:srgbClr val="7B6FF0"/>
                </a:solidFill>
                <a:latin typeface="Courier New" pitchFamily="34" charset="0"/>
                <a:ea typeface="Courier New" pitchFamily="34" charset="-122"/>
                <a:cs typeface="Courier New" pitchFamily="34" charset="-120"/>
              </a:rPr>
              <a:t>firewall</a:t>
            </a:r>
            <a:pPr indent="0" marL="0">
              <a:buNone/>
            </a:pPr>
            <a:r>
              <a:rPr lang="en-US" sz="1750" dirty="0">
                <a:solidFill>
                  <a:srgbClr val="F8FAFC"/>
                </a:solidFill>
                <a:latin typeface="Courier New" pitchFamily="34" charset="0"/>
                <a:ea typeface="Courier New" pitchFamily="34" charset="-122"/>
                <a:cs typeface="Courier New" pitchFamily="34" charset="-120"/>
              </a:rPr>
              <a:t> </a:t>
            </a:r>
            <a:pPr indent="0" marL="0">
              <a:buNone/>
            </a:pPr>
            <a:r>
              <a:rPr lang="en-US" sz="1750" dirty="0">
                <a:solidFill>
                  <a:srgbClr val="7B6FF0"/>
                </a:solidFill>
                <a:latin typeface="Courier New" pitchFamily="34" charset="0"/>
                <a:ea typeface="Courier New" pitchFamily="34" charset="-122"/>
                <a:cs typeface="Courier New" pitchFamily="34" charset="-120"/>
              </a:rPr>
              <a:t>allow</a:t>
            </a:r>
            <a:pPr indent="0" marL="0">
              <a:buNone/>
            </a:pPr>
            <a:r>
              <a:rPr lang="en-US" sz="1750" dirty="0">
                <a:solidFill>
                  <a:srgbClr val="F8FAFC"/>
                </a:solidFill>
                <a:latin typeface="Courier New" pitchFamily="34" charset="0"/>
                <a:ea typeface="Courier New" pitchFamily="34" charset="-122"/>
                <a:cs typeface="Courier New" pitchFamily="34" charset="-120"/>
              </a:rPr>
              <a:t> </a:t>
            </a:r>
            <a:pPr indent="0" marL="0">
              <a:buNone/>
            </a:pPr>
            <a:r>
              <a:rPr lang="en-US" sz="1750" dirty="0">
                <a:solidFill>
                  <a:srgbClr val="7B6FF0"/>
                </a:solidFill>
                <a:latin typeface="Courier New" pitchFamily="34" charset="0"/>
                <a:ea typeface="Courier New" pitchFamily="34" charset="-122"/>
                <a:cs typeface="Courier New" pitchFamily="34" charset="-120"/>
              </a:rPr>
              <a:t>port</a:t>
            </a:r>
            <a:pPr indent="0" marL="0">
              <a:buNone/>
            </a:pPr>
            <a:r>
              <a:rPr lang="en-US" sz="1750" dirty="0">
                <a:solidFill>
                  <a:srgbClr val="F8FAFC"/>
                </a:solidFill>
                <a:latin typeface="Courier New" pitchFamily="34" charset="0"/>
                <a:ea typeface="Courier New" pitchFamily="34" charset="-122"/>
                <a:cs typeface="Courier New" pitchFamily="34" charset="-120"/>
              </a:rPr>
              <a:t> admin </a:t>
            </a:r>
            <a:pPr indent="0" marL="0">
              <a:buNone/>
            </a:pPr>
            <a:r>
              <a:rPr lang="en-US" sz="1750" dirty="0">
                <a:solidFill>
                  <a:srgbClr val="7B6FF0"/>
                </a:solidFill>
                <a:latin typeface="Courier New" pitchFamily="34" charset="0"/>
                <a:ea typeface="Courier New" pitchFamily="34" charset="-122"/>
                <a:cs typeface="Courier New" pitchFamily="34" charset="-120"/>
              </a:rPr>
              <a:t>protocol</a:t>
            </a:r>
            <a:pPr indent="0" marL="0">
              <a:buNone/>
            </a:pPr>
            <a:r>
              <a:rPr lang="en-US" sz="1750" dirty="0">
                <a:solidFill>
                  <a:srgbClr val="F8FAFC"/>
                </a:solidFill>
                <a:latin typeface="Courier New" pitchFamily="34" charset="0"/>
                <a:ea typeface="Courier New" pitchFamily="34" charset="-122"/>
                <a:cs typeface="Courier New" pitchFamily="34" charset="-120"/>
              </a:rPr>
              <a:t> tcp;</a:t>
            </a:r>
            <a:endParaRPr lang="en-US" sz="1750" dirty="0"/>
          </a:p>
        </p:txBody>
      </p:sp>
      <p:sp>
        <p:nvSpPr>
          <p:cNvPr id="18" name="Text 15"/>
          <p:cNvSpPr txBox="1"/>
          <p:nvPr/>
        </p:nvSpPr>
        <p:spPr>
          <a:xfrm>
            <a:off x="905256" y="4696358"/>
            <a:ext cx="6967728" cy="409651"/>
          </a:xfrm>
          <a:prstGeom prst="rect">
            <a:avLst/>
          </a:prstGeom>
          <a:noFill/>
          <a:ln/>
        </p:spPr>
        <p:txBody>
          <a:bodyPr wrap="square" lIns="0" tIns="0" rIns="0" bIns="0" rtlCol="0" anchor="ctr"/>
          <a:lstStyle/>
          <a:p>
            <a:pPr indent="0" marL="0">
              <a:buNone/>
            </a:pPr>
            <a:r>
              <a:rPr lang="en-US" sz="1750" dirty="0">
                <a:solidFill>
                  <a:srgbClr val="F8FAFC"/>
                </a:solidFill>
                <a:latin typeface="Courier New" pitchFamily="34" charset="0"/>
                <a:ea typeface="Courier New" pitchFamily="34" charset="-122"/>
                <a:cs typeface="Courier New" pitchFamily="34" charset="-120"/>
              </a:rPr>
              <a:t>  </a:t>
            </a:r>
            <a:pPr indent="0" marL="0">
              <a:buNone/>
            </a:pPr>
            <a:r>
              <a:rPr lang="en-US" sz="1750" dirty="0">
                <a:solidFill>
                  <a:srgbClr val="7B6FF0"/>
                </a:solidFill>
                <a:latin typeface="Courier New" pitchFamily="34" charset="0"/>
                <a:ea typeface="Courier New" pitchFamily="34" charset="-122"/>
                <a:cs typeface="Courier New" pitchFamily="34" charset="-120"/>
              </a:rPr>
              <a:t>check</a:t>
            </a:r>
            <a:pPr indent="0" marL="0">
              <a:buNone/>
            </a:pPr>
            <a:r>
              <a:rPr lang="en-US" sz="1750" dirty="0">
                <a:solidFill>
                  <a:srgbClr val="F8FAFC"/>
                </a:solidFill>
                <a:latin typeface="Courier New" pitchFamily="34" charset="0"/>
                <a:ea typeface="Courier New" pitchFamily="34" charset="-122"/>
                <a:cs typeface="Courier New" pitchFamily="34" charset="-120"/>
              </a:rPr>
              <a:t> </a:t>
            </a:r>
            <a:pPr indent="0" marL="0">
              <a:buNone/>
            </a:pPr>
            <a:r>
              <a:rPr lang="en-US" sz="1750" dirty="0">
                <a:solidFill>
                  <a:srgbClr val="7B6FF0"/>
                </a:solidFill>
                <a:latin typeface="Courier New" pitchFamily="34" charset="0"/>
                <a:ea typeface="Courier New" pitchFamily="34" charset="-122"/>
                <a:cs typeface="Courier New" pitchFamily="34" charset="-120"/>
              </a:rPr>
              <a:t>service</a:t>
            </a:r>
            <a:pPr indent="0" marL="0">
              <a:buNone/>
            </a:pPr>
            <a:r>
              <a:rPr lang="en-US" sz="1750" dirty="0">
                <a:solidFill>
                  <a:srgbClr val="F8FAFC"/>
                </a:solidFill>
                <a:latin typeface="Courier New" pitchFamily="34" charset="0"/>
                <a:ea typeface="Courier New" pitchFamily="34" charset="-122"/>
                <a:cs typeface="Courier New" pitchFamily="34" charset="-120"/>
              </a:rPr>
              <a:t> </a:t>
            </a:r>
            <a:pPr indent="0" marL="0">
              <a:buNone/>
            </a:pPr>
            <a:r>
              <a:rPr lang="en-US" sz="1750" dirty="0">
                <a:solidFill>
                  <a:srgbClr val="4ADE80"/>
                </a:solidFill>
                <a:latin typeface="Courier New" pitchFamily="34" charset="0"/>
                <a:ea typeface="Courier New" pitchFamily="34" charset="-122"/>
                <a:cs typeface="Courier New" pitchFamily="34" charset="-120"/>
              </a:rPr>
              <a:t>"ssh"</a:t>
            </a:r>
            <a:pPr indent="0" marL="0">
              <a:buNone/>
            </a:pPr>
            <a:r>
              <a:rPr lang="en-US" sz="1750" dirty="0">
                <a:solidFill>
                  <a:srgbClr val="F8FAFC"/>
                </a:solidFill>
                <a:latin typeface="Courier New" pitchFamily="34" charset="0"/>
                <a:ea typeface="Courier New" pitchFamily="34" charset="-122"/>
                <a:cs typeface="Courier New" pitchFamily="34" charset="-120"/>
              </a:rPr>
              <a:t>;</a:t>
            </a:r>
            <a:endParaRPr lang="en-US" sz="1750" dirty="0"/>
          </a:p>
        </p:txBody>
      </p:sp>
      <p:sp>
        <p:nvSpPr>
          <p:cNvPr id="19" name="Text 16"/>
          <p:cNvSpPr txBox="1"/>
          <p:nvPr/>
        </p:nvSpPr>
        <p:spPr>
          <a:xfrm>
            <a:off x="905256" y="5106010"/>
            <a:ext cx="6967728" cy="409651"/>
          </a:xfrm>
          <a:prstGeom prst="rect">
            <a:avLst/>
          </a:prstGeom>
          <a:noFill/>
          <a:ln/>
        </p:spPr>
        <p:txBody>
          <a:bodyPr wrap="square" lIns="0" tIns="0" rIns="0" bIns="0" rtlCol="0" anchor="ctr"/>
          <a:lstStyle/>
          <a:p>
            <a:pPr indent="0" marL="0">
              <a:buNone/>
            </a:pPr>
            <a:r>
              <a:rPr lang="en-US" sz="1750" dirty="0">
                <a:solidFill>
                  <a:srgbClr val="F8FAFC"/>
                </a:solidFill>
                <a:latin typeface="Courier New" pitchFamily="34" charset="0"/>
                <a:ea typeface="Courier New" pitchFamily="34" charset="-122"/>
                <a:cs typeface="Courier New" pitchFamily="34" charset="-120"/>
              </a:rPr>
              <a:t>  </a:t>
            </a:r>
            <a:pPr indent="0" marL="0">
              <a:buNone/>
            </a:pPr>
            <a:r>
              <a:rPr lang="en-US" sz="1750" dirty="0">
                <a:solidFill>
                  <a:srgbClr val="7B6FF0"/>
                </a:solidFill>
                <a:latin typeface="Courier New" pitchFamily="34" charset="0"/>
                <a:ea typeface="Courier New" pitchFamily="34" charset="-122"/>
                <a:cs typeface="Courier New" pitchFamily="34" charset="-120"/>
              </a:rPr>
              <a:t>report</a:t>
            </a:r>
            <a:pPr indent="0" marL="0">
              <a:buNone/>
            </a:pPr>
            <a:r>
              <a:rPr lang="en-US" sz="1750" dirty="0">
                <a:solidFill>
                  <a:srgbClr val="F8FAFC"/>
                </a:solidFill>
                <a:latin typeface="Courier New" pitchFamily="34" charset="0"/>
                <a:ea typeface="Courier New" pitchFamily="34" charset="-122"/>
                <a:cs typeface="Courier New" pitchFamily="34" charset="-120"/>
              </a:rPr>
              <a:t> </a:t>
            </a:r>
            <a:pPr indent="0" marL="0">
              <a:buNone/>
            </a:pPr>
            <a:r>
              <a:rPr lang="en-US" sz="1750" dirty="0">
                <a:solidFill>
                  <a:srgbClr val="4ADE80"/>
                </a:solidFill>
                <a:latin typeface="Courier New" pitchFamily="34" charset="0"/>
                <a:ea typeface="Courier New" pitchFamily="34" charset="-122"/>
                <a:cs typeface="Courier New" pitchFamily="34" charset="-120"/>
              </a:rPr>
              <a:t>"Policy execution completed."</a:t>
            </a:r>
            <a:pPr indent="0" marL="0">
              <a:buNone/>
            </a:pPr>
            <a:r>
              <a:rPr lang="en-US" sz="1750" dirty="0">
                <a:solidFill>
                  <a:srgbClr val="F8FAFC"/>
                </a:solidFill>
                <a:latin typeface="Courier New" pitchFamily="34" charset="0"/>
                <a:ea typeface="Courier New" pitchFamily="34" charset="-122"/>
                <a:cs typeface="Courier New" pitchFamily="34" charset="-120"/>
              </a:rPr>
              <a:t>;</a:t>
            </a:r>
            <a:endParaRPr lang="en-US" sz="1750" dirty="0"/>
          </a:p>
        </p:txBody>
      </p:sp>
      <p:sp>
        <p:nvSpPr>
          <p:cNvPr id="20" name="Text 17"/>
          <p:cNvSpPr txBox="1"/>
          <p:nvPr/>
        </p:nvSpPr>
        <p:spPr>
          <a:xfrm>
            <a:off x="905256" y="5515661"/>
            <a:ext cx="6967728" cy="409651"/>
          </a:xfrm>
          <a:prstGeom prst="rect">
            <a:avLst/>
          </a:prstGeom>
          <a:noFill/>
          <a:ln/>
        </p:spPr>
        <p:txBody>
          <a:bodyPr wrap="square" lIns="0" tIns="0" rIns="0" bIns="0" rtlCol="0" anchor="ctr"/>
          <a:lstStyle/>
          <a:p>
            <a:pPr indent="0" marL="0">
              <a:buNone/>
            </a:pPr>
            <a:r>
              <a:rPr lang="en-US" sz="1750" dirty="0">
                <a:solidFill>
                  <a:srgbClr val="F8FAFC"/>
                </a:solidFill>
                <a:latin typeface="Courier New" pitchFamily="34" charset="0"/>
                <a:ea typeface="Courier New" pitchFamily="34" charset="-122"/>
                <a:cs typeface="Courier New" pitchFamily="34" charset="-120"/>
              </a:rPr>
              <a:t>}</a:t>
            </a:r>
            <a:endParaRPr lang="en-US" sz="1750" dirty="0"/>
          </a:p>
        </p:txBody>
      </p:sp>
      <p:sp>
        <p:nvSpPr>
          <p:cNvPr id="21" name="Shape 18"/>
          <p:cNvSpPr/>
          <p:nvPr/>
        </p:nvSpPr>
        <p:spPr>
          <a:xfrm>
            <a:off x="8339328" y="1847088"/>
            <a:ext cx="530352" cy="530352"/>
          </a:xfrm>
          <a:prstGeom prst="ellipse">
            <a:avLst/>
          </a:prstGeom>
          <a:solidFill>
            <a:srgbClr val="10BCD8"/>
          </a:solidFill>
          <a:ln w="12700">
            <a:solidFill>
              <a:srgbClr val="10BCD8">
                <a:alpha val="0"/>
              </a:srgbClr>
            </a:solidFill>
            <a:prstDash val="solid"/>
          </a:ln>
        </p:spPr>
      </p:sp>
      <p:pic>
        <p:nvPicPr>
          <p:cNvPr id="22" name="Image 1" descr="preencoded.png">    </p:cNvPr>
          <p:cNvPicPr>
            <a:picLocks noChangeAspect="1"/>
          </p:cNvPicPr>
          <p:nvPr/>
        </p:nvPicPr>
        <p:blipFill>
          <a:blip r:embed="rId2"/>
          <a:stretch>
            <a:fillRect/>
          </a:stretch>
        </p:blipFill>
        <p:spPr>
          <a:xfrm>
            <a:off x="8461309" y="1969069"/>
            <a:ext cx="286390" cy="286390"/>
          </a:xfrm>
          <a:prstGeom prst="rect">
            <a:avLst/>
          </a:prstGeom>
        </p:spPr>
      </p:pic>
      <p:sp>
        <p:nvSpPr>
          <p:cNvPr id="23" name="Text 19"/>
          <p:cNvSpPr txBox="1"/>
          <p:nvPr/>
        </p:nvSpPr>
        <p:spPr>
          <a:xfrm>
            <a:off x="9070848" y="1828800"/>
            <a:ext cx="2468880" cy="384048"/>
          </a:xfrm>
          <a:prstGeom prst="rect">
            <a:avLst/>
          </a:prstGeom>
          <a:noFill/>
          <a:ln/>
        </p:spPr>
        <p:txBody>
          <a:bodyPr wrap="square" lIns="0" tIns="0" rIns="0" bIns="0"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Tipo de domínio</a:t>
            </a:r>
            <a:endParaRPr lang="en-US" sz="2100" dirty="0"/>
          </a:p>
        </p:txBody>
      </p:sp>
      <p:sp>
        <p:nvSpPr>
          <p:cNvPr id="24" name="Text 20"/>
          <p:cNvSpPr txBox="1"/>
          <p:nvPr/>
        </p:nvSpPr>
        <p:spPr>
          <a:xfrm>
            <a:off x="9070848" y="2276856"/>
            <a:ext cx="2468880" cy="758952"/>
          </a:xfrm>
          <a:prstGeom prst="rect">
            <a:avLst/>
          </a:prstGeom>
          <a:noFill/>
          <a:ln/>
        </p:spPr>
        <p:txBody>
          <a:bodyPr wrap="square" lIns="0" tIns="0" rIns="0" bIns="0" rtlCol="0" anchor="t"/>
          <a:lstStyle/>
          <a:p>
            <a:pPr indent="0" marL="0">
              <a:buNone/>
            </a:pPr>
            <a:r>
              <a:rPr lang="en-US" sz="1800" dirty="0">
                <a:solidFill>
                  <a:srgbClr val="CBD5E1"/>
                </a:solidFill>
                <a:latin typeface="Calibri" pitchFamily="34" charset="0"/>
                <a:ea typeface="Calibri" pitchFamily="34" charset="-122"/>
                <a:cs typeface="Calibri" pitchFamily="34" charset="-120"/>
              </a:rPr>
              <a:t>port limita valores a 1..65535.</a:t>
            </a:r>
            <a:endParaRPr lang="en-US" sz="1800" dirty="0"/>
          </a:p>
        </p:txBody>
      </p:sp>
      <p:sp>
        <p:nvSpPr>
          <p:cNvPr id="25" name="Shape 21"/>
          <p:cNvSpPr/>
          <p:nvPr/>
        </p:nvSpPr>
        <p:spPr>
          <a:xfrm>
            <a:off x="8339328" y="3273552"/>
            <a:ext cx="530352" cy="530352"/>
          </a:xfrm>
          <a:prstGeom prst="ellipse">
            <a:avLst/>
          </a:prstGeom>
          <a:solidFill>
            <a:srgbClr val="7B6FF0"/>
          </a:solidFill>
          <a:ln w="12700">
            <a:solidFill>
              <a:srgbClr val="7B6FF0">
                <a:alpha val="0"/>
              </a:srgbClr>
            </a:solidFill>
            <a:prstDash val="solid"/>
          </a:ln>
        </p:spPr>
      </p:sp>
      <p:pic>
        <p:nvPicPr>
          <p:cNvPr id="26" name="Image 2" descr="preencoded.png">    </p:cNvPr>
          <p:cNvPicPr>
            <a:picLocks noChangeAspect="1"/>
          </p:cNvPicPr>
          <p:nvPr/>
        </p:nvPicPr>
        <p:blipFill>
          <a:blip r:embed="rId3"/>
          <a:stretch>
            <a:fillRect/>
          </a:stretch>
        </p:blipFill>
        <p:spPr>
          <a:xfrm>
            <a:off x="8461309" y="3395533"/>
            <a:ext cx="286390" cy="286390"/>
          </a:xfrm>
          <a:prstGeom prst="rect">
            <a:avLst/>
          </a:prstGeom>
        </p:spPr>
      </p:pic>
      <p:sp>
        <p:nvSpPr>
          <p:cNvPr id="27" name="Text 22"/>
          <p:cNvSpPr txBox="1"/>
          <p:nvPr/>
        </p:nvSpPr>
        <p:spPr>
          <a:xfrm>
            <a:off x="9070848" y="3255264"/>
            <a:ext cx="2468880" cy="384048"/>
          </a:xfrm>
          <a:prstGeom prst="rect">
            <a:avLst/>
          </a:prstGeom>
          <a:noFill/>
          <a:ln/>
        </p:spPr>
        <p:txBody>
          <a:bodyPr wrap="square" lIns="0" tIns="0" rIns="0" bIns="0"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Alvo explícito</a:t>
            </a:r>
            <a:endParaRPr lang="en-US" sz="2100" dirty="0"/>
          </a:p>
        </p:txBody>
      </p:sp>
      <p:sp>
        <p:nvSpPr>
          <p:cNvPr id="28" name="Text 23"/>
          <p:cNvSpPr txBox="1"/>
          <p:nvPr/>
        </p:nvSpPr>
        <p:spPr>
          <a:xfrm>
            <a:off x="9070848" y="3703320"/>
            <a:ext cx="2468880" cy="758952"/>
          </a:xfrm>
          <a:prstGeom prst="rect">
            <a:avLst/>
          </a:prstGeom>
          <a:noFill/>
          <a:ln/>
        </p:spPr>
        <p:txBody>
          <a:bodyPr wrap="square" lIns="0" tIns="0" rIns="0" bIns="0" rtlCol="0" anchor="t"/>
          <a:lstStyle/>
          <a:p>
            <a:pPr indent="0" marL="0">
              <a:buNone/>
            </a:pPr>
            <a:r>
              <a:rPr lang="en-US" sz="1800" dirty="0">
                <a:solidFill>
                  <a:srgbClr val="CBD5E1"/>
                </a:solidFill>
                <a:latin typeface="Calibri" pitchFamily="34" charset="0"/>
                <a:ea typeface="Calibri" pitchFamily="34" charset="-122"/>
                <a:cs typeface="Calibri" pitchFamily="34" charset="-120"/>
              </a:rPr>
              <a:t>O grupo resolve cada host pelo IP.</a:t>
            </a:r>
            <a:endParaRPr lang="en-US" sz="1800" dirty="0"/>
          </a:p>
        </p:txBody>
      </p:sp>
      <p:sp>
        <p:nvSpPr>
          <p:cNvPr id="29" name="Shape 24"/>
          <p:cNvSpPr/>
          <p:nvPr/>
        </p:nvSpPr>
        <p:spPr>
          <a:xfrm>
            <a:off x="8339328" y="4681728"/>
            <a:ext cx="530352" cy="530352"/>
          </a:xfrm>
          <a:prstGeom prst="ellipse">
            <a:avLst/>
          </a:prstGeom>
          <a:solidFill>
            <a:srgbClr val="10BCD8"/>
          </a:solidFill>
          <a:ln w="12700">
            <a:solidFill>
              <a:srgbClr val="10BCD8">
                <a:alpha val="0"/>
              </a:srgbClr>
            </a:solidFill>
            <a:prstDash val="solid"/>
          </a:ln>
        </p:spPr>
      </p:sp>
      <p:pic>
        <p:nvPicPr>
          <p:cNvPr id="30" name="Image 3" descr="preencoded.png">    </p:cNvPr>
          <p:cNvPicPr>
            <a:picLocks noChangeAspect="1"/>
          </p:cNvPicPr>
          <p:nvPr/>
        </p:nvPicPr>
        <p:blipFill>
          <a:blip r:embed="rId4"/>
          <a:stretch>
            <a:fillRect/>
          </a:stretch>
        </p:blipFill>
        <p:spPr>
          <a:xfrm>
            <a:off x="8461309" y="4803709"/>
            <a:ext cx="286390" cy="286390"/>
          </a:xfrm>
          <a:prstGeom prst="rect">
            <a:avLst/>
          </a:prstGeom>
        </p:spPr>
      </p:pic>
      <p:sp>
        <p:nvSpPr>
          <p:cNvPr id="31" name="Text 25"/>
          <p:cNvSpPr txBox="1"/>
          <p:nvPr/>
        </p:nvSpPr>
        <p:spPr>
          <a:xfrm>
            <a:off x="9070848" y="4663440"/>
            <a:ext cx="2468880" cy="384048"/>
          </a:xfrm>
          <a:prstGeom prst="rect">
            <a:avLst/>
          </a:prstGeom>
          <a:noFill/>
          <a:ln/>
        </p:spPr>
        <p:txBody>
          <a:bodyPr wrap="square" lIns="0" tIns="0" rIns="0" bIns="0"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Execução por host</a:t>
            </a:r>
            <a:endParaRPr lang="en-US" sz="2100" dirty="0"/>
          </a:p>
        </p:txBody>
      </p:sp>
      <p:sp>
        <p:nvSpPr>
          <p:cNvPr id="32" name="Text 26"/>
          <p:cNvSpPr txBox="1"/>
          <p:nvPr/>
        </p:nvSpPr>
        <p:spPr>
          <a:xfrm>
            <a:off x="9070848" y="5111496"/>
            <a:ext cx="2468880" cy="758952"/>
          </a:xfrm>
          <a:prstGeom prst="rect">
            <a:avLst/>
          </a:prstGeom>
          <a:noFill/>
          <a:ln/>
        </p:spPr>
        <p:txBody>
          <a:bodyPr wrap="square" lIns="0" tIns="0" rIns="0" bIns="0" rtlCol="0" anchor="t"/>
          <a:lstStyle/>
          <a:p>
            <a:pPr indent="0" marL="0">
              <a:buNone/>
            </a:pPr>
            <a:r>
              <a:rPr lang="en-US" sz="1800" dirty="0">
                <a:solidFill>
                  <a:srgbClr val="CBD5E1"/>
                </a:solidFill>
                <a:latin typeface="Calibri" pitchFamily="34" charset="0"/>
                <a:ea typeface="Calibri" pitchFamily="34" charset="-122"/>
                <a:cs typeface="Calibri" pitchFamily="34" charset="-120"/>
              </a:rPr>
              <a:t>O play gera instruções ordenadas.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324"/>
        </a:solidFill>
      </p:bgPr>
    </p:bg>
    <p:spTree>
      <p:nvGrpSpPr>
        <p:cNvPr id="1" name=""/>
        <p:cNvGrpSpPr/>
        <p:nvPr/>
      </p:nvGrpSpPr>
      <p:grpSpPr>
        <a:xfrm>
          <a:off x="0" y="0"/>
          <a:ext cx="0" cy="0"/>
          <a:chOff x="0" y="0"/>
          <a:chExt cx="0" cy="0"/>
        </a:xfrm>
      </p:grpSpPr>
      <p:sp>
        <p:nvSpPr>
          <p:cNvPr id="2" name="Shape 0"/>
          <p:cNvSpPr/>
          <p:nvPr/>
        </p:nvSpPr>
        <p:spPr>
          <a:xfrm>
            <a:off x="-1024128" y="-1005840"/>
            <a:ext cx="3456432" cy="3364992"/>
          </a:xfrm>
          <a:prstGeom prst="ellipse">
            <a:avLst/>
          </a:prstGeom>
          <a:solidFill>
            <a:srgbClr val="122B3F"/>
          </a:solidFill>
          <a:ln w="12700">
            <a:solidFill>
              <a:srgbClr val="333333">
                <a:alpha val="0"/>
              </a:srgbClr>
            </a:solidFill>
            <a:prstDash val="solid"/>
          </a:ln>
        </p:spPr>
      </p:sp>
      <p:sp>
        <p:nvSpPr>
          <p:cNvPr id="3" name="Shape 1"/>
          <p:cNvSpPr/>
          <p:nvPr/>
        </p:nvSpPr>
        <p:spPr>
          <a:xfrm>
            <a:off x="8686800" y="4709160"/>
            <a:ext cx="4663440" cy="3310128"/>
          </a:xfrm>
          <a:prstGeom prst="ellipse">
            <a:avLst/>
          </a:prstGeom>
          <a:solidFill>
            <a:srgbClr val="1D1D40"/>
          </a:solidFill>
          <a:ln w="12700">
            <a:solidFill>
              <a:srgbClr val="333333">
                <a:alpha val="0"/>
              </a:srgbClr>
            </a:solidFill>
            <a:prstDash val="solid"/>
          </a:ln>
        </p:spPr>
      </p:sp>
      <p:sp>
        <p:nvSpPr>
          <p:cNvPr id="4" name="Text 2"/>
          <p:cNvSpPr txBox="1"/>
          <p:nvPr/>
        </p:nvSpPr>
        <p:spPr>
          <a:xfrm>
            <a:off x="594360" y="292608"/>
            <a:ext cx="10469880" cy="530352"/>
          </a:xfrm>
          <a:prstGeom prst="rect">
            <a:avLst/>
          </a:prstGeom>
          <a:noFill/>
          <a:ln/>
        </p:spPr>
        <p:txBody>
          <a:bodyPr wrap="square" lIns="0" tIns="0" rIns="0" bIns="0" rtlCol="0" anchor="ctr"/>
          <a:lstStyle/>
          <a:p>
            <a:pPr algn="ctr" indent="0" marL="0">
              <a:buNone/>
            </a:pPr>
            <a:r>
              <a:rPr lang="en-US" sz="2900" b="1" dirty="0">
                <a:solidFill>
                  <a:srgbClr val="F8FAFC"/>
                </a:solidFill>
                <a:latin typeface="Arial" pitchFamily="34" charset="0"/>
                <a:ea typeface="Arial" pitchFamily="34" charset="-122"/>
                <a:cs typeface="Arial" pitchFamily="34" charset="-120"/>
              </a:rPr>
              <a:t>Arquitetura do </a:t>
            </a:r>
            <a:pPr algn="ctr" indent="0" marL="0">
              <a:buNone/>
            </a:pPr>
            <a:r>
              <a:rPr lang="en-US" sz="2900" b="1" dirty="0">
                <a:solidFill>
                  <a:srgbClr val="10BCD8"/>
                </a:solidFill>
                <a:latin typeface="Arial" pitchFamily="34" charset="0"/>
                <a:ea typeface="Arial" pitchFamily="34" charset="-122"/>
                <a:cs typeface="Arial" pitchFamily="34" charset="-120"/>
              </a:rPr>
              <a:t>compilador</a:t>
            </a:r>
            <a:endParaRPr lang="en-US" sz="2900" dirty="0"/>
          </a:p>
        </p:txBody>
      </p:sp>
      <p:sp>
        <p:nvSpPr>
          <p:cNvPr id="5" name="Shape 3"/>
          <p:cNvSpPr/>
          <p:nvPr/>
        </p:nvSpPr>
        <p:spPr>
          <a:xfrm>
            <a:off x="10991088" y="310896"/>
            <a:ext cx="621792" cy="621792"/>
          </a:xfrm>
          <a:prstGeom prst="ellipse">
            <a:avLst/>
          </a:prstGeom>
          <a:solidFill>
            <a:srgbClr val="7B6FF0"/>
          </a:solidFill>
          <a:ln w="12700">
            <a:solidFill>
              <a:srgbClr val="7B6FF0">
                <a:alpha val="0"/>
              </a:srgbClr>
            </a:solidFill>
            <a:prstDash val="solid"/>
          </a:ln>
        </p:spPr>
      </p:sp>
      <p:pic>
        <p:nvPicPr>
          <p:cNvPr id="6" name="Image 0" descr="preencoded.png">    </p:cNvPr>
          <p:cNvPicPr>
            <a:picLocks noChangeAspect="1"/>
          </p:cNvPicPr>
          <p:nvPr/>
        </p:nvPicPr>
        <p:blipFill>
          <a:blip r:embed="rId1"/>
          <a:stretch>
            <a:fillRect/>
          </a:stretch>
        </p:blipFill>
        <p:spPr>
          <a:xfrm>
            <a:off x="11134100" y="453908"/>
            <a:ext cx="335768" cy="335768"/>
          </a:xfrm>
          <a:prstGeom prst="rect">
            <a:avLst/>
          </a:prstGeom>
        </p:spPr>
      </p:pic>
      <p:sp>
        <p:nvSpPr>
          <p:cNvPr id="7" name="Text 4"/>
          <p:cNvSpPr txBox="1"/>
          <p:nvPr/>
        </p:nvSpPr>
        <p:spPr>
          <a:xfrm>
            <a:off x="685800" y="987552"/>
            <a:ext cx="10789920" cy="384048"/>
          </a:xfrm>
          <a:prstGeom prst="rect">
            <a:avLst/>
          </a:prstGeom>
          <a:noFill/>
          <a:ln/>
        </p:spPr>
        <p:txBody>
          <a:bodyPr wrap="square" lIns="0" tIns="0" rIns="0" bIns="0" rtlCol="0" anchor="ctr"/>
          <a:lstStyle/>
          <a:p>
            <a:pPr algn="ctr" indent="0" marL="0">
              <a:buNone/>
            </a:pPr>
            <a:r>
              <a:rPr lang="en-US" sz="1800" dirty="0">
                <a:solidFill>
                  <a:srgbClr val="CBD5E1"/>
                </a:solidFill>
                <a:latin typeface="Calibri" pitchFamily="34" charset="0"/>
                <a:ea typeface="Calibri" pitchFamily="34" charset="-122"/>
                <a:cs typeface="Calibri" pitchFamily="34" charset="-120"/>
              </a:rPr>
              <a:t>A análise do programa inteiro termina antes de qualquer efeito de rede</a:t>
            </a:r>
            <a:endParaRPr lang="en-US" sz="1800" dirty="0"/>
          </a:p>
        </p:txBody>
      </p:sp>
      <p:sp>
        <p:nvSpPr>
          <p:cNvPr id="8" name="Text 5"/>
          <p:cNvSpPr txBox="1"/>
          <p:nvPr/>
        </p:nvSpPr>
        <p:spPr>
          <a:xfrm>
            <a:off x="502920" y="6556248"/>
            <a:ext cx="7772400" cy="164592"/>
          </a:xfrm>
          <a:prstGeom prst="rect">
            <a:avLst/>
          </a:prstGeom>
          <a:noFill/>
          <a:ln/>
        </p:spPr>
        <p:txBody>
          <a:bodyPr wrap="square" lIns="0" tIns="0" rIns="0" bIns="0" rtlCol="0" anchor="ctr"/>
          <a:lstStyle/>
          <a:p>
            <a:pPr indent="0" marL="0">
              <a:buNone/>
            </a:pPr>
            <a:r>
              <a:rPr lang="en-US" sz="850" dirty="0">
                <a:solidFill>
                  <a:srgbClr val="8796AD"/>
                </a:solidFill>
                <a:latin typeface="Calibri" pitchFamily="34" charset="0"/>
                <a:ea typeface="Calibri" pitchFamily="34" charset="-122"/>
                <a:cs typeface="Calibri" pitchFamily="34" charset="-120"/>
              </a:rPr>
              <a:t>NetSec  ·  Redes + Segurança + Automação</a:t>
            </a:r>
            <a:endParaRPr lang="en-US" sz="850" dirty="0"/>
          </a:p>
        </p:txBody>
      </p:sp>
      <p:sp>
        <p:nvSpPr>
          <p:cNvPr id="9" name="Text 6"/>
          <p:cNvSpPr txBox="1"/>
          <p:nvPr/>
        </p:nvSpPr>
        <p:spPr>
          <a:xfrm>
            <a:off x="11292840" y="6547104"/>
            <a:ext cx="320040" cy="182880"/>
          </a:xfrm>
          <a:prstGeom prst="rect">
            <a:avLst/>
          </a:prstGeom>
          <a:noFill/>
          <a:ln/>
        </p:spPr>
        <p:txBody>
          <a:bodyPr wrap="square" lIns="0" tIns="0" rIns="0" bIns="0" rtlCol="0" anchor="ctr"/>
          <a:lstStyle/>
          <a:p>
            <a:pPr algn="r" indent="0" marL="0">
              <a:buNone/>
            </a:pPr>
            <a:r>
              <a:rPr lang="en-US" sz="850" dirty="0">
                <a:solidFill>
                  <a:srgbClr val="8796AD"/>
                </a:solidFill>
                <a:latin typeface="Calibri" pitchFamily="34" charset="0"/>
                <a:ea typeface="Calibri" pitchFamily="34" charset="-122"/>
                <a:cs typeface="Calibri" pitchFamily="34" charset="-120"/>
              </a:rPr>
              <a:t>4</a:t>
            </a:r>
            <a:endParaRPr lang="en-US" sz="850" dirty="0"/>
          </a:p>
        </p:txBody>
      </p:sp>
      <p:sp>
        <p:nvSpPr>
          <p:cNvPr id="10" name="Shape 7"/>
          <p:cNvSpPr/>
          <p:nvPr/>
        </p:nvSpPr>
        <p:spPr>
          <a:xfrm>
            <a:off x="685800" y="2103120"/>
            <a:ext cx="1947672" cy="2578608"/>
          </a:xfrm>
          <a:prstGeom prst="roundRect">
            <a:avLst>
              <a:gd name="adj" fmla="val 5634"/>
            </a:avLst>
          </a:prstGeom>
          <a:solidFill>
            <a:srgbClr val="1E293B"/>
          </a:solidFill>
          <a:ln w="7620">
            <a:solidFill>
              <a:srgbClr val="283449"/>
            </a:solidFill>
            <a:prstDash val="solid"/>
          </a:ln>
        </p:spPr>
      </p:sp>
      <p:sp>
        <p:nvSpPr>
          <p:cNvPr id="11" name="Shape 8"/>
          <p:cNvSpPr/>
          <p:nvPr/>
        </p:nvSpPr>
        <p:spPr>
          <a:xfrm>
            <a:off x="1353312" y="2395728"/>
            <a:ext cx="594360" cy="594360"/>
          </a:xfrm>
          <a:prstGeom prst="ellipse">
            <a:avLst/>
          </a:prstGeom>
          <a:solidFill>
            <a:srgbClr val="10BCD8"/>
          </a:solidFill>
          <a:ln w="12700">
            <a:solidFill>
              <a:srgbClr val="10BCD8">
                <a:alpha val="0"/>
              </a:srgbClr>
            </a:solidFill>
            <a:prstDash val="solid"/>
          </a:ln>
        </p:spPr>
      </p:sp>
      <p:pic>
        <p:nvPicPr>
          <p:cNvPr id="12" name="Image 1" descr="preencoded.png">    </p:cNvPr>
          <p:cNvPicPr>
            <a:picLocks noChangeAspect="1"/>
          </p:cNvPicPr>
          <p:nvPr/>
        </p:nvPicPr>
        <p:blipFill>
          <a:blip r:embed="rId2"/>
          <a:stretch>
            <a:fillRect/>
          </a:stretch>
        </p:blipFill>
        <p:spPr>
          <a:xfrm>
            <a:off x="1490015" y="2532431"/>
            <a:ext cx="320954" cy="320954"/>
          </a:xfrm>
          <a:prstGeom prst="rect">
            <a:avLst/>
          </a:prstGeom>
        </p:spPr>
      </p:pic>
      <p:sp>
        <p:nvSpPr>
          <p:cNvPr id="13" name="Text 9"/>
          <p:cNvSpPr txBox="1"/>
          <p:nvPr/>
        </p:nvSpPr>
        <p:spPr>
          <a:xfrm>
            <a:off x="795528" y="3200400"/>
            <a:ext cx="1728216" cy="411480"/>
          </a:xfrm>
          <a:prstGeom prst="rect">
            <a:avLst/>
          </a:prstGeom>
          <a:noFill/>
          <a:ln/>
        </p:spPr>
        <p:txBody>
          <a:bodyPr wrap="square" lIns="0" tIns="0" rIns="0" bIns="0" rtlCol="0" anchor="ctr"/>
          <a:lstStyle/>
          <a:p>
            <a:pPr algn="ctr" indent="0" marL="0">
              <a:buNone/>
            </a:pPr>
            <a:r>
              <a:rPr lang="en-US" sz="2300" b="1" dirty="0">
                <a:solidFill>
                  <a:srgbClr val="F8FAFC"/>
                </a:solidFill>
                <a:latin typeface="Calibri" pitchFamily="34" charset="0"/>
                <a:ea typeface="Calibri" pitchFamily="34" charset="-122"/>
                <a:cs typeface="Calibri" pitchFamily="34" charset="-120"/>
              </a:rPr>
              <a:t>Lexer</a:t>
            </a:r>
            <a:endParaRPr lang="en-US" sz="2300" dirty="0"/>
          </a:p>
        </p:txBody>
      </p:sp>
      <p:sp>
        <p:nvSpPr>
          <p:cNvPr id="14" name="Text 10"/>
          <p:cNvSpPr txBox="1"/>
          <p:nvPr/>
        </p:nvSpPr>
        <p:spPr>
          <a:xfrm>
            <a:off x="777240" y="3685032"/>
            <a:ext cx="1764792" cy="438912"/>
          </a:xfrm>
          <a:prstGeom prst="rect">
            <a:avLst/>
          </a:prstGeom>
          <a:noFill/>
          <a:ln/>
        </p:spPr>
        <p:txBody>
          <a:bodyPr wrap="square" lIns="0" tIns="0" rIns="0" bIns="0" rtlCol="0" anchor="ctr"/>
          <a:lstStyle/>
          <a:p>
            <a:pPr algn="ctr" indent="0" marL="0">
              <a:buNone/>
            </a:pPr>
            <a:r>
              <a:rPr lang="en-US" sz="1600" dirty="0">
                <a:solidFill>
                  <a:srgbClr val="CBD5E1"/>
                </a:solidFill>
                <a:latin typeface="Calibri" pitchFamily="34" charset="0"/>
                <a:ea typeface="Calibri" pitchFamily="34" charset="-122"/>
                <a:cs typeface="Calibri" pitchFamily="34" charset="-120"/>
              </a:rPr>
              <a:t>Texto em tokens</a:t>
            </a:r>
            <a:endParaRPr lang="en-US" sz="1600" dirty="0"/>
          </a:p>
        </p:txBody>
      </p:sp>
      <p:sp>
        <p:nvSpPr>
          <p:cNvPr id="15" name="Text 11"/>
          <p:cNvSpPr txBox="1"/>
          <p:nvPr/>
        </p:nvSpPr>
        <p:spPr>
          <a:xfrm>
            <a:off x="758952" y="4206240"/>
            <a:ext cx="1801368" cy="228600"/>
          </a:xfrm>
          <a:prstGeom prst="rect">
            <a:avLst/>
          </a:prstGeom>
          <a:noFill/>
          <a:ln/>
        </p:spPr>
        <p:txBody>
          <a:bodyPr wrap="square" lIns="0" tIns="0" rIns="0" bIns="0" rtlCol="0" anchor="ctr"/>
          <a:lstStyle/>
          <a:p>
            <a:pPr algn="ctr" indent="0" marL="0">
              <a:buNone/>
            </a:pPr>
            <a:r>
              <a:rPr lang="en-US" sz="1300" dirty="0">
                <a:solidFill>
                  <a:srgbClr val="8796AD"/>
                </a:solidFill>
                <a:latin typeface="Calibri" pitchFamily="34" charset="0"/>
                <a:ea typeface="Calibri" pitchFamily="34" charset="-122"/>
                <a:cs typeface="Calibri" pitchFamily="34" charset="-120"/>
              </a:rPr>
              <a:t>lexer.py</a:t>
            </a:r>
            <a:endParaRPr lang="en-US" sz="1300" dirty="0"/>
          </a:p>
        </p:txBody>
      </p:sp>
      <p:sp>
        <p:nvSpPr>
          <p:cNvPr id="16" name="Shape 12"/>
          <p:cNvSpPr/>
          <p:nvPr/>
        </p:nvSpPr>
        <p:spPr>
          <a:xfrm>
            <a:off x="2642616" y="3374136"/>
            <a:ext cx="246888" cy="0"/>
          </a:xfrm>
          <a:prstGeom prst="line">
            <a:avLst/>
          </a:prstGeom>
          <a:noFill/>
          <a:ln w="27940">
            <a:solidFill>
              <a:srgbClr val="7B6FF0"/>
            </a:solidFill>
            <a:prstDash val="solid"/>
            <a:headEnd type="none"/>
            <a:tailEnd type="triangle"/>
          </a:ln>
        </p:spPr>
      </p:sp>
      <p:sp>
        <p:nvSpPr>
          <p:cNvPr id="17" name="Shape 13"/>
          <p:cNvSpPr/>
          <p:nvPr/>
        </p:nvSpPr>
        <p:spPr>
          <a:xfrm>
            <a:off x="2907792" y="2103120"/>
            <a:ext cx="1947672" cy="2578608"/>
          </a:xfrm>
          <a:prstGeom prst="roundRect">
            <a:avLst>
              <a:gd name="adj" fmla="val 5634"/>
            </a:avLst>
          </a:prstGeom>
          <a:solidFill>
            <a:srgbClr val="1E293B"/>
          </a:solidFill>
          <a:ln w="7620">
            <a:solidFill>
              <a:srgbClr val="283449"/>
            </a:solidFill>
            <a:prstDash val="solid"/>
          </a:ln>
        </p:spPr>
      </p:sp>
      <p:sp>
        <p:nvSpPr>
          <p:cNvPr id="18" name="Shape 14"/>
          <p:cNvSpPr/>
          <p:nvPr/>
        </p:nvSpPr>
        <p:spPr>
          <a:xfrm>
            <a:off x="3575304" y="2395728"/>
            <a:ext cx="594360" cy="594360"/>
          </a:xfrm>
          <a:prstGeom prst="ellipse">
            <a:avLst/>
          </a:prstGeom>
          <a:solidFill>
            <a:srgbClr val="7B6FF0"/>
          </a:solidFill>
          <a:ln w="12700">
            <a:solidFill>
              <a:srgbClr val="7B6FF0">
                <a:alpha val="0"/>
              </a:srgbClr>
            </a:solidFill>
            <a:prstDash val="solid"/>
          </a:ln>
        </p:spPr>
      </p:sp>
      <p:pic>
        <p:nvPicPr>
          <p:cNvPr id="19" name="Image 2" descr="preencoded.png">    </p:cNvPr>
          <p:cNvPicPr>
            <a:picLocks noChangeAspect="1"/>
          </p:cNvPicPr>
          <p:nvPr/>
        </p:nvPicPr>
        <p:blipFill>
          <a:blip r:embed="rId3"/>
          <a:stretch>
            <a:fillRect/>
          </a:stretch>
        </p:blipFill>
        <p:spPr>
          <a:xfrm>
            <a:off x="3712007" y="2532431"/>
            <a:ext cx="320954" cy="320954"/>
          </a:xfrm>
          <a:prstGeom prst="rect">
            <a:avLst/>
          </a:prstGeom>
        </p:spPr>
      </p:pic>
      <p:sp>
        <p:nvSpPr>
          <p:cNvPr id="20" name="Text 15"/>
          <p:cNvSpPr txBox="1"/>
          <p:nvPr/>
        </p:nvSpPr>
        <p:spPr>
          <a:xfrm>
            <a:off x="3017520" y="3200400"/>
            <a:ext cx="1728216" cy="411480"/>
          </a:xfrm>
          <a:prstGeom prst="rect">
            <a:avLst/>
          </a:prstGeom>
          <a:noFill/>
          <a:ln/>
        </p:spPr>
        <p:txBody>
          <a:bodyPr wrap="square" lIns="0" tIns="0" rIns="0" bIns="0" rtlCol="0" anchor="ctr"/>
          <a:lstStyle/>
          <a:p>
            <a:pPr algn="ctr" indent="0" marL="0">
              <a:buNone/>
            </a:pPr>
            <a:r>
              <a:rPr lang="en-US" sz="2300" b="1" dirty="0">
                <a:solidFill>
                  <a:srgbClr val="F8FAFC"/>
                </a:solidFill>
                <a:latin typeface="Calibri" pitchFamily="34" charset="0"/>
                <a:ea typeface="Calibri" pitchFamily="34" charset="-122"/>
                <a:cs typeface="Calibri" pitchFamily="34" charset="-120"/>
              </a:rPr>
              <a:t>Parser</a:t>
            </a:r>
            <a:endParaRPr lang="en-US" sz="2300" dirty="0"/>
          </a:p>
        </p:txBody>
      </p:sp>
      <p:sp>
        <p:nvSpPr>
          <p:cNvPr id="21" name="Text 16"/>
          <p:cNvSpPr txBox="1"/>
          <p:nvPr/>
        </p:nvSpPr>
        <p:spPr>
          <a:xfrm>
            <a:off x="2999232" y="3685032"/>
            <a:ext cx="1764792" cy="438912"/>
          </a:xfrm>
          <a:prstGeom prst="rect">
            <a:avLst/>
          </a:prstGeom>
          <a:noFill/>
          <a:ln/>
        </p:spPr>
        <p:txBody>
          <a:bodyPr wrap="square" lIns="0" tIns="0" rIns="0" bIns="0" rtlCol="0" anchor="ctr"/>
          <a:lstStyle/>
          <a:p>
            <a:pPr algn="ctr" indent="0" marL="0">
              <a:buNone/>
            </a:pPr>
            <a:r>
              <a:rPr lang="en-US" sz="1600" dirty="0">
                <a:solidFill>
                  <a:srgbClr val="CBD5E1"/>
                </a:solidFill>
                <a:latin typeface="Calibri" pitchFamily="34" charset="0"/>
                <a:ea typeface="Calibri" pitchFamily="34" charset="-122"/>
                <a:cs typeface="Calibri" pitchFamily="34" charset="-120"/>
              </a:rPr>
              <a:t>Tokens em AST</a:t>
            </a:r>
            <a:endParaRPr lang="en-US" sz="1600" dirty="0"/>
          </a:p>
        </p:txBody>
      </p:sp>
      <p:sp>
        <p:nvSpPr>
          <p:cNvPr id="22" name="Text 17"/>
          <p:cNvSpPr txBox="1"/>
          <p:nvPr/>
        </p:nvSpPr>
        <p:spPr>
          <a:xfrm>
            <a:off x="2980944" y="4206240"/>
            <a:ext cx="1801368" cy="228600"/>
          </a:xfrm>
          <a:prstGeom prst="rect">
            <a:avLst/>
          </a:prstGeom>
          <a:noFill/>
          <a:ln/>
        </p:spPr>
        <p:txBody>
          <a:bodyPr wrap="square" lIns="0" tIns="0" rIns="0" bIns="0" rtlCol="0" anchor="ctr"/>
          <a:lstStyle/>
          <a:p>
            <a:pPr algn="ctr" indent="0" marL="0">
              <a:buNone/>
            </a:pPr>
            <a:r>
              <a:rPr lang="en-US" sz="1300" dirty="0">
                <a:solidFill>
                  <a:srgbClr val="8796AD"/>
                </a:solidFill>
                <a:latin typeface="Calibri" pitchFamily="34" charset="0"/>
                <a:ea typeface="Calibri" pitchFamily="34" charset="-122"/>
                <a:cs typeface="Calibri" pitchFamily="34" charset="-120"/>
              </a:rPr>
              <a:t>parser.py</a:t>
            </a:r>
            <a:endParaRPr lang="en-US" sz="1300" dirty="0"/>
          </a:p>
        </p:txBody>
      </p:sp>
      <p:sp>
        <p:nvSpPr>
          <p:cNvPr id="23" name="Shape 18"/>
          <p:cNvSpPr/>
          <p:nvPr/>
        </p:nvSpPr>
        <p:spPr>
          <a:xfrm>
            <a:off x="4864608" y="3374136"/>
            <a:ext cx="246888" cy="0"/>
          </a:xfrm>
          <a:prstGeom prst="line">
            <a:avLst/>
          </a:prstGeom>
          <a:noFill/>
          <a:ln w="27940">
            <a:solidFill>
              <a:srgbClr val="7B6FF0"/>
            </a:solidFill>
            <a:prstDash val="solid"/>
            <a:headEnd type="none"/>
            <a:tailEnd type="triangle"/>
          </a:ln>
        </p:spPr>
      </p:sp>
      <p:sp>
        <p:nvSpPr>
          <p:cNvPr id="24" name="Shape 19"/>
          <p:cNvSpPr/>
          <p:nvPr/>
        </p:nvSpPr>
        <p:spPr>
          <a:xfrm>
            <a:off x="5129784" y="2103120"/>
            <a:ext cx="1947672" cy="2578608"/>
          </a:xfrm>
          <a:prstGeom prst="roundRect">
            <a:avLst>
              <a:gd name="adj" fmla="val 5634"/>
            </a:avLst>
          </a:prstGeom>
          <a:solidFill>
            <a:srgbClr val="293257"/>
          </a:solidFill>
          <a:ln w="7620">
            <a:solidFill>
              <a:srgbClr val="283449"/>
            </a:solidFill>
            <a:prstDash val="solid"/>
          </a:ln>
        </p:spPr>
      </p:sp>
      <p:sp>
        <p:nvSpPr>
          <p:cNvPr id="25" name="Shape 20"/>
          <p:cNvSpPr/>
          <p:nvPr/>
        </p:nvSpPr>
        <p:spPr>
          <a:xfrm>
            <a:off x="5797296" y="2395728"/>
            <a:ext cx="594360" cy="594360"/>
          </a:xfrm>
          <a:prstGeom prst="ellipse">
            <a:avLst/>
          </a:prstGeom>
          <a:solidFill>
            <a:srgbClr val="10BCD8"/>
          </a:solidFill>
          <a:ln w="12700">
            <a:solidFill>
              <a:srgbClr val="10BCD8">
                <a:alpha val="0"/>
              </a:srgbClr>
            </a:solidFill>
            <a:prstDash val="solid"/>
          </a:ln>
        </p:spPr>
      </p:sp>
      <p:pic>
        <p:nvPicPr>
          <p:cNvPr id="26" name="Image 3" descr="preencoded.png">    </p:cNvPr>
          <p:cNvPicPr>
            <a:picLocks noChangeAspect="1"/>
          </p:cNvPicPr>
          <p:nvPr/>
        </p:nvPicPr>
        <p:blipFill>
          <a:blip r:embed="rId4"/>
          <a:stretch>
            <a:fillRect/>
          </a:stretch>
        </p:blipFill>
        <p:spPr>
          <a:xfrm>
            <a:off x="5933999" y="2532431"/>
            <a:ext cx="320954" cy="320954"/>
          </a:xfrm>
          <a:prstGeom prst="rect">
            <a:avLst/>
          </a:prstGeom>
        </p:spPr>
      </p:pic>
      <p:sp>
        <p:nvSpPr>
          <p:cNvPr id="27" name="Text 21"/>
          <p:cNvSpPr txBox="1"/>
          <p:nvPr/>
        </p:nvSpPr>
        <p:spPr>
          <a:xfrm>
            <a:off x="5239512" y="3200400"/>
            <a:ext cx="1728216" cy="411480"/>
          </a:xfrm>
          <a:prstGeom prst="rect">
            <a:avLst/>
          </a:prstGeom>
          <a:noFill/>
          <a:ln/>
        </p:spPr>
        <p:txBody>
          <a:bodyPr wrap="square" lIns="0" tIns="0" rIns="0" bIns="0" rtlCol="0" anchor="ctr"/>
          <a:lstStyle/>
          <a:p>
            <a:pPr algn="ctr" indent="0" marL="0">
              <a:buNone/>
            </a:pPr>
            <a:r>
              <a:rPr lang="en-US" sz="2300" b="1" dirty="0">
                <a:solidFill>
                  <a:srgbClr val="F8FAFC"/>
                </a:solidFill>
                <a:latin typeface="Calibri" pitchFamily="34" charset="0"/>
                <a:ea typeface="Calibri" pitchFamily="34" charset="-122"/>
                <a:cs typeface="Calibri" pitchFamily="34" charset="-120"/>
              </a:rPr>
              <a:t>Semântica</a:t>
            </a:r>
            <a:endParaRPr lang="en-US" sz="2300" dirty="0"/>
          </a:p>
        </p:txBody>
      </p:sp>
      <p:sp>
        <p:nvSpPr>
          <p:cNvPr id="28" name="Text 22"/>
          <p:cNvSpPr txBox="1"/>
          <p:nvPr/>
        </p:nvSpPr>
        <p:spPr>
          <a:xfrm>
            <a:off x="5221224" y="3685032"/>
            <a:ext cx="1764792" cy="438912"/>
          </a:xfrm>
          <a:prstGeom prst="rect">
            <a:avLst/>
          </a:prstGeom>
          <a:noFill/>
          <a:ln/>
        </p:spPr>
        <p:txBody>
          <a:bodyPr wrap="square" lIns="0" tIns="0" rIns="0" bIns="0" rtlCol="0" anchor="ctr"/>
          <a:lstStyle/>
          <a:p>
            <a:pPr algn="ctr" indent="0" marL="0">
              <a:buNone/>
            </a:pPr>
            <a:r>
              <a:rPr lang="en-US" sz="1600" dirty="0">
                <a:solidFill>
                  <a:srgbClr val="CBD5E1"/>
                </a:solidFill>
                <a:latin typeface="Calibri" pitchFamily="34" charset="0"/>
                <a:ea typeface="Calibri" pitchFamily="34" charset="-122"/>
                <a:cs typeface="Calibri" pitchFamily="34" charset="-120"/>
              </a:rPr>
              <a:t>Tipos e conflitos</a:t>
            </a:r>
            <a:endParaRPr lang="en-US" sz="1600" dirty="0"/>
          </a:p>
        </p:txBody>
      </p:sp>
      <p:sp>
        <p:nvSpPr>
          <p:cNvPr id="29" name="Text 23"/>
          <p:cNvSpPr txBox="1"/>
          <p:nvPr/>
        </p:nvSpPr>
        <p:spPr>
          <a:xfrm>
            <a:off x="5202936" y="4206240"/>
            <a:ext cx="1801368" cy="228600"/>
          </a:xfrm>
          <a:prstGeom prst="rect">
            <a:avLst/>
          </a:prstGeom>
          <a:noFill/>
          <a:ln/>
        </p:spPr>
        <p:txBody>
          <a:bodyPr wrap="square" lIns="0" tIns="0" rIns="0" bIns="0" rtlCol="0" anchor="ctr"/>
          <a:lstStyle/>
          <a:p>
            <a:pPr algn="ctr" indent="0" marL="0">
              <a:buNone/>
            </a:pPr>
            <a:r>
              <a:rPr lang="en-US" sz="1300" dirty="0">
                <a:solidFill>
                  <a:srgbClr val="8796AD"/>
                </a:solidFill>
                <a:latin typeface="Calibri" pitchFamily="34" charset="0"/>
                <a:ea typeface="Calibri" pitchFamily="34" charset="-122"/>
                <a:cs typeface="Calibri" pitchFamily="34" charset="-120"/>
              </a:rPr>
              <a:t>values / compiler</a:t>
            </a:r>
            <a:endParaRPr lang="en-US" sz="1300" dirty="0"/>
          </a:p>
        </p:txBody>
      </p:sp>
      <p:sp>
        <p:nvSpPr>
          <p:cNvPr id="30" name="Shape 24"/>
          <p:cNvSpPr/>
          <p:nvPr/>
        </p:nvSpPr>
        <p:spPr>
          <a:xfrm>
            <a:off x="7086600" y="3374136"/>
            <a:ext cx="246888" cy="0"/>
          </a:xfrm>
          <a:prstGeom prst="line">
            <a:avLst/>
          </a:prstGeom>
          <a:noFill/>
          <a:ln w="27940">
            <a:solidFill>
              <a:srgbClr val="7B6FF0"/>
            </a:solidFill>
            <a:prstDash val="solid"/>
            <a:headEnd type="none"/>
            <a:tailEnd type="triangle"/>
          </a:ln>
        </p:spPr>
      </p:sp>
      <p:sp>
        <p:nvSpPr>
          <p:cNvPr id="31" name="Shape 25"/>
          <p:cNvSpPr/>
          <p:nvPr/>
        </p:nvSpPr>
        <p:spPr>
          <a:xfrm>
            <a:off x="7351776" y="2103120"/>
            <a:ext cx="1947672" cy="2578608"/>
          </a:xfrm>
          <a:prstGeom prst="roundRect">
            <a:avLst>
              <a:gd name="adj" fmla="val 5634"/>
            </a:avLst>
          </a:prstGeom>
          <a:solidFill>
            <a:srgbClr val="1E293B"/>
          </a:solidFill>
          <a:ln w="7620">
            <a:solidFill>
              <a:srgbClr val="283449"/>
            </a:solidFill>
            <a:prstDash val="solid"/>
          </a:ln>
        </p:spPr>
      </p:sp>
      <p:sp>
        <p:nvSpPr>
          <p:cNvPr id="32" name="Shape 26"/>
          <p:cNvSpPr/>
          <p:nvPr/>
        </p:nvSpPr>
        <p:spPr>
          <a:xfrm>
            <a:off x="8019288" y="2395728"/>
            <a:ext cx="594360" cy="594360"/>
          </a:xfrm>
          <a:prstGeom prst="ellipse">
            <a:avLst/>
          </a:prstGeom>
          <a:solidFill>
            <a:srgbClr val="7B6FF0"/>
          </a:solidFill>
          <a:ln w="12700">
            <a:solidFill>
              <a:srgbClr val="7B6FF0">
                <a:alpha val="0"/>
              </a:srgbClr>
            </a:solidFill>
            <a:prstDash val="solid"/>
          </a:ln>
        </p:spPr>
      </p:sp>
      <p:pic>
        <p:nvPicPr>
          <p:cNvPr id="33" name="Image 4" descr="preencoded.png">    </p:cNvPr>
          <p:cNvPicPr>
            <a:picLocks noChangeAspect="1"/>
          </p:cNvPicPr>
          <p:nvPr/>
        </p:nvPicPr>
        <p:blipFill>
          <a:blip r:embed="rId5"/>
          <a:stretch>
            <a:fillRect/>
          </a:stretch>
        </p:blipFill>
        <p:spPr>
          <a:xfrm>
            <a:off x="8155991" y="2532431"/>
            <a:ext cx="320954" cy="320954"/>
          </a:xfrm>
          <a:prstGeom prst="rect">
            <a:avLst/>
          </a:prstGeom>
        </p:spPr>
      </p:pic>
      <p:sp>
        <p:nvSpPr>
          <p:cNvPr id="34" name="Text 27"/>
          <p:cNvSpPr txBox="1"/>
          <p:nvPr/>
        </p:nvSpPr>
        <p:spPr>
          <a:xfrm>
            <a:off x="7461504" y="3200400"/>
            <a:ext cx="1728216" cy="411480"/>
          </a:xfrm>
          <a:prstGeom prst="rect">
            <a:avLst/>
          </a:prstGeom>
          <a:noFill/>
          <a:ln/>
        </p:spPr>
        <p:txBody>
          <a:bodyPr wrap="square" lIns="0" tIns="0" rIns="0" bIns="0" rtlCol="0" anchor="ctr"/>
          <a:lstStyle/>
          <a:p>
            <a:pPr algn="ctr" indent="0" marL="0">
              <a:buNone/>
            </a:pPr>
            <a:r>
              <a:rPr lang="en-US" sz="2300" b="1" dirty="0">
                <a:solidFill>
                  <a:srgbClr val="F8FAFC"/>
                </a:solidFill>
                <a:latin typeface="Calibri" pitchFamily="34" charset="0"/>
                <a:ea typeface="Calibri" pitchFamily="34" charset="-122"/>
                <a:cs typeface="Calibri" pitchFamily="34" charset="-120"/>
              </a:rPr>
              <a:t>Plano</a:t>
            </a:r>
            <a:endParaRPr lang="en-US" sz="2300" dirty="0"/>
          </a:p>
        </p:txBody>
      </p:sp>
      <p:sp>
        <p:nvSpPr>
          <p:cNvPr id="35" name="Text 28"/>
          <p:cNvSpPr txBox="1"/>
          <p:nvPr/>
        </p:nvSpPr>
        <p:spPr>
          <a:xfrm>
            <a:off x="7443216" y="3685032"/>
            <a:ext cx="1764792" cy="438912"/>
          </a:xfrm>
          <a:prstGeom prst="rect">
            <a:avLst/>
          </a:prstGeom>
          <a:noFill/>
          <a:ln/>
        </p:spPr>
        <p:txBody>
          <a:bodyPr wrap="square" lIns="0" tIns="0" rIns="0" bIns="0" rtlCol="0" anchor="ctr"/>
          <a:lstStyle/>
          <a:p>
            <a:pPr algn="ctr" indent="0" marL="0">
              <a:buNone/>
            </a:pPr>
            <a:r>
              <a:rPr lang="en-US" sz="1600" dirty="0">
                <a:solidFill>
                  <a:srgbClr val="CBD5E1"/>
                </a:solidFill>
                <a:latin typeface="Calibri" pitchFamily="34" charset="0"/>
                <a:ea typeface="Calibri" pitchFamily="34" charset="-122"/>
                <a:cs typeface="Calibri" pitchFamily="34" charset="-120"/>
              </a:rPr>
              <a:t>Instruções próprias</a:t>
            </a:r>
            <a:endParaRPr lang="en-US" sz="1600" dirty="0"/>
          </a:p>
        </p:txBody>
      </p:sp>
      <p:sp>
        <p:nvSpPr>
          <p:cNvPr id="36" name="Text 29"/>
          <p:cNvSpPr txBox="1"/>
          <p:nvPr/>
        </p:nvSpPr>
        <p:spPr>
          <a:xfrm>
            <a:off x="7424928" y="4206240"/>
            <a:ext cx="1801368" cy="228600"/>
          </a:xfrm>
          <a:prstGeom prst="rect">
            <a:avLst/>
          </a:prstGeom>
          <a:noFill/>
          <a:ln/>
        </p:spPr>
        <p:txBody>
          <a:bodyPr wrap="square" lIns="0" tIns="0" rIns="0" bIns="0" rtlCol="0" anchor="ctr"/>
          <a:lstStyle/>
          <a:p>
            <a:pPr algn="ctr" indent="0" marL="0">
              <a:buNone/>
            </a:pPr>
            <a:r>
              <a:rPr lang="en-US" sz="1300" dirty="0">
                <a:solidFill>
                  <a:srgbClr val="8796AD"/>
                </a:solidFill>
                <a:latin typeface="Calibri" pitchFamily="34" charset="0"/>
                <a:ea typeface="Calibri" pitchFamily="34" charset="-122"/>
                <a:cs typeface="Calibri" pitchFamily="34" charset="-120"/>
              </a:rPr>
              <a:t>compiler.py</a:t>
            </a:r>
            <a:endParaRPr lang="en-US" sz="1300" dirty="0"/>
          </a:p>
        </p:txBody>
      </p:sp>
      <p:sp>
        <p:nvSpPr>
          <p:cNvPr id="37" name="Shape 30"/>
          <p:cNvSpPr/>
          <p:nvPr/>
        </p:nvSpPr>
        <p:spPr>
          <a:xfrm>
            <a:off x="9308592" y="3374136"/>
            <a:ext cx="246888" cy="0"/>
          </a:xfrm>
          <a:prstGeom prst="line">
            <a:avLst/>
          </a:prstGeom>
          <a:noFill/>
          <a:ln w="27940">
            <a:solidFill>
              <a:srgbClr val="7B6FF0"/>
            </a:solidFill>
            <a:prstDash val="solid"/>
            <a:headEnd type="none"/>
            <a:tailEnd type="triangle"/>
          </a:ln>
        </p:spPr>
      </p:sp>
      <p:sp>
        <p:nvSpPr>
          <p:cNvPr id="38" name="Shape 31"/>
          <p:cNvSpPr/>
          <p:nvPr/>
        </p:nvSpPr>
        <p:spPr>
          <a:xfrm>
            <a:off x="9573768" y="2103120"/>
            <a:ext cx="1947672" cy="2578608"/>
          </a:xfrm>
          <a:prstGeom prst="roundRect">
            <a:avLst>
              <a:gd name="adj" fmla="val 5634"/>
            </a:avLst>
          </a:prstGeom>
          <a:solidFill>
            <a:srgbClr val="1E293B"/>
          </a:solidFill>
          <a:ln w="7620">
            <a:solidFill>
              <a:srgbClr val="283449"/>
            </a:solidFill>
            <a:prstDash val="solid"/>
          </a:ln>
        </p:spPr>
      </p:sp>
      <p:sp>
        <p:nvSpPr>
          <p:cNvPr id="39" name="Shape 32"/>
          <p:cNvSpPr/>
          <p:nvPr/>
        </p:nvSpPr>
        <p:spPr>
          <a:xfrm>
            <a:off x="10241280" y="2395728"/>
            <a:ext cx="594360" cy="594360"/>
          </a:xfrm>
          <a:prstGeom prst="ellipse">
            <a:avLst/>
          </a:prstGeom>
          <a:solidFill>
            <a:srgbClr val="10BCD8"/>
          </a:solidFill>
          <a:ln w="12700">
            <a:solidFill>
              <a:srgbClr val="10BCD8">
                <a:alpha val="0"/>
              </a:srgbClr>
            </a:solidFill>
            <a:prstDash val="solid"/>
          </a:ln>
        </p:spPr>
      </p:sp>
      <p:pic>
        <p:nvPicPr>
          <p:cNvPr id="40" name="Image 5" descr="preencoded.png">    </p:cNvPr>
          <p:cNvPicPr>
            <a:picLocks noChangeAspect="1"/>
          </p:cNvPicPr>
          <p:nvPr/>
        </p:nvPicPr>
        <p:blipFill>
          <a:blip r:embed="rId6"/>
          <a:stretch>
            <a:fillRect/>
          </a:stretch>
        </p:blipFill>
        <p:spPr>
          <a:xfrm>
            <a:off x="10377983" y="2532431"/>
            <a:ext cx="320954" cy="320954"/>
          </a:xfrm>
          <a:prstGeom prst="rect">
            <a:avLst/>
          </a:prstGeom>
        </p:spPr>
      </p:pic>
      <p:sp>
        <p:nvSpPr>
          <p:cNvPr id="41" name="Text 33"/>
          <p:cNvSpPr txBox="1"/>
          <p:nvPr/>
        </p:nvSpPr>
        <p:spPr>
          <a:xfrm>
            <a:off x="9683496" y="3200400"/>
            <a:ext cx="1728216" cy="411480"/>
          </a:xfrm>
          <a:prstGeom prst="rect">
            <a:avLst/>
          </a:prstGeom>
          <a:noFill/>
          <a:ln/>
        </p:spPr>
        <p:txBody>
          <a:bodyPr wrap="square" lIns="0" tIns="0" rIns="0" bIns="0" rtlCol="0" anchor="ctr"/>
          <a:lstStyle/>
          <a:p>
            <a:pPr algn="ctr" indent="0" marL="0">
              <a:buNone/>
            </a:pPr>
            <a:r>
              <a:rPr lang="en-US" sz="2300" b="1" dirty="0">
                <a:solidFill>
                  <a:srgbClr val="F8FAFC"/>
                </a:solidFill>
                <a:latin typeface="Calibri" pitchFamily="34" charset="0"/>
                <a:ea typeface="Calibri" pitchFamily="34" charset="-122"/>
                <a:cs typeface="Calibri" pitchFamily="34" charset="-120"/>
              </a:rPr>
              <a:t>Executor</a:t>
            </a:r>
            <a:endParaRPr lang="en-US" sz="2300" dirty="0"/>
          </a:p>
        </p:txBody>
      </p:sp>
      <p:sp>
        <p:nvSpPr>
          <p:cNvPr id="42" name="Text 34"/>
          <p:cNvSpPr txBox="1"/>
          <p:nvPr/>
        </p:nvSpPr>
        <p:spPr>
          <a:xfrm>
            <a:off x="9665208" y="3685032"/>
            <a:ext cx="1764792" cy="438912"/>
          </a:xfrm>
          <a:prstGeom prst="rect">
            <a:avLst/>
          </a:prstGeom>
          <a:noFill/>
          <a:ln/>
        </p:spPr>
        <p:txBody>
          <a:bodyPr wrap="square" lIns="0" tIns="0" rIns="0" bIns="0" rtlCol="0" anchor="ctr"/>
          <a:lstStyle/>
          <a:p>
            <a:pPr algn="ctr" indent="0" marL="0">
              <a:buNone/>
            </a:pPr>
            <a:r>
              <a:rPr lang="en-US" sz="1600" dirty="0">
                <a:solidFill>
                  <a:srgbClr val="CBD5E1"/>
                </a:solidFill>
                <a:latin typeface="Calibri" pitchFamily="34" charset="0"/>
                <a:ea typeface="Calibri" pitchFamily="34" charset="-122"/>
                <a:cs typeface="Calibri" pitchFamily="34" charset="-120"/>
              </a:rPr>
              <a:t>Ações e registros</a:t>
            </a:r>
            <a:endParaRPr lang="en-US" sz="1600" dirty="0"/>
          </a:p>
        </p:txBody>
      </p:sp>
      <p:sp>
        <p:nvSpPr>
          <p:cNvPr id="43" name="Text 35"/>
          <p:cNvSpPr txBox="1"/>
          <p:nvPr/>
        </p:nvSpPr>
        <p:spPr>
          <a:xfrm>
            <a:off x="9646920" y="4206240"/>
            <a:ext cx="1801368" cy="228600"/>
          </a:xfrm>
          <a:prstGeom prst="rect">
            <a:avLst/>
          </a:prstGeom>
          <a:noFill/>
          <a:ln/>
        </p:spPr>
        <p:txBody>
          <a:bodyPr wrap="square" lIns="0" tIns="0" rIns="0" bIns="0" rtlCol="0" anchor="ctr"/>
          <a:lstStyle/>
          <a:p>
            <a:pPr algn="ctr" indent="0" marL="0">
              <a:buNone/>
            </a:pPr>
            <a:r>
              <a:rPr lang="en-US" sz="1300" dirty="0">
                <a:solidFill>
                  <a:srgbClr val="8796AD"/>
                </a:solidFill>
                <a:latin typeface="Calibri" pitchFamily="34" charset="0"/>
                <a:ea typeface="Calibri" pitchFamily="34" charset="-122"/>
                <a:cs typeface="Calibri" pitchFamily="34" charset="-120"/>
              </a:rPr>
              <a:t>runtime.py</a:t>
            </a:r>
            <a:endParaRPr lang="en-US" sz="1300" dirty="0"/>
          </a:p>
        </p:txBody>
      </p:sp>
      <p:sp>
        <p:nvSpPr>
          <p:cNvPr id="44" name="Text 36"/>
          <p:cNvSpPr txBox="1"/>
          <p:nvPr/>
        </p:nvSpPr>
        <p:spPr>
          <a:xfrm>
            <a:off x="822960" y="5065776"/>
            <a:ext cx="6400800" cy="438912"/>
          </a:xfrm>
          <a:prstGeom prst="rect">
            <a:avLst/>
          </a:prstGeom>
          <a:noFill/>
          <a:ln/>
        </p:spPr>
        <p:txBody>
          <a:bodyPr wrap="square" lIns="0" tIns="0" rIns="0" bIns="0" rtlCol="0" anchor="ctr"/>
          <a:lstStyle/>
          <a:p>
            <a:pPr indent="0" marL="0">
              <a:buNone/>
            </a:pPr>
            <a:r>
              <a:rPr lang="en-US" sz="2400" b="1" dirty="0">
                <a:solidFill>
                  <a:srgbClr val="10BCD8"/>
                </a:solidFill>
                <a:latin typeface="Calibri" pitchFamily="34" charset="0"/>
                <a:ea typeface="Calibri" pitchFamily="34" charset="-122"/>
                <a:cs typeface="Calibri" pitchFamily="34" charset="-120"/>
              </a:rPr>
              <a:t>Front-end próprio</a:t>
            </a:r>
            <a:endParaRPr lang="en-US" sz="2400" dirty="0"/>
          </a:p>
        </p:txBody>
      </p:sp>
      <p:sp>
        <p:nvSpPr>
          <p:cNvPr id="45" name="Text 37"/>
          <p:cNvSpPr txBox="1"/>
          <p:nvPr/>
        </p:nvSpPr>
        <p:spPr>
          <a:xfrm>
            <a:off x="822960" y="5559552"/>
            <a:ext cx="10515600" cy="411480"/>
          </a:xfrm>
          <a:prstGeom prst="rect">
            <a:avLst/>
          </a:prstGeom>
          <a:noFill/>
          <a:ln/>
        </p:spPr>
        <p:txBody>
          <a:bodyPr wrap="square" lIns="0" tIns="0" rIns="0" bIns="0" rtlCol="0" anchor="ctr"/>
          <a:lstStyle/>
          <a:p>
            <a:pPr indent="0" marL="0">
              <a:buNone/>
            </a:pPr>
            <a:r>
              <a:rPr lang="en-US" sz="2000" dirty="0">
                <a:solidFill>
                  <a:srgbClr val="CBD5E1"/>
                </a:solidFill>
                <a:latin typeface="Calibri" pitchFamily="34" charset="0"/>
                <a:ea typeface="Calibri" pitchFamily="34" charset="-122"/>
                <a:cs typeface="Calibri" pitchFamily="34" charset="-120"/>
              </a:rPr>
              <a:t>Lexer manual, parser descendente recursivo e análise semântica implementada no projeto.</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324"/>
        </a:solidFill>
      </p:bgPr>
    </p:bg>
    <p:spTree>
      <p:nvGrpSpPr>
        <p:cNvPr id="1" name=""/>
        <p:cNvGrpSpPr/>
        <p:nvPr/>
      </p:nvGrpSpPr>
      <p:grpSpPr>
        <a:xfrm>
          <a:off x="0" y="0"/>
          <a:ext cx="0" cy="0"/>
          <a:chOff x="0" y="0"/>
          <a:chExt cx="0" cy="0"/>
        </a:xfrm>
      </p:grpSpPr>
      <p:sp>
        <p:nvSpPr>
          <p:cNvPr id="2" name="Shape 0"/>
          <p:cNvSpPr/>
          <p:nvPr/>
        </p:nvSpPr>
        <p:spPr>
          <a:xfrm>
            <a:off x="-1024128" y="-1005840"/>
            <a:ext cx="3456432" cy="3364992"/>
          </a:xfrm>
          <a:prstGeom prst="ellipse">
            <a:avLst/>
          </a:prstGeom>
          <a:solidFill>
            <a:srgbClr val="122B3F"/>
          </a:solidFill>
          <a:ln w="12700">
            <a:solidFill>
              <a:srgbClr val="333333">
                <a:alpha val="0"/>
              </a:srgbClr>
            </a:solidFill>
            <a:prstDash val="solid"/>
          </a:ln>
        </p:spPr>
      </p:sp>
      <p:sp>
        <p:nvSpPr>
          <p:cNvPr id="3" name="Shape 1"/>
          <p:cNvSpPr/>
          <p:nvPr/>
        </p:nvSpPr>
        <p:spPr>
          <a:xfrm>
            <a:off x="8686800" y="4709160"/>
            <a:ext cx="4663440" cy="3310128"/>
          </a:xfrm>
          <a:prstGeom prst="ellipse">
            <a:avLst/>
          </a:prstGeom>
          <a:solidFill>
            <a:srgbClr val="1D1D40"/>
          </a:solidFill>
          <a:ln w="12700">
            <a:solidFill>
              <a:srgbClr val="333333">
                <a:alpha val="0"/>
              </a:srgbClr>
            </a:solidFill>
            <a:prstDash val="solid"/>
          </a:ln>
        </p:spPr>
      </p:sp>
      <p:sp>
        <p:nvSpPr>
          <p:cNvPr id="4" name="Text 2"/>
          <p:cNvSpPr txBox="1"/>
          <p:nvPr/>
        </p:nvSpPr>
        <p:spPr>
          <a:xfrm>
            <a:off x="594360" y="292608"/>
            <a:ext cx="10469880" cy="530352"/>
          </a:xfrm>
          <a:prstGeom prst="rect">
            <a:avLst/>
          </a:prstGeom>
          <a:noFill/>
          <a:ln/>
        </p:spPr>
        <p:txBody>
          <a:bodyPr wrap="square" lIns="0" tIns="0" rIns="0" bIns="0" rtlCol="0" anchor="ctr"/>
          <a:lstStyle/>
          <a:p>
            <a:pPr algn="ctr" indent="0" marL="0">
              <a:buNone/>
            </a:pPr>
            <a:r>
              <a:rPr lang="en-US" sz="2900" b="1" dirty="0">
                <a:solidFill>
                  <a:srgbClr val="F8FAFC"/>
                </a:solidFill>
                <a:latin typeface="Arial" pitchFamily="34" charset="0"/>
                <a:ea typeface="Arial" pitchFamily="34" charset="-122"/>
                <a:cs typeface="Arial" pitchFamily="34" charset="-120"/>
              </a:rPr>
              <a:t>Tokens e </a:t>
            </a:r>
            <a:pPr algn="ctr" indent="0" marL="0">
              <a:buNone/>
            </a:pPr>
            <a:r>
              <a:rPr lang="en-US" sz="2900" b="1" dirty="0">
                <a:solidFill>
                  <a:srgbClr val="10BCD8"/>
                </a:solidFill>
                <a:latin typeface="Arial" pitchFamily="34" charset="0"/>
                <a:ea typeface="Arial" pitchFamily="34" charset="-122"/>
                <a:cs typeface="Arial" pitchFamily="34" charset="-120"/>
              </a:rPr>
              <a:t>gramática</a:t>
            </a:r>
            <a:endParaRPr lang="en-US" sz="2900" dirty="0"/>
          </a:p>
        </p:txBody>
      </p:sp>
      <p:sp>
        <p:nvSpPr>
          <p:cNvPr id="5" name="Shape 3"/>
          <p:cNvSpPr/>
          <p:nvPr/>
        </p:nvSpPr>
        <p:spPr>
          <a:xfrm>
            <a:off x="10991088" y="310896"/>
            <a:ext cx="621792" cy="621792"/>
          </a:xfrm>
          <a:prstGeom prst="ellipse">
            <a:avLst/>
          </a:prstGeom>
          <a:solidFill>
            <a:srgbClr val="7B6FF0"/>
          </a:solidFill>
          <a:ln w="12700">
            <a:solidFill>
              <a:srgbClr val="7B6FF0">
                <a:alpha val="0"/>
              </a:srgbClr>
            </a:solidFill>
            <a:prstDash val="solid"/>
          </a:ln>
        </p:spPr>
      </p:sp>
      <p:pic>
        <p:nvPicPr>
          <p:cNvPr id="6" name="Image 0" descr="preencoded.png">    </p:cNvPr>
          <p:cNvPicPr>
            <a:picLocks noChangeAspect="1"/>
          </p:cNvPicPr>
          <p:nvPr/>
        </p:nvPicPr>
        <p:blipFill>
          <a:blip r:embed="rId1"/>
          <a:stretch>
            <a:fillRect/>
          </a:stretch>
        </p:blipFill>
        <p:spPr>
          <a:xfrm>
            <a:off x="11134100" y="453908"/>
            <a:ext cx="335768" cy="335768"/>
          </a:xfrm>
          <a:prstGeom prst="rect">
            <a:avLst/>
          </a:prstGeom>
        </p:spPr>
      </p:pic>
      <p:sp>
        <p:nvSpPr>
          <p:cNvPr id="7" name="Text 4"/>
          <p:cNvSpPr txBox="1"/>
          <p:nvPr/>
        </p:nvSpPr>
        <p:spPr>
          <a:xfrm>
            <a:off x="685800" y="987552"/>
            <a:ext cx="10789920" cy="384048"/>
          </a:xfrm>
          <a:prstGeom prst="rect">
            <a:avLst/>
          </a:prstGeom>
          <a:noFill/>
          <a:ln/>
        </p:spPr>
        <p:txBody>
          <a:bodyPr wrap="square" lIns="0" tIns="0" rIns="0" bIns="0" rtlCol="0" anchor="ctr"/>
          <a:lstStyle/>
          <a:p>
            <a:pPr algn="ctr" indent="0" marL="0">
              <a:buNone/>
            </a:pPr>
            <a:r>
              <a:rPr lang="en-US" sz="1800" dirty="0">
                <a:solidFill>
                  <a:srgbClr val="CBD5E1"/>
                </a:solidFill>
                <a:latin typeface="Calibri" pitchFamily="34" charset="0"/>
                <a:ea typeface="Calibri" pitchFamily="34" charset="-122"/>
                <a:cs typeface="Calibri" pitchFamily="34" charset="-120"/>
              </a:rPr>
              <a:t>Cada token conserva arquivo, linha e coluna</a:t>
            </a:r>
            <a:endParaRPr lang="en-US" sz="1800" dirty="0"/>
          </a:p>
        </p:txBody>
      </p:sp>
      <p:sp>
        <p:nvSpPr>
          <p:cNvPr id="8" name="Text 5"/>
          <p:cNvSpPr txBox="1"/>
          <p:nvPr/>
        </p:nvSpPr>
        <p:spPr>
          <a:xfrm>
            <a:off x="502920" y="6556248"/>
            <a:ext cx="7772400" cy="164592"/>
          </a:xfrm>
          <a:prstGeom prst="rect">
            <a:avLst/>
          </a:prstGeom>
          <a:noFill/>
          <a:ln/>
        </p:spPr>
        <p:txBody>
          <a:bodyPr wrap="square" lIns="0" tIns="0" rIns="0" bIns="0" rtlCol="0" anchor="ctr"/>
          <a:lstStyle/>
          <a:p>
            <a:pPr indent="0" marL="0">
              <a:buNone/>
            </a:pPr>
            <a:r>
              <a:rPr lang="en-US" sz="850" dirty="0">
                <a:solidFill>
                  <a:srgbClr val="8796AD"/>
                </a:solidFill>
                <a:latin typeface="Calibri" pitchFamily="34" charset="0"/>
                <a:ea typeface="Calibri" pitchFamily="34" charset="-122"/>
                <a:cs typeface="Calibri" pitchFamily="34" charset="-120"/>
              </a:rPr>
              <a:t>NetSec  ·  Redes + Segurança + Automação</a:t>
            </a:r>
            <a:endParaRPr lang="en-US" sz="850" dirty="0"/>
          </a:p>
        </p:txBody>
      </p:sp>
      <p:sp>
        <p:nvSpPr>
          <p:cNvPr id="9" name="Text 6"/>
          <p:cNvSpPr txBox="1"/>
          <p:nvPr/>
        </p:nvSpPr>
        <p:spPr>
          <a:xfrm>
            <a:off x="11292840" y="6547104"/>
            <a:ext cx="320040" cy="182880"/>
          </a:xfrm>
          <a:prstGeom prst="rect">
            <a:avLst/>
          </a:prstGeom>
          <a:noFill/>
          <a:ln/>
        </p:spPr>
        <p:txBody>
          <a:bodyPr wrap="square" lIns="0" tIns="0" rIns="0" bIns="0" rtlCol="0" anchor="ctr"/>
          <a:lstStyle/>
          <a:p>
            <a:pPr algn="r" indent="0" marL="0">
              <a:buNone/>
            </a:pPr>
            <a:r>
              <a:rPr lang="en-US" sz="850" dirty="0">
                <a:solidFill>
                  <a:srgbClr val="8796AD"/>
                </a:solidFill>
                <a:latin typeface="Calibri" pitchFamily="34" charset="0"/>
                <a:ea typeface="Calibri" pitchFamily="34" charset="-122"/>
                <a:cs typeface="Calibri" pitchFamily="34" charset="-120"/>
              </a:rPr>
              <a:t>5</a:t>
            </a:r>
            <a:endParaRPr lang="en-US" sz="850" dirty="0"/>
          </a:p>
        </p:txBody>
      </p:sp>
      <p:sp>
        <p:nvSpPr>
          <p:cNvPr id="10" name="Shape 7"/>
          <p:cNvSpPr/>
          <p:nvPr/>
        </p:nvSpPr>
        <p:spPr>
          <a:xfrm>
            <a:off x="685800" y="1618488"/>
            <a:ext cx="10835640" cy="704088"/>
          </a:xfrm>
          <a:prstGeom prst="roundRect">
            <a:avLst>
              <a:gd name="adj" fmla="val 15584"/>
            </a:avLst>
          </a:prstGeom>
          <a:solidFill>
            <a:srgbClr val="060A19"/>
          </a:solidFill>
          <a:ln w="7620">
            <a:solidFill>
              <a:srgbClr val="283449"/>
            </a:solidFill>
            <a:prstDash val="solid"/>
          </a:ln>
        </p:spPr>
      </p:sp>
      <p:sp>
        <p:nvSpPr>
          <p:cNvPr id="11" name="Text 8"/>
          <p:cNvSpPr txBox="1"/>
          <p:nvPr/>
        </p:nvSpPr>
        <p:spPr>
          <a:xfrm>
            <a:off x="905256" y="1783080"/>
            <a:ext cx="10396728" cy="356616"/>
          </a:xfrm>
          <a:prstGeom prst="rect">
            <a:avLst/>
          </a:prstGeom>
          <a:noFill/>
          <a:ln/>
        </p:spPr>
        <p:txBody>
          <a:bodyPr wrap="square" lIns="0" tIns="0" rIns="0" bIns="0" rtlCol="0" anchor="ctr"/>
          <a:lstStyle/>
          <a:p>
            <a:pPr indent="0" marL="0">
              <a:buNone/>
            </a:pPr>
            <a:r>
              <a:rPr lang="en-US" sz="2200" dirty="0">
                <a:solidFill>
                  <a:srgbClr val="7B6FF0"/>
                </a:solidFill>
                <a:latin typeface="Courier New" pitchFamily="34" charset="0"/>
                <a:ea typeface="Courier New" pitchFamily="34" charset="-122"/>
                <a:cs typeface="Courier New" pitchFamily="34" charset="-120"/>
              </a:rPr>
              <a:t>port</a:t>
            </a:r>
            <a:pPr indent="0" marL="0">
              <a:buNone/>
            </a:pPr>
            <a:r>
              <a:rPr lang="en-US" sz="2200" dirty="0">
                <a:solidFill>
                  <a:srgbClr val="F8FAFC"/>
                </a:solidFill>
                <a:latin typeface="Courier New" pitchFamily="34" charset="0"/>
                <a:ea typeface="Courier New" pitchFamily="34" charset="-122"/>
                <a:cs typeface="Courier New" pitchFamily="34" charset="-120"/>
              </a:rPr>
              <a:t> admin = </a:t>
            </a:r>
            <a:pPr indent="0" marL="0">
              <a:buNone/>
            </a:pPr>
            <a:r>
              <a:rPr lang="en-US" sz="2200" dirty="0">
                <a:solidFill>
                  <a:srgbClr val="7B6FF0"/>
                </a:solidFill>
                <a:latin typeface="Courier New" pitchFamily="34" charset="0"/>
                <a:ea typeface="Courier New" pitchFamily="34" charset="-122"/>
                <a:cs typeface="Courier New" pitchFamily="34" charset="-120"/>
              </a:rPr>
              <a:t>port</a:t>
            </a:r>
            <a:pPr indent="0" marL="0">
              <a:buNone/>
            </a:pPr>
            <a:r>
              <a:rPr lang="en-US" sz="2200" dirty="0">
                <a:solidFill>
                  <a:srgbClr val="F8FAFC"/>
                </a:solidFill>
                <a:latin typeface="Courier New" pitchFamily="34" charset="0"/>
                <a:ea typeface="Courier New" pitchFamily="34" charset="-122"/>
                <a:cs typeface="Courier New" pitchFamily="34" charset="-120"/>
              </a:rPr>
              <a:t>(</a:t>
            </a:r>
            <a:pPr indent="0" marL="0">
              <a:buNone/>
            </a:pPr>
            <a:r>
              <a:rPr lang="en-US" sz="2200" dirty="0">
                <a:solidFill>
                  <a:srgbClr val="10BCD8"/>
                </a:solidFill>
                <a:latin typeface="Courier New" pitchFamily="34" charset="0"/>
                <a:ea typeface="Courier New" pitchFamily="34" charset="-122"/>
                <a:cs typeface="Courier New" pitchFamily="34" charset="-120"/>
              </a:rPr>
              <a:t>22</a:t>
            </a:r>
            <a:pPr indent="0" marL="0">
              <a:buNone/>
            </a:pPr>
            <a:r>
              <a:rPr lang="en-US" sz="2200" dirty="0">
                <a:solidFill>
                  <a:srgbClr val="F8FAFC"/>
                </a:solidFill>
                <a:latin typeface="Courier New" pitchFamily="34" charset="0"/>
                <a:ea typeface="Courier New" pitchFamily="34" charset="-122"/>
                <a:cs typeface="Courier New" pitchFamily="34" charset="-120"/>
              </a:rPr>
              <a:t>);</a:t>
            </a:r>
            <a:endParaRPr lang="en-US" sz="2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85800" y="2578608"/>
          <a:ext cx="10835640" cy="914400"/>
        </p:xfrm>
        <a:graphic>
          <a:graphicData uri="http://schemas.openxmlformats.org/drawingml/2006/table">
            <a:tbl>
              <a:tblPr/>
              <a:tblGrid>
                <a:gridCol w="1828800"/>
                <a:gridCol w="5486400"/>
                <a:gridCol w="3520440"/>
              </a:tblGrid>
              <a:tr h="512064">
                <a:tc>
                  <a:txBody>
                    <a:bodyPr/>
                    <a:lstStyle/>
                    <a:p>
                      <a:pPr indent="0" marL="0">
                        <a:buNone/>
                      </a:pPr>
                      <a:r>
                        <a:rPr lang="en-US" sz="1800" b="1" dirty="0">
                          <a:solidFill>
                            <a:srgbClr val="10BCD8"/>
                          </a:solidFill>
                          <a:latin typeface="Calibri" pitchFamily="34" charset="0"/>
                          <a:ea typeface="Calibri" pitchFamily="34" charset="-122"/>
                          <a:cs typeface="Calibri" pitchFamily="34" charset="-120"/>
                        </a:rPr>
                        <a:t>Lexema</a:t>
                      </a:r>
                      <a:endParaRPr lang="en-US" sz="18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c>
                  <a:txBody>
                    <a:bodyPr/>
                    <a:lstStyle/>
                    <a:p>
                      <a:pPr indent="0" marL="0">
                        <a:buNone/>
                      </a:pPr>
                      <a:r>
                        <a:rPr lang="en-US" sz="1800" b="1" dirty="0">
                          <a:solidFill>
                            <a:srgbClr val="10BCD8"/>
                          </a:solidFill>
                          <a:latin typeface="Calibri" pitchFamily="34" charset="0"/>
                          <a:ea typeface="Calibri" pitchFamily="34" charset="-122"/>
                          <a:cs typeface="Calibri" pitchFamily="34" charset="-120"/>
                        </a:rPr>
                        <a:t>Categoria</a:t>
                      </a:r>
                      <a:endParaRPr lang="en-US" sz="18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c>
                  <a:txBody>
                    <a:bodyPr/>
                    <a:lstStyle/>
                    <a:p>
                      <a:pPr indent="0" marL="0">
                        <a:buNone/>
                      </a:pPr>
                      <a:r>
                        <a:rPr lang="en-US" sz="1800" b="1" dirty="0">
                          <a:solidFill>
                            <a:srgbClr val="10BCD8"/>
                          </a:solidFill>
                          <a:latin typeface="Calibri" pitchFamily="34" charset="0"/>
                          <a:ea typeface="Calibri" pitchFamily="34" charset="-122"/>
                          <a:cs typeface="Calibri" pitchFamily="34" charset="-120"/>
                        </a:rPr>
                        <a:t>Posição inicial</a:t>
                      </a:r>
                      <a:endParaRPr lang="en-US" sz="18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r>
              <a:tr h="512064">
                <a:tc>
                  <a:txBody>
                    <a:bodyPr/>
                    <a:lstStyle/>
                    <a:p>
                      <a:pPr indent="0" marL="0">
                        <a:buNone/>
                      </a:pPr>
                      <a:r>
                        <a:rPr lang="en-US" sz="1800" dirty="0">
                          <a:solidFill>
                            <a:srgbClr val="F8FAFC"/>
                          </a:solidFill>
                          <a:latin typeface="Calibri" pitchFamily="34" charset="0"/>
                          <a:ea typeface="Calibri" pitchFamily="34" charset="-122"/>
                          <a:cs typeface="Calibri" pitchFamily="34" charset="-120"/>
                        </a:rPr>
                        <a:t>port</a:t>
                      </a:r>
                      <a:endParaRPr lang="en-US" sz="18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1E293B"/>
                    </a:solidFill>
                  </a:tcPr>
                </a:tc>
                <a:tc>
                  <a:txBody>
                    <a:bodyPr/>
                    <a:lstStyle/>
                    <a:p>
                      <a:pPr indent="0" marL="0">
                        <a:buNone/>
                      </a:pPr>
                      <a:r>
                        <a:rPr lang="en-US" sz="1800" dirty="0">
                          <a:solidFill>
                            <a:srgbClr val="F8FAFC"/>
                          </a:solidFill>
                          <a:latin typeface="Calibri" pitchFamily="34" charset="0"/>
                          <a:ea typeface="Calibri" pitchFamily="34" charset="-122"/>
                          <a:cs typeface="Calibri" pitchFamily="34" charset="-120"/>
                        </a:rPr>
                        <a:t>palavra reservada / tipo</a:t>
                      </a:r>
                      <a:endParaRPr lang="en-US" sz="18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1E293B"/>
                    </a:solidFill>
                  </a:tcPr>
                </a:tc>
                <a:tc>
                  <a:txBody>
                    <a:bodyPr/>
                    <a:lstStyle/>
                    <a:p>
                      <a:pPr indent="0" marL="0">
                        <a:buNone/>
                      </a:pPr>
                      <a:r>
                        <a:rPr lang="en-US" sz="1800" dirty="0">
                          <a:solidFill>
                            <a:srgbClr val="F8FAFC"/>
                          </a:solidFill>
                          <a:latin typeface="Calibri" pitchFamily="34" charset="0"/>
                          <a:ea typeface="Calibri" pitchFamily="34" charset="-122"/>
                          <a:cs typeface="Calibri" pitchFamily="34" charset="-120"/>
                        </a:rPr>
                        <a:t>linha 1, coluna 1</a:t>
                      </a:r>
                      <a:endParaRPr lang="en-US" sz="18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1E293B"/>
                    </a:solidFill>
                  </a:tcPr>
                </a:tc>
              </a:tr>
              <a:tr h="512064">
                <a:tc>
                  <a:txBody>
                    <a:bodyPr/>
                    <a:lstStyle/>
                    <a:p>
                      <a:pPr indent="0" marL="0">
                        <a:buNone/>
                      </a:pPr>
                      <a:r>
                        <a:rPr lang="en-US" sz="1800" dirty="0">
                          <a:solidFill>
                            <a:srgbClr val="F8FAFC"/>
                          </a:solidFill>
                          <a:latin typeface="Calibri" pitchFamily="34" charset="0"/>
                          <a:ea typeface="Calibri" pitchFamily="34" charset="-122"/>
                          <a:cs typeface="Calibri" pitchFamily="34" charset="-120"/>
                        </a:rPr>
                        <a:t>admin</a:t>
                      </a:r>
                      <a:endParaRPr lang="en-US" sz="18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c>
                  <a:txBody>
                    <a:bodyPr/>
                    <a:lstStyle/>
                    <a:p>
                      <a:pPr indent="0" marL="0">
                        <a:buNone/>
                      </a:pPr>
                      <a:r>
                        <a:rPr lang="en-US" sz="1800" dirty="0">
                          <a:solidFill>
                            <a:srgbClr val="F8FAFC"/>
                          </a:solidFill>
                          <a:latin typeface="Calibri" pitchFamily="34" charset="0"/>
                          <a:ea typeface="Calibri" pitchFamily="34" charset="-122"/>
                          <a:cs typeface="Calibri" pitchFamily="34" charset="-120"/>
                        </a:rPr>
                        <a:t>NAME</a:t>
                      </a:r>
                      <a:endParaRPr lang="en-US" sz="18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c>
                  <a:txBody>
                    <a:bodyPr/>
                    <a:lstStyle/>
                    <a:p>
                      <a:pPr indent="0" marL="0">
                        <a:buNone/>
                      </a:pPr>
                      <a:r>
                        <a:rPr lang="en-US" sz="1800" dirty="0">
                          <a:solidFill>
                            <a:srgbClr val="F8FAFC"/>
                          </a:solidFill>
                          <a:latin typeface="Calibri" pitchFamily="34" charset="0"/>
                          <a:ea typeface="Calibri" pitchFamily="34" charset="-122"/>
                          <a:cs typeface="Calibri" pitchFamily="34" charset="-120"/>
                        </a:rPr>
                        <a:t>linha 1, coluna 6</a:t>
                      </a:r>
                      <a:endParaRPr lang="en-US" sz="18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r>
              <a:tr h="512064">
                <a:tc>
                  <a:txBody>
                    <a:bodyPr/>
                    <a:lstStyle/>
                    <a:p>
                      <a:pPr indent="0" marL="0">
                        <a:buNone/>
                      </a:pPr>
                      <a:r>
                        <a:rPr lang="en-US" sz="1800" dirty="0">
                          <a:solidFill>
                            <a:srgbClr val="F8FAFC"/>
                          </a:solidFill>
                          <a:latin typeface="Calibri" pitchFamily="34" charset="0"/>
                          <a:ea typeface="Calibri" pitchFamily="34" charset="-122"/>
                          <a:cs typeface="Calibri" pitchFamily="34" charset="-120"/>
                        </a:rPr>
                        <a:t>22</a:t>
                      </a:r>
                      <a:endParaRPr lang="en-US" sz="18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1E293B"/>
                    </a:solidFill>
                  </a:tcPr>
                </a:tc>
                <a:tc>
                  <a:txBody>
                    <a:bodyPr/>
                    <a:lstStyle/>
                    <a:p>
                      <a:pPr indent="0" marL="0">
                        <a:buNone/>
                      </a:pPr>
                      <a:r>
                        <a:rPr lang="en-US" sz="1800" dirty="0">
                          <a:solidFill>
                            <a:srgbClr val="F8FAFC"/>
                          </a:solidFill>
                          <a:latin typeface="Calibri" pitchFamily="34" charset="0"/>
                          <a:ea typeface="Calibri" pitchFamily="34" charset="-122"/>
                          <a:cs typeface="Calibri" pitchFamily="34" charset="-120"/>
                        </a:rPr>
                        <a:t>INT</a:t>
                      </a:r>
                      <a:endParaRPr lang="en-US" sz="18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1E293B"/>
                    </a:solidFill>
                  </a:tcPr>
                </a:tc>
                <a:tc>
                  <a:txBody>
                    <a:bodyPr/>
                    <a:lstStyle/>
                    <a:p>
                      <a:pPr indent="0" marL="0">
                        <a:buNone/>
                      </a:pPr>
                      <a:r>
                        <a:rPr lang="en-US" sz="1800" dirty="0">
                          <a:solidFill>
                            <a:srgbClr val="F8FAFC"/>
                          </a:solidFill>
                          <a:latin typeface="Calibri" pitchFamily="34" charset="0"/>
                          <a:ea typeface="Calibri" pitchFamily="34" charset="-122"/>
                          <a:cs typeface="Calibri" pitchFamily="34" charset="-120"/>
                        </a:rPr>
                        <a:t>linha 1, coluna 19</a:t>
                      </a:r>
                      <a:endParaRPr lang="en-US" sz="18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1E293B"/>
                    </a:solidFill>
                  </a:tcPr>
                </a:tc>
              </a:tr>
            </a:tbl>
          </a:graphicData>
        </a:graphic>
      </p:graphicFrame>
      <p:sp>
        <p:nvSpPr>
          <p:cNvPr id="13" name="Shape 9"/>
          <p:cNvSpPr/>
          <p:nvPr/>
        </p:nvSpPr>
        <p:spPr>
          <a:xfrm>
            <a:off x="685800" y="4892040"/>
            <a:ext cx="10835640" cy="1097280"/>
          </a:xfrm>
          <a:prstGeom prst="roundRect">
            <a:avLst>
              <a:gd name="adj" fmla="val 10000"/>
            </a:avLst>
          </a:prstGeom>
          <a:solidFill>
            <a:srgbClr val="060A19"/>
          </a:solidFill>
          <a:ln w="7620">
            <a:solidFill>
              <a:srgbClr val="283449"/>
            </a:solidFill>
            <a:prstDash val="solid"/>
          </a:ln>
        </p:spPr>
      </p:sp>
      <p:sp>
        <p:nvSpPr>
          <p:cNvPr id="14" name="Text 10"/>
          <p:cNvSpPr txBox="1"/>
          <p:nvPr/>
        </p:nvSpPr>
        <p:spPr>
          <a:xfrm>
            <a:off x="905256" y="5056632"/>
            <a:ext cx="10396728" cy="249936"/>
          </a:xfrm>
          <a:prstGeom prst="rect">
            <a:avLst/>
          </a:prstGeom>
          <a:noFill/>
          <a:ln/>
        </p:spPr>
        <p:txBody>
          <a:bodyPr wrap="square" lIns="0" tIns="0" rIns="0" bIns="0" rtlCol="0" anchor="ctr"/>
          <a:lstStyle/>
          <a:p>
            <a:pPr indent="0" marL="0">
              <a:buNone/>
            </a:pPr>
            <a:r>
              <a:rPr lang="en-US" sz="1650" dirty="0">
                <a:solidFill>
                  <a:srgbClr val="F8FAFC"/>
                </a:solidFill>
                <a:latin typeface="Courier New" pitchFamily="34" charset="0"/>
                <a:ea typeface="Courier New" pitchFamily="34" charset="-122"/>
                <a:cs typeface="Courier New" pitchFamily="34" charset="-120"/>
              </a:rPr>
              <a:t>declaration = type, IDENTIFIER, </a:t>
            </a:r>
            <a:pPr indent="0" marL="0">
              <a:buNone/>
            </a:pPr>
            <a:r>
              <a:rPr lang="en-US" sz="1650" dirty="0">
                <a:solidFill>
                  <a:srgbClr val="4ADE80"/>
                </a:solidFill>
                <a:latin typeface="Courier New" pitchFamily="34" charset="0"/>
                <a:ea typeface="Courier New" pitchFamily="34" charset="-122"/>
                <a:cs typeface="Courier New" pitchFamily="34" charset="-120"/>
              </a:rPr>
              <a:t>"="</a:t>
            </a:r>
            <a:pPr indent="0" marL="0">
              <a:buNone/>
            </a:pPr>
            <a:r>
              <a:rPr lang="en-US" sz="1650" dirty="0">
                <a:solidFill>
                  <a:srgbClr val="F8FAFC"/>
                </a:solidFill>
                <a:latin typeface="Courier New" pitchFamily="34" charset="0"/>
                <a:ea typeface="Courier New" pitchFamily="34" charset="-122"/>
                <a:cs typeface="Courier New" pitchFamily="34" charset="-120"/>
              </a:rPr>
              <a:t>, expression, </a:t>
            </a:r>
            <a:pPr indent="0" marL="0">
              <a:buNone/>
            </a:pPr>
            <a:r>
              <a:rPr lang="en-US" sz="1650" dirty="0">
                <a:solidFill>
                  <a:srgbClr val="4ADE80"/>
                </a:solidFill>
                <a:latin typeface="Courier New" pitchFamily="34" charset="0"/>
                <a:ea typeface="Courier New" pitchFamily="34" charset="-122"/>
                <a:cs typeface="Courier New" pitchFamily="34" charset="-120"/>
              </a:rPr>
              <a:t>";"</a:t>
            </a:r>
            <a:pPr indent="0" marL="0">
              <a:buNone/>
            </a:pPr>
            <a:r>
              <a:rPr lang="en-US" sz="1650" dirty="0">
                <a:solidFill>
                  <a:srgbClr val="F8FAFC"/>
                </a:solidFill>
                <a:latin typeface="Courier New" pitchFamily="34" charset="0"/>
                <a:ea typeface="Courier New" pitchFamily="34" charset="-122"/>
                <a:cs typeface="Courier New" pitchFamily="34" charset="-120"/>
              </a:rPr>
              <a:t> ;</a:t>
            </a:r>
            <a:endParaRPr lang="en-US" sz="1650" dirty="0"/>
          </a:p>
        </p:txBody>
      </p:sp>
      <p:sp>
        <p:nvSpPr>
          <p:cNvPr id="15" name="Text 11"/>
          <p:cNvSpPr txBox="1"/>
          <p:nvPr/>
        </p:nvSpPr>
        <p:spPr>
          <a:xfrm>
            <a:off x="905256" y="5306568"/>
            <a:ext cx="10396728" cy="249936"/>
          </a:xfrm>
          <a:prstGeom prst="rect">
            <a:avLst/>
          </a:prstGeom>
          <a:noFill/>
          <a:ln/>
        </p:spPr>
        <p:txBody>
          <a:bodyPr wrap="square" lIns="0" tIns="0" rIns="0" bIns="0" rtlCol="0" anchor="ctr"/>
          <a:lstStyle/>
          <a:p>
            <a:pPr indent="0" marL="0">
              <a:buNone/>
            </a:pPr>
            <a:r>
              <a:rPr lang="en-US" sz="1650" dirty="0">
                <a:solidFill>
                  <a:srgbClr val="7B6FF0"/>
                </a:solidFill>
                <a:latin typeface="Courier New" pitchFamily="34" charset="0"/>
                <a:ea typeface="Courier New" pitchFamily="34" charset="-122"/>
                <a:cs typeface="Courier New" pitchFamily="34" charset="-120"/>
              </a:rPr>
              <a:t>play</a:t>
            </a:r>
            <a:pPr indent="0" marL="0">
              <a:buNone/>
            </a:pPr>
            <a:r>
              <a:rPr lang="en-US" sz="1650" dirty="0">
                <a:solidFill>
                  <a:srgbClr val="F8FAFC"/>
                </a:solidFill>
                <a:latin typeface="Courier New" pitchFamily="34" charset="0"/>
                <a:ea typeface="Courier New" pitchFamily="34" charset="-122"/>
                <a:cs typeface="Courier New" pitchFamily="34" charset="-120"/>
              </a:rPr>
              <a:t> = </a:t>
            </a:r>
            <a:pPr indent="0" marL="0">
              <a:buNone/>
            </a:pPr>
            <a:r>
              <a:rPr lang="en-US" sz="1650" dirty="0">
                <a:solidFill>
                  <a:srgbClr val="4ADE80"/>
                </a:solidFill>
                <a:latin typeface="Courier New" pitchFamily="34" charset="0"/>
                <a:ea typeface="Courier New" pitchFamily="34" charset="-122"/>
                <a:cs typeface="Courier New" pitchFamily="34" charset="-120"/>
              </a:rPr>
              <a:t>"play"</a:t>
            </a:r>
            <a:pPr indent="0" marL="0">
              <a:buNone/>
            </a:pPr>
            <a:r>
              <a:rPr lang="en-US" sz="1650" dirty="0">
                <a:solidFill>
                  <a:srgbClr val="F8FAFC"/>
                </a:solidFill>
                <a:latin typeface="Courier New" pitchFamily="34" charset="0"/>
                <a:ea typeface="Courier New" pitchFamily="34" charset="-122"/>
                <a:cs typeface="Courier New" pitchFamily="34" charset="-120"/>
              </a:rPr>
              <a:t>, STRING, </a:t>
            </a:r>
            <a:pPr indent="0" marL="0">
              <a:buNone/>
            </a:pPr>
            <a:r>
              <a:rPr lang="en-US" sz="1650" dirty="0">
                <a:solidFill>
                  <a:srgbClr val="4ADE80"/>
                </a:solidFill>
                <a:latin typeface="Courier New" pitchFamily="34" charset="0"/>
                <a:ea typeface="Courier New" pitchFamily="34" charset="-122"/>
                <a:cs typeface="Courier New" pitchFamily="34" charset="-120"/>
              </a:rPr>
              <a:t>"targets"</a:t>
            </a:r>
            <a:pPr indent="0" marL="0">
              <a:buNone/>
            </a:pPr>
            <a:r>
              <a:rPr lang="en-US" sz="1650" dirty="0">
                <a:solidFill>
                  <a:srgbClr val="F8FAFC"/>
                </a:solidFill>
                <a:latin typeface="Courier New" pitchFamily="34" charset="0"/>
                <a:ea typeface="Courier New" pitchFamily="34" charset="-122"/>
                <a:cs typeface="Courier New" pitchFamily="34" charset="-120"/>
              </a:rPr>
              <a:t>, IDENTIFIER, block ;</a:t>
            </a:r>
            <a:endParaRPr lang="en-US" sz="1650" dirty="0"/>
          </a:p>
        </p:txBody>
      </p:sp>
      <p:sp>
        <p:nvSpPr>
          <p:cNvPr id="16" name="Text 12"/>
          <p:cNvSpPr txBox="1"/>
          <p:nvPr/>
        </p:nvSpPr>
        <p:spPr>
          <a:xfrm>
            <a:off x="905256" y="5556504"/>
            <a:ext cx="10396728" cy="249936"/>
          </a:xfrm>
          <a:prstGeom prst="rect">
            <a:avLst/>
          </a:prstGeom>
          <a:noFill/>
          <a:ln/>
        </p:spPr>
        <p:txBody>
          <a:bodyPr wrap="square" lIns="0" tIns="0" rIns="0" bIns="0" rtlCol="0" anchor="ctr"/>
          <a:lstStyle/>
          <a:p>
            <a:pPr indent="0" marL="0">
              <a:buNone/>
            </a:pPr>
            <a:r>
              <a:rPr lang="en-US" sz="1650" dirty="0">
                <a:solidFill>
                  <a:srgbClr val="F8FAFC"/>
                </a:solidFill>
                <a:latin typeface="Courier New" pitchFamily="34" charset="0"/>
                <a:ea typeface="Courier New" pitchFamily="34" charset="-122"/>
                <a:cs typeface="Courier New" pitchFamily="34" charset="-120"/>
              </a:rPr>
              <a:t>block = </a:t>
            </a:r>
            <a:pPr indent="0" marL="0">
              <a:buNone/>
            </a:pPr>
            <a:r>
              <a:rPr lang="en-US" sz="1650" dirty="0">
                <a:solidFill>
                  <a:srgbClr val="4ADE80"/>
                </a:solidFill>
                <a:latin typeface="Courier New" pitchFamily="34" charset="0"/>
                <a:ea typeface="Courier New" pitchFamily="34" charset="-122"/>
                <a:cs typeface="Courier New" pitchFamily="34" charset="-120"/>
              </a:rPr>
              <a:t>"{"</a:t>
            </a:r>
            <a:pPr indent="0" marL="0">
              <a:buNone/>
            </a:pPr>
            <a:r>
              <a:rPr lang="en-US" sz="1650" dirty="0">
                <a:solidFill>
                  <a:srgbClr val="F8FAFC"/>
                </a:solidFill>
                <a:latin typeface="Courier New" pitchFamily="34" charset="0"/>
                <a:ea typeface="Courier New" pitchFamily="34" charset="-122"/>
                <a:cs typeface="Courier New" pitchFamily="34" charset="-120"/>
              </a:rPr>
              <a:t>, { statement }, </a:t>
            </a:r>
            <a:pPr indent="0" marL="0">
              <a:buNone/>
            </a:pPr>
            <a:r>
              <a:rPr lang="en-US" sz="1650" dirty="0">
                <a:solidFill>
                  <a:srgbClr val="4ADE80"/>
                </a:solidFill>
                <a:latin typeface="Courier New" pitchFamily="34" charset="0"/>
                <a:ea typeface="Courier New" pitchFamily="34" charset="-122"/>
                <a:cs typeface="Courier New" pitchFamily="34" charset="-120"/>
              </a:rPr>
              <a:t>"}"</a:t>
            </a:r>
            <a:pPr indent="0" marL="0">
              <a:buNone/>
            </a:pPr>
            <a:r>
              <a:rPr lang="en-US" sz="1650" dirty="0">
                <a:solidFill>
                  <a:srgbClr val="F8FAFC"/>
                </a:solidFill>
                <a:latin typeface="Courier New" pitchFamily="34" charset="0"/>
                <a:ea typeface="Courier New" pitchFamily="34" charset="-122"/>
                <a:cs typeface="Courier New" pitchFamily="34" charset="-120"/>
              </a:rPr>
              <a:t> ;</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324"/>
        </a:solidFill>
      </p:bgPr>
    </p:bg>
    <p:spTree>
      <p:nvGrpSpPr>
        <p:cNvPr id="1" name=""/>
        <p:cNvGrpSpPr/>
        <p:nvPr/>
      </p:nvGrpSpPr>
      <p:grpSpPr>
        <a:xfrm>
          <a:off x="0" y="0"/>
          <a:ext cx="0" cy="0"/>
          <a:chOff x="0" y="0"/>
          <a:chExt cx="0" cy="0"/>
        </a:xfrm>
      </p:grpSpPr>
      <p:sp>
        <p:nvSpPr>
          <p:cNvPr id="2" name="Shape 0"/>
          <p:cNvSpPr/>
          <p:nvPr/>
        </p:nvSpPr>
        <p:spPr>
          <a:xfrm>
            <a:off x="-1024128" y="-1005840"/>
            <a:ext cx="3456432" cy="3364992"/>
          </a:xfrm>
          <a:prstGeom prst="ellipse">
            <a:avLst/>
          </a:prstGeom>
          <a:solidFill>
            <a:srgbClr val="122B3F"/>
          </a:solidFill>
          <a:ln w="12700">
            <a:solidFill>
              <a:srgbClr val="333333">
                <a:alpha val="0"/>
              </a:srgbClr>
            </a:solidFill>
            <a:prstDash val="solid"/>
          </a:ln>
        </p:spPr>
      </p:sp>
      <p:sp>
        <p:nvSpPr>
          <p:cNvPr id="3" name="Shape 1"/>
          <p:cNvSpPr/>
          <p:nvPr/>
        </p:nvSpPr>
        <p:spPr>
          <a:xfrm>
            <a:off x="8686800" y="4709160"/>
            <a:ext cx="4663440" cy="3310128"/>
          </a:xfrm>
          <a:prstGeom prst="ellipse">
            <a:avLst/>
          </a:prstGeom>
          <a:solidFill>
            <a:srgbClr val="1D1D40"/>
          </a:solidFill>
          <a:ln w="12700">
            <a:solidFill>
              <a:srgbClr val="333333">
                <a:alpha val="0"/>
              </a:srgbClr>
            </a:solidFill>
            <a:prstDash val="solid"/>
          </a:ln>
        </p:spPr>
      </p:sp>
      <p:sp>
        <p:nvSpPr>
          <p:cNvPr id="4" name="Text 2"/>
          <p:cNvSpPr txBox="1"/>
          <p:nvPr/>
        </p:nvSpPr>
        <p:spPr>
          <a:xfrm>
            <a:off x="594360" y="292608"/>
            <a:ext cx="10469880" cy="530352"/>
          </a:xfrm>
          <a:prstGeom prst="rect">
            <a:avLst/>
          </a:prstGeom>
          <a:noFill/>
          <a:ln/>
        </p:spPr>
        <p:txBody>
          <a:bodyPr wrap="square" lIns="0" tIns="0" rIns="0" bIns="0" rtlCol="0" anchor="ctr"/>
          <a:lstStyle/>
          <a:p>
            <a:pPr algn="ctr" indent="0" marL="0">
              <a:buNone/>
            </a:pPr>
            <a:r>
              <a:rPr lang="en-US" sz="2900" b="1" dirty="0">
                <a:solidFill>
                  <a:srgbClr val="F8FAFC"/>
                </a:solidFill>
                <a:latin typeface="Arial" pitchFamily="34" charset="0"/>
                <a:ea typeface="Arial" pitchFamily="34" charset="-122"/>
                <a:cs typeface="Arial" pitchFamily="34" charset="-120"/>
              </a:rPr>
              <a:t>AST e </a:t>
            </a:r>
            <a:pPr algn="ctr" indent="0" marL="0">
              <a:buNone/>
            </a:pPr>
            <a:r>
              <a:rPr lang="en-US" sz="2900" b="1" dirty="0">
                <a:solidFill>
                  <a:srgbClr val="10BCD8"/>
                </a:solidFill>
                <a:latin typeface="Arial" pitchFamily="34" charset="0"/>
                <a:ea typeface="Arial" pitchFamily="34" charset="-122"/>
                <a:cs typeface="Arial" pitchFamily="34" charset="-120"/>
              </a:rPr>
              <a:t>precedência</a:t>
            </a:r>
            <a:endParaRPr lang="en-US" sz="2900" dirty="0"/>
          </a:p>
        </p:txBody>
      </p:sp>
      <p:sp>
        <p:nvSpPr>
          <p:cNvPr id="5" name="Shape 3"/>
          <p:cNvSpPr/>
          <p:nvPr/>
        </p:nvSpPr>
        <p:spPr>
          <a:xfrm>
            <a:off x="10991088" y="310896"/>
            <a:ext cx="621792" cy="621792"/>
          </a:xfrm>
          <a:prstGeom prst="ellipse">
            <a:avLst/>
          </a:prstGeom>
          <a:solidFill>
            <a:srgbClr val="7B6FF0"/>
          </a:solidFill>
          <a:ln w="12700">
            <a:solidFill>
              <a:srgbClr val="7B6FF0">
                <a:alpha val="0"/>
              </a:srgbClr>
            </a:solidFill>
            <a:prstDash val="solid"/>
          </a:ln>
        </p:spPr>
      </p:sp>
      <p:pic>
        <p:nvPicPr>
          <p:cNvPr id="6" name="Image 0" descr="preencoded.png">    </p:cNvPr>
          <p:cNvPicPr>
            <a:picLocks noChangeAspect="1"/>
          </p:cNvPicPr>
          <p:nvPr/>
        </p:nvPicPr>
        <p:blipFill>
          <a:blip r:embed="rId1"/>
          <a:stretch>
            <a:fillRect/>
          </a:stretch>
        </p:blipFill>
        <p:spPr>
          <a:xfrm>
            <a:off x="11134100" y="453908"/>
            <a:ext cx="335768" cy="335768"/>
          </a:xfrm>
          <a:prstGeom prst="rect">
            <a:avLst/>
          </a:prstGeom>
        </p:spPr>
      </p:pic>
      <p:sp>
        <p:nvSpPr>
          <p:cNvPr id="7" name="Text 4"/>
          <p:cNvSpPr txBox="1"/>
          <p:nvPr/>
        </p:nvSpPr>
        <p:spPr>
          <a:xfrm>
            <a:off x="685800" y="987552"/>
            <a:ext cx="10789920" cy="384048"/>
          </a:xfrm>
          <a:prstGeom prst="rect">
            <a:avLst/>
          </a:prstGeom>
          <a:noFill/>
          <a:ln/>
        </p:spPr>
        <p:txBody>
          <a:bodyPr wrap="square" lIns="0" tIns="0" rIns="0" bIns="0" rtlCol="0" anchor="ctr"/>
          <a:lstStyle/>
          <a:p>
            <a:pPr algn="ctr" indent="0" marL="0">
              <a:buNone/>
            </a:pPr>
            <a:r>
              <a:rPr lang="en-US" sz="1800" dirty="0">
                <a:solidFill>
                  <a:srgbClr val="CBD5E1"/>
                </a:solidFill>
                <a:latin typeface="Calibri" pitchFamily="34" charset="0"/>
                <a:ea typeface="Calibri" pitchFamily="34" charset="-122"/>
                <a:cs typeface="Calibri" pitchFamily="34" charset="-120"/>
              </a:rPr>
              <a:t>A árvore representa a ordem das operações antes da avaliação</a:t>
            </a:r>
            <a:endParaRPr lang="en-US" sz="1800" dirty="0"/>
          </a:p>
        </p:txBody>
      </p:sp>
      <p:sp>
        <p:nvSpPr>
          <p:cNvPr id="8" name="Text 5"/>
          <p:cNvSpPr txBox="1"/>
          <p:nvPr/>
        </p:nvSpPr>
        <p:spPr>
          <a:xfrm>
            <a:off x="502920" y="6556248"/>
            <a:ext cx="7772400" cy="164592"/>
          </a:xfrm>
          <a:prstGeom prst="rect">
            <a:avLst/>
          </a:prstGeom>
          <a:noFill/>
          <a:ln/>
        </p:spPr>
        <p:txBody>
          <a:bodyPr wrap="square" lIns="0" tIns="0" rIns="0" bIns="0" rtlCol="0" anchor="ctr"/>
          <a:lstStyle/>
          <a:p>
            <a:pPr indent="0" marL="0">
              <a:buNone/>
            </a:pPr>
            <a:r>
              <a:rPr lang="en-US" sz="850" dirty="0">
                <a:solidFill>
                  <a:srgbClr val="8796AD"/>
                </a:solidFill>
                <a:latin typeface="Calibri" pitchFamily="34" charset="0"/>
                <a:ea typeface="Calibri" pitchFamily="34" charset="-122"/>
                <a:cs typeface="Calibri" pitchFamily="34" charset="-120"/>
              </a:rPr>
              <a:t>NetSec  ·  Redes + Segurança + Automação</a:t>
            </a:r>
            <a:endParaRPr lang="en-US" sz="850" dirty="0"/>
          </a:p>
        </p:txBody>
      </p:sp>
      <p:sp>
        <p:nvSpPr>
          <p:cNvPr id="9" name="Text 6"/>
          <p:cNvSpPr txBox="1"/>
          <p:nvPr/>
        </p:nvSpPr>
        <p:spPr>
          <a:xfrm>
            <a:off x="11292840" y="6547104"/>
            <a:ext cx="320040" cy="182880"/>
          </a:xfrm>
          <a:prstGeom prst="rect">
            <a:avLst/>
          </a:prstGeom>
          <a:noFill/>
          <a:ln/>
        </p:spPr>
        <p:txBody>
          <a:bodyPr wrap="square" lIns="0" tIns="0" rIns="0" bIns="0" rtlCol="0" anchor="ctr"/>
          <a:lstStyle/>
          <a:p>
            <a:pPr algn="r" indent="0" marL="0">
              <a:buNone/>
            </a:pPr>
            <a:r>
              <a:rPr lang="en-US" sz="850" dirty="0">
                <a:solidFill>
                  <a:srgbClr val="8796AD"/>
                </a:solidFill>
                <a:latin typeface="Calibri" pitchFamily="34" charset="0"/>
                <a:ea typeface="Calibri" pitchFamily="34" charset="-122"/>
                <a:cs typeface="Calibri" pitchFamily="34" charset="-120"/>
              </a:rPr>
              <a:t>6</a:t>
            </a:r>
            <a:endParaRPr lang="en-US" sz="850" dirty="0"/>
          </a:p>
        </p:txBody>
      </p:sp>
      <p:sp>
        <p:nvSpPr>
          <p:cNvPr id="10" name="Shape 7"/>
          <p:cNvSpPr/>
          <p:nvPr/>
        </p:nvSpPr>
        <p:spPr>
          <a:xfrm>
            <a:off x="685800" y="1600200"/>
            <a:ext cx="10835640" cy="713232"/>
          </a:xfrm>
          <a:prstGeom prst="roundRect">
            <a:avLst>
              <a:gd name="adj" fmla="val 15385"/>
            </a:avLst>
          </a:prstGeom>
          <a:solidFill>
            <a:srgbClr val="060A19"/>
          </a:solidFill>
          <a:ln w="7620">
            <a:solidFill>
              <a:srgbClr val="283449"/>
            </a:solidFill>
            <a:prstDash val="solid"/>
          </a:ln>
        </p:spPr>
      </p:sp>
      <p:sp>
        <p:nvSpPr>
          <p:cNvPr id="11" name="Text 8"/>
          <p:cNvSpPr txBox="1"/>
          <p:nvPr/>
        </p:nvSpPr>
        <p:spPr>
          <a:xfrm>
            <a:off x="905256" y="1764792"/>
            <a:ext cx="10396728" cy="365760"/>
          </a:xfrm>
          <a:prstGeom prst="rect">
            <a:avLst/>
          </a:prstGeom>
          <a:noFill/>
          <a:ln/>
        </p:spPr>
        <p:txBody>
          <a:bodyPr wrap="square" lIns="0" tIns="0" rIns="0" bIns="0" rtlCol="0" anchor="ctr"/>
          <a:lstStyle/>
          <a:p>
            <a:pPr indent="0" marL="0">
              <a:buNone/>
            </a:pPr>
            <a:r>
              <a:rPr lang="en-US" sz="2200" dirty="0">
                <a:solidFill>
                  <a:srgbClr val="7B6FF0"/>
                </a:solidFill>
                <a:latin typeface="Courier New" pitchFamily="34" charset="0"/>
                <a:ea typeface="Courier New" pitchFamily="34" charset="-122"/>
                <a:cs typeface="Courier New" pitchFamily="34" charset="-120"/>
              </a:rPr>
              <a:t>int</a:t>
            </a:r>
            <a:pPr indent="0" marL="0">
              <a:buNone/>
            </a:pPr>
            <a:r>
              <a:rPr lang="en-US" sz="2200" dirty="0">
                <a:solidFill>
                  <a:srgbClr val="F8FAFC"/>
                </a:solidFill>
                <a:latin typeface="Courier New" pitchFamily="34" charset="0"/>
                <a:ea typeface="Courier New" pitchFamily="34" charset="-122"/>
                <a:cs typeface="Courier New" pitchFamily="34" charset="-120"/>
              </a:rPr>
              <a:t> passes = </a:t>
            </a:r>
            <a:pPr indent="0" marL="0">
              <a:buNone/>
            </a:pPr>
            <a:r>
              <a:rPr lang="en-US" sz="2200" dirty="0">
                <a:solidFill>
                  <a:srgbClr val="10BCD8"/>
                </a:solidFill>
                <a:latin typeface="Courier New" pitchFamily="34" charset="0"/>
                <a:ea typeface="Courier New" pitchFamily="34" charset="-122"/>
                <a:cs typeface="Courier New" pitchFamily="34" charset="-120"/>
              </a:rPr>
              <a:t>1</a:t>
            </a:r>
            <a:pPr indent="0" marL="0">
              <a:buNone/>
            </a:pPr>
            <a:r>
              <a:rPr lang="en-US" sz="2200" dirty="0">
                <a:solidFill>
                  <a:srgbClr val="F8FAFC"/>
                </a:solidFill>
                <a:latin typeface="Courier New" pitchFamily="34" charset="0"/>
                <a:ea typeface="Courier New" pitchFamily="34" charset="-122"/>
                <a:cs typeface="Courier New" pitchFamily="34" charset="-120"/>
              </a:rPr>
              <a:t> + </a:t>
            </a:r>
            <a:pPr indent="0" marL="0">
              <a:buNone/>
            </a:pPr>
            <a:r>
              <a:rPr lang="en-US" sz="2200" dirty="0">
                <a:solidFill>
                  <a:srgbClr val="10BCD8"/>
                </a:solidFill>
                <a:latin typeface="Courier New" pitchFamily="34" charset="0"/>
                <a:ea typeface="Courier New" pitchFamily="34" charset="-122"/>
                <a:cs typeface="Courier New" pitchFamily="34" charset="-120"/>
              </a:rPr>
              <a:t>2</a:t>
            </a:r>
            <a:pPr indent="0" marL="0">
              <a:buNone/>
            </a:pPr>
            <a:r>
              <a:rPr lang="en-US" sz="2200" dirty="0">
                <a:solidFill>
                  <a:srgbClr val="F8FAFC"/>
                </a:solidFill>
                <a:latin typeface="Courier New" pitchFamily="34" charset="0"/>
                <a:ea typeface="Courier New" pitchFamily="34" charset="-122"/>
                <a:cs typeface="Courier New" pitchFamily="34" charset="-120"/>
              </a:rPr>
              <a:t> * </a:t>
            </a:r>
            <a:pPr indent="0" marL="0">
              <a:buNone/>
            </a:pPr>
            <a:r>
              <a:rPr lang="en-US" sz="2200" dirty="0">
                <a:solidFill>
                  <a:srgbClr val="10BCD8"/>
                </a:solidFill>
                <a:latin typeface="Courier New" pitchFamily="34" charset="0"/>
                <a:ea typeface="Courier New" pitchFamily="34" charset="-122"/>
                <a:cs typeface="Courier New" pitchFamily="34" charset="-120"/>
              </a:rPr>
              <a:t>1</a:t>
            </a:r>
            <a:pPr indent="0" marL="0">
              <a:buNone/>
            </a:pPr>
            <a:r>
              <a:rPr lang="en-US" sz="2200" dirty="0">
                <a:solidFill>
                  <a:srgbClr val="F8FAFC"/>
                </a:solidFill>
                <a:latin typeface="Courier New" pitchFamily="34" charset="0"/>
                <a:ea typeface="Courier New" pitchFamily="34" charset="-122"/>
                <a:cs typeface="Courier New" pitchFamily="34" charset="-120"/>
              </a:rPr>
              <a:t>;</a:t>
            </a:r>
            <a:endParaRPr lang="en-US" sz="2200" dirty="0"/>
          </a:p>
        </p:txBody>
      </p:sp>
      <p:sp>
        <p:nvSpPr>
          <p:cNvPr id="12" name="Shape 9"/>
          <p:cNvSpPr/>
          <p:nvPr/>
        </p:nvSpPr>
        <p:spPr>
          <a:xfrm>
            <a:off x="3566160" y="3429000"/>
            <a:ext cx="-1005840" cy="777240"/>
          </a:xfrm>
          <a:prstGeom prst="line">
            <a:avLst/>
          </a:prstGeom>
          <a:noFill/>
          <a:ln w="27940">
            <a:solidFill>
              <a:srgbClr val="7B6FF0"/>
            </a:solidFill>
            <a:prstDash val="solid"/>
            <a:headEnd type="none"/>
            <a:tailEnd type="triangle"/>
          </a:ln>
        </p:spPr>
      </p:sp>
      <p:sp>
        <p:nvSpPr>
          <p:cNvPr id="13" name="Shape 10"/>
          <p:cNvSpPr/>
          <p:nvPr/>
        </p:nvSpPr>
        <p:spPr>
          <a:xfrm>
            <a:off x="4297680" y="3429000"/>
            <a:ext cx="1005840" cy="777240"/>
          </a:xfrm>
          <a:prstGeom prst="line">
            <a:avLst/>
          </a:prstGeom>
          <a:noFill/>
          <a:ln w="27940">
            <a:solidFill>
              <a:srgbClr val="7B6FF0"/>
            </a:solidFill>
            <a:prstDash val="solid"/>
            <a:headEnd type="none"/>
            <a:tailEnd type="triangle"/>
          </a:ln>
        </p:spPr>
      </p:sp>
      <p:sp>
        <p:nvSpPr>
          <p:cNvPr id="14" name="Shape 11"/>
          <p:cNvSpPr/>
          <p:nvPr/>
        </p:nvSpPr>
        <p:spPr>
          <a:xfrm>
            <a:off x="5394960" y="4754880"/>
            <a:ext cx="-822960" cy="685800"/>
          </a:xfrm>
          <a:prstGeom prst="line">
            <a:avLst/>
          </a:prstGeom>
          <a:noFill/>
          <a:ln w="27940">
            <a:solidFill>
              <a:srgbClr val="7B6FF0"/>
            </a:solidFill>
            <a:prstDash val="solid"/>
            <a:headEnd type="none"/>
            <a:tailEnd type="triangle"/>
          </a:ln>
        </p:spPr>
      </p:sp>
      <p:sp>
        <p:nvSpPr>
          <p:cNvPr id="15" name="Shape 12"/>
          <p:cNvSpPr/>
          <p:nvPr/>
        </p:nvSpPr>
        <p:spPr>
          <a:xfrm>
            <a:off x="5852160" y="4754880"/>
            <a:ext cx="594360" cy="685800"/>
          </a:xfrm>
          <a:prstGeom prst="line">
            <a:avLst/>
          </a:prstGeom>
          <a:noFill/>
          <a:ln w="27940">
            <a:solidFill>
              <a:srgbClr val="7B6FF0"/>
            </a:solidFill>
            <a:prstDash val="solid"/>
            <a:headEnd type="none"/>
            <a:tailEnd type="triangle"/>
          </a:ln>
        </p:spPr>
      </p:sp>
      <p:sp>
        <p:nvSpPr>
          <p:cNvPr id="16" name="Shape 13"/>
          <p:cNvSpPr/>
          <p:nvPr/>
        </p:nvSpPr>
        <p:spPr>
          <a:xfrm>
            <a:off x="3383280" y="2834640"/>
            <a:ext cx="1005840" cy="621792"/>
          </a:xfrm>
          <a:prstGeom prst="roundRect">
            <a:avLst>
              <a:gd name="adj" fmla="val 17647"/>
            </a:avLst>
          </a:prstGeom>
          <a:solidFill>
            <a:srgbClr val="293257"/>
          </a:solidFill>
          <a:ln w="7620">
            <a:solidFill>
              <a:srgbClr val="283449"/>
            </a:solidFill>
            <a:prstDash val="solid"/>
          </a:ln>
        </p:spPr>
      </p:sp>
      <p:sp>
        <p:nvSpPr>
          <p:cNvPr id="17" name="Text 14"/>
          <p:cNvSpPr txBox="1"/>
          <p:nvPr/>
        </p:nvSpPr>
        <p:spPr>
          <a:xfrm>
            <a:off x="3383280" y="2907792"/>
            <a:ext cx="1005840" cy="457200"/>
          </a:xfrm>
          <a:prstGeom prst="rect">
            <a:avLst/>
          </a:prstGeom>
          <a:noFill/>
          <a:ln/>
        </p:spPr>
        <p:txBody>
          <a:bodyPr wrap="square" lIns="0" tIns="0" rIns="0" bIns="0" rtlCol="0" anchor="ctr"/>
          <a:lstStyle/>
          <a:p>
            <a:pPr algn="ctr" indent="0" marL="0">
              <a:buNone/>
            </a:pPr>
            <a:r>
              <a:rPr lang="en-US" sz="2600" b="1" dirty="0">
                <a:solidFill>
                  <a:srgbClr val="F8FAFC"/>
                </a:solidFill>
                <a:latin typeface="Calibri" pitchFamily="34" charset="0"/>
                <a:ea typeface="Calibri" pitchFamily="34" charset="-122"/>
                <a:cs typeface="Calibri" pitchFamily="34" charset="-120"/>
              </a:rPr>
              <a:t>+</a:t>
            </a:r>
            <a:endParaRPr lang="en-US" sz="2600" dirty="0"/>
          </a:p>
        </p:txBody>
      </p:sp>
      <p:sp>
        <p:nvSpPr>
          <p:cNvPr id="18" name="Shape 15"/>
          <p:cNvSpPr/>
          <p:nvPr/>
        </p:nvSpPr>
        <p:spPr>
          <a:xfrm>
            <a:off x="1828800" y="4069080"/>
            <a:ext cx="1005840" cy="621792"/>
          </a:xfrm>
          <a:prstGeom prst="roundRect">
            <a:avLst>
              <a:gd name="adj" fmla="val 17647"/>
            </a:avLst>
          </a:prstGeom>
          <a:solidFill>
            <a:srgbClr val="1E293B"/>
          </a:solidFill>
          <a:ln w="7620">
            <a:solidFill>
              <a:srgbClr val="283449"/>
            </a:solidFill>
            <a:prstDash val="solid"/>
          </a:ln>
        </p:spPr>
      </p:sp>
      <p:sp>
        <p:nvSpPr>
          <p:cNvPr id="19" name="Text 16"/>
          <p:cNvSpPr txBox="1"/>
          <p:nvPr/>
        </p:nvSpPr>
        <p:spPr>
          <a:xfrm>
            <a:off x="1828800" y="4142232"/>
            <a:ext cx="1005840" cy="457200"/>
          </a:xfrm>
          <a:prstGeom prst="rect">
            <a:avLst/>
          </a:prstGeom>
          <a:noFill/>
          <a:ln/>
        </p:spPr>
        <p:txBody>
          <a:bodyPr wrap="square" lIns="0" tIns="0" rIns="0" bIns="0" rtlCol="0" anchor="ctr"/>
          <a:lstStyle/>
          <a:p>
            <a:pPr algn="ctr" indent="0" marL="0">
              <a:buNone/>
            </a:pPr>
            <a:r>
              <a:rPr lang="en-US" sz="2600" b="1" dirty="0">
                <a:solidFill>
                  <a:srgbClr val="F8FAFC"/>
                </a:solidFill>
                <a:latin typeface="Calibri" pitchFamily="34" charset="0"/>
                <a:ea typeface="Calibri" pitchFamily="34" charset="-122"/>
                <a:cs typeface="Calibri" pitchFamily="34" charset="-120"/>
              </a:rPr>
              <a:t>1</a:t>
            </a:r>
            <a:endParaRPr lang="en-US" sz="2600" dirty="0"/>
          </a:p>
        </p:txBody>
      </p:sp>
      <p:sp>
        <p:nvSpPr>
          <p:cNvPr id="20" name="Shape 17"/>
          <p:cNvSpPr/>
          <p:nvPr/>
        </p:nvSpPr>
        <p:spPr>
          <a:xfrm>
            <a:off x="5029200" y="4069080"/>
            <a:ext cx="1005840" cy="621792"/>
          </a:xfrm>
          <a:prstGeom prst="roundRect">
            <a:avLst>
              <a:gd name="adj" fmla="val 17647"/>
            </a:avLst>
          </a:prstGeom>
          <a:solidFill>
            <a:srgbClr val="293257"/>
          </a:solidFill>
          <a:ln w="7620">
            <a:solidFill>
              <a:srgbClr val="283449"/>
            </a:solidFill>
            <a:prstDash val="solid"/>
          </a:ln>
        </p:spPr>
      </p:sp>
      <p:sp>
        <p:nvSpPr>
          <p:cNvPr id="21" name="Text 18"/>
          <p:cNvSpPr txBox="1"/>
          <p:nvPr/>
        </p:nvSpPr>
        <p:spPr>
          <a:xfrm>
            <a:off x="5029200" y="4142232"/>
            <a:ext cx="1005840" cy="457200"/>
          </a:xfrm>
          <a:prstGeom prst="rect">
            <a:avLst/>
          </a:prstGeom>
          <a:noFill/>
          <a:ln/>
        </p:spPr>
        <p:txBody>
          <a:bodyPr wrap="square" lIns="0" tIns="0" rIns="0" bIns="0" rtlCol="0" anchor="ctr"/>
          <a:lstStyle/>
          <a:p>
            <a:pPr algn="ctr" indent="0" marL="0">
              <a:buNone/>
            </a:pPr>
            <a:r>
              <a:rPr lang="en-US" sz="2600" b="1" dirty="0">
                <a:solidFill>
                  <a:srgbClr val="F8FAFC"/>
                </a:solidFill>
                <a:latin typeface="Calibri" pitchFamily="34" charset="0"/>
                <a:ea typeface="Calibri" pitchFamily="34" charset="-122"/>
                <a:cs typeface="Calibri" pitchFamily="34" charset="-120"/>
              </a:rPr>
              <a:t>*</a:t>
            </a:r>
            <a:endParaRPr lang="en-US" sz="2600" dirty="0"/>
          </a:p>
        </p:txBody>
      </p:sp>
      <p:sp>
        <p:nvSpPr>
          <p:cNvPr id="22" name="Shape 19"/>
          <p:cNvSpPr/>
          <p:nvPr/>
        </p:nvSpPr>
        <p:spPr>
          <a:xfrm>
            <a:off x="3977640" y="5358384"/>
            <a:ext cx="1005840" cy="621792"/>
          </a:xfrm>
          <a:prstGeom prst="roundRect">
            <a:avLst>
              <a:gd name="adj" fmla="val 17647"/>
            </a:avLst>
          </a:prstGeom>
          <a:solidFill>
            <a:srgbClr val="1E293B"/>
          </a:solidFill>
          <a:ln w="7620">
            <a:solidFill>
              <a:srgbClr val="283449"/>
            </a:solidFill>
            <a:prstDash val="solid"/>
          </a:ln>
        </p:spPr>
      </p:sp>
      <p:sp>
        <p:nvSpPr>
          <p:cNvPr id="23" name="Text 20"/>
          <p:cNvSpPr txBox="1"/>
          <p:nvPr/>
        </p:nvSpPr>
        <p:spPr>
          <a:xfrm>
            <a:off x="3977640" y="5431536"/>
            <a:ext cx="1005840" cy="457200"/>
          </a:xfrm>
          <a:prstGeom prst="rect">
            <a:avLst/>
          </a:prstGeom>
          <a:noFill/>
          <a:ln/>
        </p:spPr>
        <p:txBody>
          <a:bodyPr wrap="square" lIns="0" tIns="0" rIns="0" bIns="0" rtlCol="0" anchor="ctr"/>
          <a:lstStyle/>
          <a:p>
            <a:pPr algn="ctr" indent="0" marL="0">
              <a:buNone/>
            </a:pPr>
            <a:r>
              <a:rPr lang="en-US" sz="2600" b="1" dirty="0">
                <a:solidFill>
                  <a:srgbClr val="F8FAFC"/>
                </a:solidFill>
                <a:latin typeface="Calibri" pitchFamily="34" charset="0"/>
                <a:ea typeface="Calibri" pitchFamily="34" charset="-122"/>
                <a:cs typeface="Calibri" pitchFamily="34" charset="-120"/>
              </a:rPr>
              <a:t>2</a:t>
            </a:r>
            <a:endParaRPr lang="en-US" sz="2600" dirty="0"/>
          </a:p>
        </p:txBody>
      </p:sp>
      <p:sp>
        <p:nvSpPr>
          <p:cNvPr id="24" name="Shape 21"/>
          <p:cNvSpPr/>
          <p:nvPr/>
        </p:nvSpPr>
        <p:spPr>
          <a:xfrm>
            <a:off x="6144768" y="5358384"/>
            <a:ext cx="1005840" cy="621792"/>
          </a:xfrm>
          <a:prstGeom prst="roundRect">
            <a:avLst>
              <a:gd name="adj" fmla="val 17647"/>
            </a:avLst>
          </a:prstGeom>
          <a:solidFill>
            <a:srgbClr val="1E293B"/>
          </a:solidFill>
          <a:ln w="7620">
            <a:solidFill>
              <a:srgbClr val="283449"/>
            </a:solidFill>
            <a:prstDash val="solid"/>
          </a:ln>
        </p:spPr>
      </p:sp>
      <p:sp>
        <p:nvSpPr>
          <p:cNvPr id="25" name="Text 22"/>
          <p:cNvSpPr txBox="1"/>
          <p:nvPr/>
        </p:nvSpPr>
        <p:spPr>
          <a:xfrm>
            <a:off x="6144768" y="5431536"/>
            <a:ext cx="1005840" cy="457200"/>
          </a:xfrm>
          <a:prstGeom prst="rect">
            <a:avLst/>
          </a:prstGeom>
          <a:noFill/>
          <a:ln/>
        </p:spPr>
        <p:txBody>
          <a:bodyPr wrap="square" lIns="0" tIns="0" rIns="0" bIns="0" rtlCol="0" anchor="ctr"/>
          <a:lstStyle/>
          <a:p>
            <a:pPr algn="ctr" indent="0" marL="0">
              <a:buNone/>
            </a:pPr>
            <a:r>
              <a:rPr lang="en-US" sz="2600" b="1" dirty="0">
                <a:solidFill>
                  <a:srgbClr val="F8FAFC"/>
                </a:solidFill>
                <a:latin typeface="Calibri" pitchFamily="34" charset="0"/>
                <a:ea typeface="Calibri" pitchFamily="34" charset="-122"/>
                <a:cs typeface="Calibri" pitchFamily="34" charset="-120"/>
              </a:rPr>
              <a:t>1</a:t>
            </a:r>
            <a:endParaRPr lang="en-US" sz="2600" dirty="0"/>
          </a:p>
        </p:txBody>
      </p:sp>
      <p:sp>
        <p:nvSpPr>
          <p:cNvPr id="26" name="Text 23"/>
          <p:cNvSpPr txBox="1"/>
          <p:nvPr/>
        </p:nvSpPr>
        <p:spPr>
          <a:xfrm>
            <a:off x="7772400" y="2980944"/>
            <a:ext cx="3200400" cy="777240"/>
          </a:xfrm>
          <a:prstGeom prst="rect">
            <a:avLst/>
          </a:prstGeom>
          <a:noFill/>
          <a:ln/>
        </p:spPr>
        <p:txBody>
          <a:bodyPr wrap="square" lIns="0" tIns="0" rIns="0" bIns="0" rtlCol="0" anchor="ctr"/>
          <a:lstStyle/>
          <a:p>
            <a:pPr indent="0" marL="0">
              <a:buNone/>
            </a:pPr>
            <a:r>
              <a:rPr lang="en-US" sz="2500" b="1" dirty="0">
                <a:solidFill>
                  <a:srgbClr val="10BCD8"/>
                </a:solidFill>
                <a:latin typeface="Calibri" pitchFamily="34" charset="0"/>
                <a:ea typeface="Calibri" pitchFamily="34" charset="-122"/>
                <a:cs typeface="Calibri" pitchFamily="34" charset="-120"/>
              </a:rPr>
              <a:t>* tem precedência sobre +</a:t>
            </a:r>
            <a:endParaRPr lang="en-US" sz="2500" dirty="0"/>
          </a:p>
        </p:txBody>
      </p:sp>
      <p:sp>
        <p:nvSpPr>
          <p:cNvPr id="27" name="Text 24"/>
          <p:cNvSpPr txBox="1"/>
          <p:nvPr/>
        </p:nvSpPr>
        <p:spPr>
          <a:xfrm>
            <a:off x="7772400" y="4160520"/>
            <a:ext cx="3383280" cy="548640"/>
          </a:xfrm>
          <a:prstGeom prst="rect">
            <a:avLst/>
          </a:prstGeom>
          <a:noFill/>
          <a:ln/>
        </p:spPr>
        <p:txBody>
          <a:bodyPr wrap="square" lIns="0" tIns="0" rIns="0" bIns="0" rtlCol="0" anchor="ctr"/>
          <a:lstStyle/>
          <a:p>
            <a:pPr indent="0" marL="0">
              <a:buNone/>
            </a:pPr>
            <a:r>
              <a:rPr lang="en-US" sz="2300" dirty="0">
                <a:solidFill>
                  <a:srgbClr val="F8FAFC"/>
                </a:solidFill>
                <a:latin typeface="Courier New" pitchFamily="34" charset="0"/>
                <a:ea typeface="Courier New" pitchFamily="34" charset="-122"/>
                <a:cs typeface="Courier New" pitchFamily="34" charset="-120"/>
              </a:rPr>
              <a:t>1 + (2 * 1) = 3</a:t>
            </a:r>
            <a:endParaRPr lang="en-US" sz="2300" dirty="0"/>
          </a:p>
        </p:txBody>
      </p:sp>
      <p:sp>
        <p:nvSpPr>
          <p:cNvPr id="28" name="Text 25"/>
          <p:cNvSpPr txBox="1"/>
          <p:nvPr/>
        </p:nvSpPr>
        <p:spPr>
          <a:xfrm>
            <a:off x="7772400" y="5056632"/>
            <a:ext cx="3337560" cy="731520"/>
          </a:xfrm>
          <a:prstGeom prst="rect">
            <a:avLst/>
          </a:prstGeom>
          <a:noFill/>
          <a:ln/>
        </p:spPr>
        <p:txBody>
          <a:bodyPr wrap="square" lIns="0" tIns="0" rIns="0" bIns="0" rtlCol="0" anchor="ctr"/>
          <a:lstStyle/>
          <a:p>
            <a:pPr indent="0" marL="0">
              <a:buNone/>
            </a:pPr>
            <a:r>
              <a:rPr lang="en-US" sz="1800" dirty="0">
                <a:solidFill>
                  <a:srgbClr val="CBD5E1"/>
                </a:solidFill>
                <a:latin typeface="Calibri" pitchFamily="34" charset="0"/>
                <a:ea typeface="Calibri" pitchFamily="34" charset="-122"/>
                <a:cs typeface="Calibri" pitchFamily="34" charset="-120"/>
              </a:rPr>
              <a:t>netsec ast mostra a estrutura</a:t>
            </a:r>
            <a:endParaRPr lang="en-US" sz="1800" dirty="0"/>
          </a:p>
          <a:p>
            <a:pPr indent="0" marL="0">
              <a:buNone/>
            </a:pPr>
            <a:r>
              <a:rPr lang="en-US" sz="1800" dirty="0">
                <a:solidFill>
                  <a:srgbClr val="CBD5E1"/>
                </a:solidFill>
                <a:latin typeface="Calibri" pitchFamily="34" charset="0"/>
                <a:ea typeface="Calibri" pitchFamily="34" charset="-122"/>
                <a:cs typeface="Calibri" pitchFamily="34" charset="-120"/>
              </a:rPr>
              <a:t>netsec compile resolve o valor</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324"/>
        </a:solidFill>
      </p:bgPr>
    </p:bg>
    <p:spTree>
      <p:nvGrpSpPr>
        <p:cNvPr id="1" name=""/>
        <p:cNvGrpSpPr/>
        <p:nvPr/>
      </p:nvGrpSpPr>
      <p:grpSpPr>
        <a:xfrm>
          <a:off x="0" y="0"/>
          <a:ext cx="0" cy="0"/>
          <a:chOff x="0" y="0"/>
          <a:chExt cx="0" cy="0"/>
        </a:xfrm>
      </p:grpSpPr>
      <p:sp>
        <p:nvSpPr>
          <p:cNvPr id="2" name="Shape 0"/>
          <p:cNvSpPr/>
          <p:nvPr/>
        </p:nvSpPr>
        <p:spPr>
          <a:xfrm>
            <a:off x="-1024128" y="-1005840"/>
            <a:ext cx="3456432" cy="3364992"/>
          </a:xfrm>
          <a:prstGeom prst="ellipse">
            <a:avLst/>
          </a:prstGeom>
          <a:solidFill>
            <a:srgbClr val="122B3F"/>
          </a:solidFill>
          <a:ln w="12700">
            <a:solidFill>
              <a:srgbClr val="333333">
                <a:alpha val="0"/>
              </a:srgbClr>
            </a:solidFill>
            <a:prstDash val="solid"/>
          </a:ln>
        </p:spPr>
      </p:sp>
      <p:sp>
        <p:nvSpPr>
          <p:cNvPr id="3" name="Shape 1"/>
          <p:cNvSpPr/>
          <p:nvPr/>
        </p:nvSpPr>
        <p:spPr>
          <a:xfrm>
            <a:off x="8686800" y="4709160"/>
            <a:ext cx="4663440" cy="3310128"/>
          </a:xfrm>
          <a:prstGeom prst="ellipse">
            <a:avLst/>
          </a:prstGeom>
          <a:solidFill>
            <a:srgbClr val="1D1D40"/>
          </a:solidFill>
          <a:ln w="12700">
            <a:solidFill>
              <a:srgbClr val="333333">
                <a:alpha val="0"/>
              </a:srgbClr>
            </a:solidFill>
            <a:prstDash val="solid"/>
          </a:ln>
        </p:spPr>
      </p:sp>
      <p:sp>
        <p:nvSpPr>
          <p:cNvPr id="4" name="Text 2"/>
          <p:cNvSpPr txBox="1"/>
          <p:nvPr/>
        </p:nvSpPr>
        <p:spPr>
          <a:xfrm>
            <a:off x="594360" y="292608"/>
            <a:ext cx="10469880" cy="530352"/>
          </a:xfrm>
          <a:prstGeom prst="rect">
            <a:avLst/>
          </a:prstGeom>
          <a:noFill/>
          <a:ln/>
        </p:spPr>
        <p:txBody>
          <a:bodyPr wrap="square" lIns="0" tIns="0" rIns="0" bIns="0" rtlCol="0" anchor="ctr"/>
          <a:lstStyle/>
          <a:p>
            <a:pPr algn="ctr" indent="0" marL="0">
              <a:buNone/>
            </a:pPr>
            <a:r>
              <a:rPr lang="en-US" sz="2900" b="1" dirty="0">
                <a:solidFill>
                  <a:srgbClr val="F8FAFC"/>
                </a:solidFill>
                <a:latin typeface="Arial" pitchFamily="34" charset="0"/>
                <a:ea typeface="Arial" pitchFamily="34" charset="-122"/>
                <a:cs typeface="Arial" pitchFamily="34" charset="-120"/>
              </a:rPr>
              <a:t>Tipos e validação de </a:t>
            </a:r>
            <a:pPr algn="ctr" indent="0" marL="0">
              <a:buNone/>
            </a:pPr>
            <a:r>
              <a:rPr lang="en-US" sz="2900" b="1" dirty="0">
                <a:solidFill>
                  <a:srgbClr val="10BCD8"/>
                </a:solidFill>
                <a:latin typeface="Arial" pitchFamily="34" charset="0"/>
                <a:ea typeface="Arial" pitchFamily="34" charset="-122"/>
                <a:cs typeface="Arial" pitchFamily="34" charset="-120"/>
              </a:rPr>
              <a:t>domínio</a:t>
            </a:r>
            <a:endParaRPr lang="en-US" sz="2900" dirty="0"/>
          </a:p>
        </p:txBody>
      </p:sp>
      <p:sp>
        <p:nvSpPr>
          <p:cNvPr id="5" name="Shape 3"/>
          <p:cNvSpPr/>
          <p:nvPr/>
        </p:nvSpPr>
        <p:spPr>
          <a:xfrm>
            <a:off x="10991088" y="310896"/>
            <a:ext cx="621792" cy="621792"/>
          </a:xfrm>
          <a:prstGeom prst="ellipse">
            <a:avLst/>
          </a:prstGeom>
          <a:solidFill>
            <a:srgbClr val="7B6FF0"/>
          </a:solidFill>
          <a:ln w="12700">
            <a:solidFill>
              <a:srgbClr val="7B6FF0">
                <a:alpha val="0"/>
              </a:srgbClr>
            </a:solidFill>
            <a:prstDash val="solid"/>
          </a:ln>
        </p:spPr>
      </p:sp>
      <p:pic>
        <p:nvPicPr>
          <p:cNvPr id="6" name="Image 0" descr="preencoded.png">    </p:cNvPr>
          <p:cNvPicPr>
            <a:picLocks noChangeAspect="1"/>
          </p:cNvPicPr>
          <p:nvPr/>
        </p:nvPicPr>
        <p:blipFill>
          <a:blip r:embed="rId1"/>
          <a:stretch>
            <a:fillRect/>
          </a:stretch>
        </p:blipFill>
        <p:spPr>
          <a:xfrm>
            <a:off x="11134100" y="453908"/>
            <a:ext cx="335768" cy="335768"/>
          </a:xfrm>
          <a:prstGeom prst="rect">
            <a:avLst/>
          </a:prstGeom>
        </p:spPr>
      </p:pic>
      <p:sp>
        <p:nvSpPr>
          <p:cNvPr id="7" name="Text 4"/>
          <p:cNvSpPr txBox="1"/>
          <p:nvPr/>
        </p:nvSpPr>
        <p:spPr>
          <a:xfrm>
            <a:off x="685800" y="987552"/>
            <a:ext cx="10789920" cy="384048"/>
          </a:xfrm>
          <a:prstGeom prst="rect">
            <a:avLst/>
          </a:prstGeom>
          <a:noFill/>
          <a:ln/>
        </p:spPr>
        <p:txBody>
          <a:bodyPr wrap="square" lIns="0" tIns="0" rIns="0" bIns="0" rtlCol="0" anchor="ctr"/>
          <a:lstStyle/>
          <a:p>
            <a:pPr algn="ctr" indent="0" marL="0">
              <a:buNone/>
            </a:pPr>
            <a:r>
              <a:rPr lang="en-US" sz="1800" dirty="0">
                <a:solidFill>
                  <a:srgbClr val="CBD5E1"/>
                </a:solidFill>
                <a:latin typeface="Calibri" pitchFamily="34" charset="0"/>
                <a:ea typeface="Calibri" pitchFamily="34" charset="-122"/>
                <a:cs typeface="Calibri" pitchFamily="34" charset="-120"/>
              </a:rPr>
              <a:t>As declarações sempre informam o tipo. Não há inferência de declarações.</a:t>
            </a:r>
            <a:endParaRPr lang="en-US" sz="1800" dirty="0"/>
          </a:p>
        </p:txBody>
      </p:sp>
      <p:sp>
        <p:nvSpPr>
          <p:cNvPr id="8" name="Text 5"/>
          <p:cNvSpPr txBox="1"/>
          <p:nvPr/>
        </p:nvSpPr>
        <p:spPr>
          <a:xfrm>
            <a:off x="502920" y="6556248"/>
            <a:ext cx="7772400" cy="164592"/>
          </a:xfrm>
          <a:prstGeom prst="rect">
            <a:avLst/>
          </a:prstGeom>
          <a:noFill/>
          <a:ln/>
        </p:spPr>
        <p:txBody>
          <a:bodyPr wrap="square" lIns="0" tIns="0" rIns="0" bIns="0" rtlCol="0" anchor="ctr"/>
          <a:lstStyle/>
          <a:p>
            <a:pPr indent="0" marL="0">
              <a:buNone/>
            </a:pPr>
            <a:r>
              <a:rPr lang="en-US" sz="850" dirty="0">
                <a:solidFill>
                  <a:srgbClr val="8796AD"/>
                </a:solidFill>
                <a:latin typeface="Calibri" pitchFamily="34" charset="0"/>
                <a:ea typeface="Calibri" pitchFamily="34" charset="-122"/>
                <a:cs typeface="Calibri" pitchFamily="34" charset="-120"/>
              </a:rPr>
              <a:t>NetSec  ·  Redes + Segurança + Automação</a:t>
            </a:r>
            <a:endParaRPr lang="en-US" sz="850" dirty="0"/>
          </a:p>
        </p:txBody>
      </p:sp>
      <p:sp>
        <p:nvSpPr>
          <p:cNvPr id="9" name="Text 6"/>
          <p:cNvSpPr txBox="1"/>
          <p:nvPr/>
        </p:nvSpPr>
        <p:spPr>
          <a:xfrm>
            <a:off x="11292840" y="6547104"/>
            <a:ext cx="320040" cy="182880"/>
          </a:xfrm>
          <a:prstGeom prst="rect">
            <a:avLst/>
          </a:prstGeom>
          <a:noFill/>
          <a:ln/>
        </p:spPr>
        <p:txBody>
          <a:bodyPr wrap="square" lIns="0" tIns="0" rIns="0" bIns="0" rtlCol="0" anchor="ctr"/>
          <a:lstStyle/>
          <a:p>
            <a:pPr algn="r" indent="0" marL="0">
              <a:buNone/>
            </a:pPr>
            <a:r>
              <a:rPr lang="en-US" sz="850" dirty="0">
                <a:solidFill>
                  <a:srgbClr val="8796AD"/>
                </a:solidFill>
                <a:latin typeface="Calibri" pitchFamily="34" charset="0"/>
                <a:ea typeface="Calibri" pitchFamily="34" charset="-122"/>
                <a:cs typeface="Calibri" pitchFamily="34" charset="-120"/>
              </a:rPr>
              <a:t>7</a:t>
            </a:r>
            <a:endParaRPr lang="en-US" sz="8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10835640" cy="914400"/>
        </p:xfrm>
        <a:graphic>
          <a:graphicData uri="http://schemas.openxmlformats.org/drawingml/2006/table">
            <a:tbl>
              <a:tblPr/>
              <a:tblGrid>
                <a:gridCol w="1874520"/>
                <a:gridCol w="5486400"/>
                <a:gridCol w="3474720"/>
              </a:tblGrid>
              <a:tr h="603504">
                <a:tc>
                  <a:txBody>
                    <a:bodyPr/>
                    <a:lstStyle/>
                    <a:p>
                      <a:pPr indent="0" marL="0">
                        <a:buNone/>
                      </a:pPr>
                      <a:r>
                        <a:rPr lang="en-US" sz="1750" b="1" dirty="0">
                          <a:solidFill>
                            <a:srgbClr val="10BCD8"/>
                          </a:solidFill>
                          <a:latin typeface="Calibri" pitchFamily="34" charset="0"/>
                          <a:ea typeface="Calibri" pitchFamily="34" charset="-122"/>
                          <a:cs typeface="Calibri" pitchFamily="34" charset="-120"/>
                        </a:rPr>
                        <a:t>Tipo</a:t>
                      </a:r>
                      <a:endParaRPr lang="en-US" sz="175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c>
                  <a:txBody>
                    <a:bodyPr/>
                    <a:lstStyle/>
                    <a:p>
                      <a:pPr indent="0" marL="0">
                        <a:buNone/>
                      </a:pPr>
                      <a:r>
                        <a:rPr lang="en-US" sz="1750" b="1" dirty="0">
                          <a:solidFill>
                            <a:srgbClr val="10BCD8"/>
                          </a:solidFill>
                          <a:latin typeface="Calibri" pitchFamily="34" charset="0"/>
                          <a:ea typeface="Calibri" pitchFamily="34" charset="-122"/>
                          <a:cs typeface="Calibri" pitchFamily="34" charset="-120"/>
                        </a:rPr>
                        <a:t>Exemplo</a:t>
                      </a:r>
                      <a:endParaRPr lang="en-US" sz="175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c>
                  <a:txBody>
                    <a:bodyPr/>
                    <a:lstStyle/>
                    <a:p>
                      <a:pPr indent="0" marL="0">
                        <a:buNone/>
                      </a:pPr>
                      <a:r>
                        <a:rPr lang="en-US" sz="1750" b="1" dirty="0">
                          <a:solidFill>
                            <a:srgbClr val="10BCD8"/>
                          </a:solidFill>
                          <a:latin typeface="Calibri" pitchFamily="34" charset="0"/>
                          <a:ea typeface="Calibri" pitchFamily="34" charset="-122"/>
                          <a:cs typeface="Calibri" pitchFamily="34" charset="-120"/>
                        </a:rPr>
                        <a:t>Regra relevante</a:t>
                      </a:r>
                      <a:endParaRPr lang="en-US" sz="175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r>
              <a:tr h="603504">
                <a:tc>
                  <a:txBody>
                    <a:bodyPr/>
                    <a:lstStyle/>
                    <a:p>
                      <a:pPr indent="0" marL="0">
                        <a:buNone/>
                      </a:pPr>
                      <a:r>
                        <a:rPr lang="en-US" sz="1750" dirty="0">
                          <a:solidFill>
                            <a:srgbClr val="F8FAFC"/>
                          </a:solidFill>
                          <a:latin typeface="Calibri" pitchFamily="34" charset="0"/>
                          <a:ea typeface="Calibri" pitchFamily="34" charset="-122"/>
                          <a:cs typeface="Calibri" pitchFamily="34" charset="-120"/>
                        </a:rPr>
                        <a:t>int, bool, string</a:t>
                      </a:r>
                      <a:endParaRPr lang="en-US" sz="175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1E293B"/>
                    </a:solidFill>
                  </a:tcPr>
                </a:tc>
                <a:tc>
                  <a:txBody>
                    <a:bodyPr/>
                    <a:lstStyle/>
                    <a:p>
                      <a:pPr indent="0" marL="0">
                        <a:buNone/>
                      </a:pPr>
                      <a:r>
                        <a:rPr lang="en-US" sz="1750" dirty="0">
                          <a:solidFill>
                            <a:srgbClr val="F8FAFC"/>
                          </a:solidFill>
                          <a:latin typeface="Calibri" pitchFamily="34" charset="0"/>
                          <a:ea typeface="Calibri" pitchFamily="34" charset="-122"/>
                          <a:cs typeface="Calibri" pitchFamily="34" charset="-120"/>
                        </a:rPr>
                        <a:t>int passes = 3;</a:t>
                      </a:r>
                      <a:endParaRPr lang="en-US" sz="175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1E293B"/>
                    </a:solidFill>
                  </a:tcPr>
                </a:tc>
                <a:tc>
                  <a:txBody>
                    <a:bodyPr/>
                    <a:lstStyle/>
                    <a:p>
                      <a:pPr indent="0" marL="0">
                        <a:buNone/>
                      </a:pPr>
                      <a:r>
                        <a:rPr lang="en-US" sz="1750" dirty="0">
                          <a:solidFill>
                            <a:srgbClr val="F8FAFC"/>
                          </a:solidFill>
                          <a:latin typeface="Calibri" pitchFamily="34" charset="0"/>
                          <a:ea typeface="Calibri" pitchFamily="34" charset="-122"/>
                          <a:cs typeface="Calibri" pitchFamily="34" charset="-120"/>
                        </a:rPr>
                        <a:t>bool não é int</a:t>
                      </a:r>
                      <a:endParaRPr lang="en-US" sz="175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1E293B"/>
                    </a:solidFill>
                  </a:tcPr>
                </a:tc>
              </a:tr>
              <a:tr h="603504">
                <a:tc>
                  <a:txBody>
                    <a:bodyPr/>
                    <a:lstStyle/>
                    <a:p>
                      <a:pPr indent="0" marL="0">
                        <a:buNone/>
                      </a:pPr>
                      <a:r>
                        <a:rPr lang="en-US" sz="1750" dirty="0">
                          <a:solidFill>
                            <a:srgbClr val="F8FAFC"/>
                          </a:solidFill>
                          <a:latin typeface="Calibri" pitchFamily="34" charset="0"/>
                          <a:ea typeface="Calibri" pitchFamily="34" charset="-122"/>
                          <a:cs typeface="Calibri" pitchFamily="34" charset="-120"/>
                        </a:rPr>
                        <a:t>ip</a:t>
                      </a:r>
                      <a:endParaRPr lang="en-US" sz="175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c>
                  <a:txBody>
                    <a:bodyPr/>
                    <a:lstStyle/>
                    <a:p>
                      <a:pPr indent="0" marL="0">
                        <a:buNone/>
                      </a:pPr>
                      <a:r>
                        <a:rPr lang="en-US" sz="1750" dirty="0">
                          <a:solidFill>
                            <a:srgbClr val="F8FAFC"/>
                          </a:solidFill>
                          <a:latin typeface="Calibri" pitchFamily="34" charset="0"/>
                          <a:ea typeface="Calibri" pitchFamily="34" charset="-122"/>
                          <a:cs typeface="Calibri" pitchFamily="34" charset="-120"/>
                        </a:rPr>
                        <a:t>ip node = ip("::1");</a:t>
                      </a:r>
                      <a:endParaRPr lang="en-US" sz="175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c>
                  <a:txBody>
                    <a:bodyPr/>
                    <a:lstStyle/>
                    <a:p>
                      <a:pPr indent="0" marL="0">
                        <a:buNone/>
                      </a:pPr>
                      <a:r>
                        <a:rPr lang="en-US" sz="1750" dirty="0">
                          <a:solidFill>
                            <a:srgbClr val="F8FAFC"/>
                          </a:solidFill>
                          <a:latin typeface="Calibri" pitchFamily="34" charset="0"/>
                          <a:ea typeface="Calibri" pitchFamily="34" charset="-122"/>
                          <a:cs typeface="Calibri" pitchFamily="34" charset="-120"/>
                        </a:rPr>
                        <a:t>IPv4 / IPv6 válido e canônico</a:t>
                      </a:r>
                      <a:endParaRPr lang="en-US" sz="175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r>
              <a:tr h="603504">
                <a:tc>
                  <a:txBody>
                    <a:bodyPr/>
                    <a:lstStyle/>
                    <a:p>
                      <a:pPr indent="0" marL="0">
                        <a:buNone/>
                      </a:pPr>
                      <a:r>
                        <a:rPr lang="en-US" sz="1750" dirty="0">
                          <a:solidFill>
                            <a:srgbClr val="F8FAFC"/>
                          </a:solidFill>
                          <a:latin typeface="Calibri" pitchFamily="34" charset="0"/>
                          <a:ea typeface="Calibri" pitchFamily="34" charset="-122"/>
                          <a:cs typeface="Calibri" pitchFamily="34" charset="-120"/>
                        </a:rPr>
                        <a:t>network</a:t>
                      </a:r>
                      <a:endParaRPr lang="en-US" sz="175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1E293B"/>
                    </a:solidFill>
                  </a:tcPr>
                </a:tc>
                <a:tc>
                  <a:txBody>
                    <a:bodyPr/>
                    <a:lstStyle/>
                    <a:p>
                      <a:pPr indent="0" marL="0">
                        <a:buNone/>
                      </a:pPr>
                      <a:r>
                        <a:rPr lang="en-US" sz="1750" dirty="0">
                          <a:solidFill>
                            <a:srgbClr val="F8FAFC"/>
                          </a:solidFill>
                          <a:latin typeface="Calibri" pitchFamily="34" charset="0"/>
                          <a:ea typeface="Calibri" pitchFamily="34" charset="-122"/>
                          <a:cs typeface="Calibri" pitchFamily="34" charset="-120"/>
                        </a:rPr>
                        <a:t>network lan = network("192.0.2.0/24");</a:t>
                      </a:r>
                      <a:endParaRPr lang="en-US" sz="175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1E293B"/>
                    </a:solidFill>
                  </a:tcPr>
                </a:tc>
                <a:tc>
                  <a:txBody>
                    <a:bodyPr/>
                    <a:lstStyle/>
                    <a:p>
                      <a:pPr indent="0" marL="0">
                        <a:buNone/>
                      </a:pPr>
                      <a:r>
                        <a:rPr lang="en-US" sz="1750" dirty="0">
                          <a:solidFill>
                            <a:srgbClr val="F8FAFC"/>
                          </a:solidFill>
                          <a:latin typeface="Calibri" pitchFamily="34" charset="0"/>
                          <a:ea typeface="Calibri" pitchFamily="34" charset="-122"/>
                          <a:cs typeface="Calibri" pitchFamily="34" charset="-120"/>
                        </a:rPr>
                        <a:t>CIDR sem bits de host</a:t>
                      </a:r>
                      <a:endParaRPr lang="en-US" sz="175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1E293B"/>
                    </a:solidFill>
                  </a:tcPr>
                </a:tc>
              </a:tr>
              <a:tr h="603504">
                <a:tc>
                  <a:txBody>
                    <a:bodyPr/>
                    <a:lstStyle/>
                    <a:p>
                      <a:pPr indent="0" marL="0">
                        <a:buNone/>
                      </a:pPr>
                      <a:r>
                        <a:rPr lang="en-US" sz="1750" dirty="0">
                          <a:solidFill>
                            <a:srgbClr val="F8FAFC"/>
                          </a:solidFill>
                          <a:latin typeface="Calibri" pitchFamily="34" charset="0"/>
                          <a:ea typeface="Calibri" pitchFamily="34" charset="-122"/>
                          <a:cs typeface="Calibri" pitchFamily="34" charset="-120"/>
                        </a:rPr>
                        <a:t>port</a:t>
                      </a:r>
                      <a:endParaRPr lang="en-US" sz="175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c>
                  <a:txBody>
                    <a:bodyPr/>
                    <a:lstStyle/>
                    <a:p>
                      <a:pPr indent="0" marL="0">
                        <a:buNone/>
                      </a:pPr>
                      <a:r>
                        <a:rPr lang="en-US" sz="1750" dirty="0">
                          <a:solidFill>
                            <a:srgbClr val="F8FAFC"/>
                          </a:solidFill>
                          <a:latin typeface="Calibri" pitchFamily="34" charset="0"/>
                          <a:ea typeface="Calibri" pitchFamily="34" charset="-122"/>
                          <a:cs typeface="Calibri" pitchFamily="34" charset="-120"/>
                        </a:rPr>
                        <a:t>port admin = port(22);</a:t>
                      </a:r>
                      <a:endParaRPr lang="en-US" sz="175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c>
                  <a:txBody>
                    <a:bodyPr/>
                    <a:lstStyle/>
                    <a:p>
                      <a:pPr indent="0" marL="0">
                        <a:buNone/>
                      </a:pPr>
                      <a:r>
                        <a:rPr lang="en-US" sz="1750" dirty="0">
                          <a:solidFill>
                            <a:srgbClr val="F8FAFC"/>
                          </a:solidFill>
                          <a:latin typeface="Calibri" pitchFamily="34" charset="0"/>
                          <a:ea typeface="Calibri" pitchFamily="34" charset="-122"/>
                          <a:cs typeface="Calibri" pitchFamily="34" charset="-120"/>
                        </a:rPr>
                        <a:t>Intervalo 1..65535</a:t>
                      </a:r>
                      <a:endParaRPr lang="en-US" sz="175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r>
              <a:tr h="603504">
                <a:tc>
                  <a:txBody>
                    <a:bodyPr/>
                    <a:lstStyle/>
                    <a:p>
                      <a:pPr indent="0" marL="0">
                        <a:buNone/>
                      </a:pPr>
                      <a:r>
                        <a:rPr lang="en-US" sz="1750" dirty="0">
                          <a:solidFill>
                            <a:srgbClr val="F8FAFC"/>
                          </a:solidFill>
                          <a:latin typeface="Calibri" pitchFamily="34" charset="0"/>
                          <a:ea typeface="Calibri" pitchFamily="34" charset="-122"/>
                          <a:cs typeface="Calibri" pitchFamily="34" charset="-120"/>
                        </a:rPr>
                        <a:t>protocol</a:t>
                      </a:r>
                      <a:endParaRPr lang="en-US" sz="175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1E293B"/>
                    </a:solidFill>
                  </a:tcPr>
                </a:tc>
                <a:tc>
                  <a:txBody>
                    <a:bodyPr/>
                    <a:lstStyle/>
                    <a:p>
                      <a:pPr indent="0" marL="0">
                        <a:buNone/>
                      </a:pPr>
                      <a:r>
                        <a:rPr lang="en-US" sz="1750" dirty="0">
                          <a:solidFill>
                            <a:srgbClr val="F8FAFC"/>
                          </a:solidFill>
                          <a:latin typeface="Calibri" pitchFamily="34" charset="0"/>
                          <a:ea typeface="Calibri" pitchFamily="34" charset="-122"/>
                          <a:cs typeface="Calibri" pitchFamily="34" charset="-120"/>
                        </a:rPr>
                        <a:t>protocol transport = tcp;</a:t>
                      </a:r>
                      <a:endParaRPr lang="en-US" sz="175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1E293B"/>
                    </a:solidFill>
                  </a:tcPr>
                </a:tc>
                <a:tc>
                  <a:txBody>
                    <a:bodyPr/>
                    <a:lstStyle/>
                    <a:p>
                      <a:pPr indent="0" marL="0">
                        <a:buNone/>
                      </a:pPr>
                      <a:r>
                        <a:rPr lang="en-US" sz="1750" dirty="0">
                          <a:solidFill>
                            <a:srgbClr val="F8FAFC"/>
                          </a:solidFill>
                          <a:latin typeface="Calibri" pitchFamily="34" charset="0"/>
                          <a:ea typeface="Calibri" pitchFamily="34" charset="-122"/>
                          <a:cs typeface="Calibri" pitchFamily="34" charset="-120"/>
                        </a:rPr>
                        <a:t>tcp ou udp</a:t>
                      </a:r>
                      <a:endParaRPr lang="en-US" sz="175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1E293B"/>
                    </a:solidFill>
                  </a:tcPr>
                </a:tc>
              </a:tr>
            </a:tbl>
          </a:graphicData>
        </a:graphic>
      </p:graphicFrame>
      <p:sp>
        <p:nvSpPr>
          <p:cNvPr id="11" name="Text 7"/>
          <p:cNvSpPr txBox="1"/>
          <p:nvPr/>
        </p:nvSpPr>
        <p:spPr>
          <a:xfrm>
            <a:off x="1005840" y="5669280"/>
            <a:ext cx="5212080" cy="457200"/>
          </a:xfrm>
          <a:prstGeom prst="rect">
            <a:avLst/>
          </a:prstGeom>
          <a:noFill/>
          <a:ln/>
        </p:spPr>
        <p:txBody>
          <a:bodyPr wrap="square" lIns="0" tIns="0" rIns="0" bIns="0" rtlCol="0" anchor="ctr"/>
          <a:lstStyle/>
          <a:p>
            <a:pPr indent="0" marL="0">
              <a:buNone/>
            </a:pPr>
            <a:r>
              <a:rPr lang="en-US" sz="2100" b="1" dirty="0">
                <a:solidFill>
                  <a:srgbClr val="FF4E58"/>
                </a:solidFill>
                <a:latin typeface="Courier New" pitchFamily="34" charset="0"/>
                <a:ea typeface="Courier New" pitchFamily="34" charset="-122"/>
                <a:cs typeface="Courier New" pitchFamily="34" charset="-120"/>
              </a:rPr>
              <a:t>Rejeitado: port admin = 22;</a:t>
            </a:r>
            <a:endParaRPr lang="en-US" sz="2100" dirty="0"/>
          </a:p>
        </p:txBody>
      </p:sp>
      <p:sp>
        <p:nvSpPr>
          <p:cNvPr id="12" name="Text 8"/>
          <p:cNvSpPr txBox="1"/>
          <p:nvPr/>
        </p:nvSpPr>
        <p:spPr>
          <a:xfrm>
            <a:off x="6400800" y="5577840"/>
            <a:ext cx="4709160" cy="731520"/>
          </a:xfrm>
          <a:prstGeom prst="rect">
            <a:avLst/>
          </a:prstGeom>
          <a:noFill/>
          <a:ln/>
        </p:spPr>
        <p:txBody>
          <a:bodyPr wrap="square" lIns="0" tIns="0" rIns="0" bIns="0" rtlCol="0" anchor="ctr"/>
          <a:lstStyle/>
          <a:p>
            <a:pPr indent="0" marL="0">
              <a:buNone/>
            </a:pPr>
            <a:r>
              <a:rPr lang="en-US" sz="1800" dirty="0">
                <a:solidFill>
                  <a:srgbClr val="CBD5E1"/>
                </a:solidFill>
                <a:latin typeface="Calibri" pitchFamily="34" charset="0"/>
                <a:ea typeface="Calibri" pitchFamily="34" charset="-122"/>
                <a:cs typeface="Calibri" pitchFamily="34" charset="-120"/>
              </a:rPr>
              <a:t>O construtor explícito é obrigatório nessa declaração.</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324"/>
        </a:solidFill>
      </p:bgPr>
    </p:bg>
    <p:spTree>
      <p:nvGrpSpPr>
        <p:cNvPr id="1" name=""/>
        <p:cNvGrpSpPr/>
        <p:nvPr/>
      </p:nvGrpSpPr>
      <p:grpSpPr>
        <a:xfrm>
          <a:off x="0" y="0"/>
          <a:ext cx="0" cy="0"/>
          <a:chOff x="0" y="0"/>
          <a:chExt cx="0" cy="0"/>
        </a:xfrm>
      </p:grpSpPr>
      <p:sp>
        <p:nvSpPr>
          <p:cNvPr id="2" name="Shape 0"/>
          <p:cNvSpPr/>
          <p:nvPr/>
        </p:nvSpPr>
        <p:spPr>
          <a:xfrm>
            <a:off x="-1024128" y="-1005840"/>
            <a:ext cx="3456432" cy="3364992"/>
          </a:xfrm>
          <a:prstGeom prst="ellipse">
            <a:avLst/>
          </a:prstGeom>
          <a:solidFill>
            <a:srgbClr val="122B3F"/>
          </a:solidFill>
          <a:ln w="12700">
            <a:solidFill>
              <a:srgbClr val="333333">
                <a:alpha val="0"/>
              </a:srgbClr>
            </a:solidFill>
            <a:prstDash val="solid"/>
          </a:ln>
        </p:spPr>
      </p:sp>
      <p:sp>
        <p:nvSpPr>
          <p:cNvPr id="3" name="Shape 1"/>
          <p:cNvSpPr/>
          <p:nvPr/>
        </p:nvSpPr>
        <p:spPr>
          <a:xfrm>
            <a:off x="8686800" y="4709160"/>
            <a:ext cx="4663440" cy="3310128"/>
          </a:xfrm>
          <a:prstGeom prst="ellipse">
            <a:avLst/>
          </a:prstGeom>
          <a:solidFill>
            <a:srgbClr val="1D1D40"/>
          </a:solidFill>
          <a:ln w="12700">
            <a:solidFill>
              <a:srgbClr val="333333">
                <a:alpha val="0"/>
              </a:srgbClr>
            </a:solidFill>
            <a:prstDash val="solid"/>
          </a:ln>
        </p:spPr>
      </p:sp>
      <p:sp>
        <p:nvSpPr>
          <p:cNvPr id="4" name="Text 2"/>
          <p:cNvSpPr txBox="1"/>
          <p:nvPr/>
        </p:nvSpPr>
        <p:spPr>
          <a:xfrm>
            <a:off x="594360" y="292608"/>
            <a:ext cx="10469880" cy="530352"/>
          </a:xfrm>
          <a:prstGeom prst="rect">
            <a:avLst/>
          </a:prstGeom>
          <a:noFill/>
          <a:ln/>
        </p:spPr>
        <p:txBody>
          <a:bodyPr wrap="square" lIns="0" tIns="0" rIns="0" bIns="0" rtlCol="0" anchor="ctr"/>
          <a:lstStyle/>
          <a:p>
            <a:pPr algn="ctr" indent="0" marL="0">
              <a:buNone/>
            </a:pPr>
            <a:r>
              <a:rPr lang="en-US" sz="2900" b="1" dirty="0">
                <a:solidFill>
                  <a:srgbClr val="F8FAFC"/>
                </a:solidFill>
                <a:latin typeface="Arial" pitchFamily="34" charset="0"/>
                <a:ea typeface="Arial" pitchFamily="34" charset="-122"/>
                <a:cs typeface="Arial" pitchFamily="34" charset="-120"/>
              </a:rPr>
              <a:t>Escopos e fluxo </a:t>
            </a:r>
            <a:pPr algn="ctr" indent="0" marL="0">
              <a:buNone/>
            </a:pPr>
            <a:r>
              <a:rPr lang="en-US" sz="2900" b="1" dirty="0">
                <a:solidFill>
                  <a:srgbClr val="10BCD8"/>
                </a:solidFill>
                <a:latin typeface="Arial" pitchFamily="34" charset="0"/>
                <a:ea typeface="Arial" pitchFamily="34" charset="-122"/>
                <a:cs typeface="Arial" pitchFamily="34" charset="-120"/>
              </a:rPr>
              <a:t>estático</a:t>
            </a:r>
            <a:endParaRPr lang="en-US" sz="2900" dirty="0"/>
          </a:p>
        </p:txBody>
      </p:sp>
      <p:sp>
        <p:nvSpPr>
          <p:cNvPr id="5" name="Shape 3"/>
          <p:cNvSpPr/>
          <p:nvPr/>
        </p:nvSpPr>
        <p:spPr>
          <a:xfrm>
            <a:off x="10991088" y="310896"/>
            <a:ext cx="621792" cy="621792"/>
          </a:xfrm>
          <a:prstGeom prst="ellipse">
            <a:avLst/>
          </a:prstGeom>
          <a:solidFill>
            <a:srgbClr val="7B6FF0"/>
          </a:solidFill>
          <a:ln w="12700">
            <a:solidFill>
              <a:srgbClr val="7B6FF0">
                <a:alpha val="0"/>
              </a:srgbClr>
            </a:solidFill>
            <a:prstDash val="solid"/>
          </a:ln>
        </p:spPr>
      </p:sp>
      <p:pic>
        <p:nvPicPr>
          <p:cNvPr id="6" name="Image 0" descr="preencoded.png">    </p:cNvPr>
          <p:cNvPicPr>
            <a:picLocks noChangeAspect="1"/>
          </p:cNvPicPr>
          <p:nvPr/>
        </p:nvPicPr>
        <p:blipFill>
          <a:blip r:embed="rId1"/>
          <a:stretch>
            <a:fillRect/>
          </a:stretch>
        </p:blipFill>
        <p:spPr>
          <a:xfrm>
            <a:off x="11134100" y="453908"/>
            <a:ext cx="335768" cy="335768"/>
          </a:xfrm>
          <a:prstGeom prst="rect">
            <a:avLst/>
          </a:prstGeom>
        </p:spPr>
      </p:pic>
      <p:sp>
        <p:nvSpPr>
          <p:cNvPr id="7" name="Text 4"/>
          <p:cNvSpPr txBox="1"/>
          <p:nvPr/>
        </p:nvSpPr>
        <p:spPr>
          <a:xfrm>
            <a:off x="685800" y="987552"/>
            <a:ext cx="10789920" cy="384048"/>
          </a:xfrm>
          <a:prstGeom prst="rect">
            <a:avLst/>
          </a:prstGeom>
          <a:noFill/>
          <a:ln/>
        </p:spPr>
        <p:txBody>
          <a:bodyPr wrap="square" lIns="0" tIns="0" rIns="0" bIns="0" rtlCol="0" anchor="ctr"/>
          <a:lstStyle/>
          <a:p>
            <a:pPr algn="ctr" indent="0" marL="0">
              <a:buNone/>
            </a:pPr>
            <a:r>
              <a:rPr lang="en-US" sz="1800" dirty="0">
                <a:solidFill>
                  <a:srgbClr val="CBD5E1"/>
                </a:solidFill>
                <a:latin typeface="Calibri" pitchFamily="34" charset="0"/>
                <a:ea typeface="Calibri" pitchFamily="34" charset="-122"/>
                <a:cs typeface="Calibri" pitchFamily="34" charset="-120"/>
              </a:rPr>
              <a:t>Variáveis imutáveis, sombreamento local e repetição limitada</a:t>
            </a:r>
            <a:endParaRPr lang="en-US" sz="1800" dirty="0"/>
          </a:p>
        </p:txBody>
      </p:sp>
      <p:sp>
        <p:nvSpPr>
          <p:cNvPr id="8" name="Text 5"/>
          <p:cNvSpPr txBox="1"/>
          <p:nvPr/>
        </p:nvSpPr>
        <p:spPr>
          <a:xfrm>
            <a:off x="502920" y="6556248"/>
            <a:ext cx="7772400" cy="164592"/>
          </a:xfrm>
          <a:prstGeom prst="rect">
            <a:avLst/>
          </a:prstGeom>
          <a:noFill/>
          <a:ln/>
        </p:spPr>
        <p:txBody>
          <a:bodyPr wrap="square" lIns="0" tIns="0" rIns="0" bIns="0" rtlCol="0" anchor="ctr"/>
          <a:lstStyle/>
          <a:p>
            <a:pPr indent="0" marL="0">
              <a:buNone/>
            </a:pPr>
            <a:r>
              <a:rPr lang="en-US" sz="850" dirty="0">
                <a:solidFill>
                  <a:srgbClr val="8796AD"/>
                </a:solidFill>
                <a:latin typeface="Calibri" pitchFamily="34" charset="0"/>
                <a:ea typeface="Calibri" pitchFamily="34" charset="-122"/>
                <a:cs typeface="Calibri" pitchFamily="34" charset="-120"/>
              </a:rPr>
              <a:t>NetSec  ·  Redes + Segurança + Automação</a:t>
            </a:r>
            <a:endParaRPr lang="en-US" sz="850" dirty="0"/>
          </a:p>
        </p:txBody>
      </p:sp>
      <p:sp>
        <p:nvSpPr>
          <p:cNvPr id="9" name="Text 6"/>
          <p:cNvSpPr txBox="1"/>
          <p:nvPr/>
        </p:nvSpPr>
        <p:spPr>
          <a:xfrm>
            <a:off x="11292840" y="6547104"/>
            <a:ext cx="320040" cy="182880"/>
          </a:xfrm>
          <a:prstGeom prst="rect">
            <a:avLst/>
          </a:prstGeom>
          <a:noFill/>
          <a:ln/>
        </p:spPr>
        <p:txBody>
          <a:bodyPr wrap="square" lIns="0" tIns="0" rIns="0" bIns="0" rtlCol="0" anchor="ctr"/>
          <a:lstStyle/>
          <a:p>
            <a:pPr algn="r" indent="0" marL="0">
              <a:buNone/>
            </a:pPr>
            <a:r>
              <a:rPr lang="en-US" sz="850" dirty="0">
                <a:solidFill>
                  <a:srgbClr val="8796AD"/>
                </a:solidFill>
                <a:latin typeface="Calibri" pitchFamily="34" charset="0"/>
                <a:ea typeface="Calibri" pitchFamily="34" charset="-122"/>
                <a:cs typeface="Calibri" pitchFamily="34" charset="-120"/>
              </a:rPr>
              <a:t>8</a:t>
            </a:r>
            <a:endParaRPr lang="en-US" sz="850" dirty="0"/>
          </a:p>
        </p:txBody>
      </p:sp>
      <p:sp>
        <p:nvSpPr>
          <p:cNvPr id="10" name="Shape 7"/>
          <p:cNvSpPr/>
          <p:nvPr/>
        </p:nvSpPr>
        <p:spPr>
          <a:xfrm>
            <a:off x="685800" y="1691640"/>
            <a:ext cx="6995160" cy="4416552"/>
          </a:xfrm>
          <a:prstGeom prst="roundRect">
            <a:avLst>
              <a:gd name="adj" fmla="val 2484"/>
            </a:avLst>
          </a:prstGeom>
          <a:solidFill>
            <a:srgbClr val="060A19"/>
          </a:solidFill>
          <a:ln w="7620">
            <a:solidFill>
              <a:srgbClr val="283449"/>
            </a:solidFill>
            <a:prstDash val="solid"/>
          </a:ln>
        </p:spPr>
      </p:sp>
      <p:sp>
        <p:nvSpPr>
          <p:cNvPr id="11" name="Text 8"/>
          <p:cNvSpPr txBox="1"/>
          <p:nvPr/>
        </p:nvSpPr>
        <p:spPr>
          <a:xfrm>
            <a:off x="905256" y="1856232"/>
            <a:ext cx="6556248" cy="452120"/>
          </a:xfrm>
          <a:prstGeom prst="rect">
            <a:avLst/>
          </a:prstGeom>
          <a:noFill/>
          <a:ln/>
        </p:spPr>
        <p:txBody>
          <a:bodyPr wrap="square" lIns="0" tIns="0" rIns="0" bIns="0" rtlCol="0" anchor="ctr"/>
          <a:lstStyle/>
          <a:p>
            <a:pPr indent="0" marL="0">
              <a:buNone/>
            </a:pPr>
            <a:r>
              <a:rPr lang="en-US" sz="1900" dirty="0">
                <a:solidFill>
                  <a:srgbClr val="7B6FF0"/>
                </a:solidFill>
                <a:latin typeface="Courier New" pitchFamily="34" charset="0"/>
                <a:ea typeface="Courier New" pitchFamily="34" charset="-122"/>
                <a:cs typeface="Courier New" pitchFamily="34" charset="-120"/>
              </a:rPr>
              <a:t>int</a:t>
            </a:r>
            <a:pPr indent="0" marL="0">
              <a:buNone/>
            </a:pPr>
            <a:r>
              <a:rPr lang="en-US" sz="1900" dirty="0">
                <a:solidFill>
                  <a:srgbClr val="F8FAFC"/>
                </a:solidFill>
                <a:latin typeface="Courier New" pitchFamily="34" charset="0"/>
                <a:ea typeface="Courier New" pitchFamily="34" charset="-122"/>
                <a:cs typeface="Courier New" pitchFamily="34" charset="-120"/>
              </a:rPr>
              <a:t> passes = </a:t>
            </a:r>
            <a:pPr indent="0" marL="0">
              <a:buNone/>
            </a:pPr>
            <a:r>
              <a:rPr lang="en-US" sz="1900" dirty="0">
                <a:solidFill>
                  <a:srgbClr val="10BCD8"/>
                </a:solidFill>
                <a:latin typeface="Courier New" pitchFamily="34" charset="0"/>
                <a:ea typeface="Courier New" pitchFamily="34" charset="-122"/>
                <a:cs typeface="Courier New" pitchFamily="34" charset="-120"/>
              </a:rPr>
              <a:t>3</a:t>
            </a:r>
            <a:pPr indent="0" marL="0">
              <a:buNone/>
            </a:pPr>
            <a:r>
              <a:rPr lang="en-US" sz="1900" dirty="0">
                <a:solidFill>
                  <a:srgbClr val="F8FAFC"/>
                </a:solidFill>
                <a:latin typeface="Courier New" pitchFamily="34" charset="0"/>
                <a:ea typeface="Courier New" pitchFamily="34" charset="-122"/>
                <a:cs typeface="Courier New" pitchFamily="34" charset="-120"/>
              </a:rPr>
              <a:t>;</a:t>
            </a:r>
            <a:endParaRPr lang="en-US" sz="1900" dirty="0"/>
          </a:p>
        </p:txBody>
      </p:sp>
      <p:sp>
        <p:nvSpPr>
          <p:cNvPr id="12" name="Text 9"/>
          <p:cNvSpPr txBox="1"/>
          <p:nvPr/>
        </p:nvSpPr>
        <p:spPr>
          <a:xfrm>
            <a:off x="905256" y="2308352"/>
            <a:ext cx="6556248" cy="452120"/>
          </a:xfrm>
          <a:prstGeom prst="rect">
            <a:avLst/>
          </a:prstGeom>
          <a:noFill/>
          <a:ln/>
        </p:spPr>
        <p:txBody>
          <a:bodyPr wrap="square" lIns="0" tIns="0" rIns="0" bIns="0" rtlCol="0" anchor="ctr"/>
          <a:lstStyle/>
          <a:p>
            <a:pPr indent="0" marL="0">
              <a:buNone/>
            </a:pPr>
            <a:r>
              <a:rPr lang="en-US" sz="1900" dirty="0">
                <a:solidFill>
                  <a:srgbClr val="8796AD"/>
                </a:solidFill>
                <a:latin typeface="Courier New" pitchFamily="34" charset="0"/>
                <a:ea typeface="Courier New" pitchFamily="34" charset="-122"/>
                <a:cs typeface="Courier New" pitchFamily="34" charset="-120"/>
              </a:rPr>
              <a:t>// Inside a play:</a:t>
            </a:r>
            <a:endParaRPr lang="en-US" sz="1900" dirty="0"/>
          </a:p>
        </p:txBody>
      </p:sp>
      <p:sp>
        <p:nvSpPr>
          <p:cNvPr id="13" name="Text 10"/>
          <p:cNvSpPr txBox="1"/>
          <p:nvPr/>
        </p:nvSpPr>
        <p:spPr>
          <a:xfrm>
            <a:off x="905256" y="2760472"/>
            <a:ext cx="6556248" cy="452120"/>
          </a:xfrm>
          <a:prstGeom prst="rect">
            <a:avLst/>
          </a:prstGeom>
          <a:noFill/>
          <a:ln/>
        </p:spPr>
        <p:txBody>
          <a:bodyPr wrap="square" lIns="0" tIns="0" rIns="0" bIns="0" rtlCol="0" anchor="ctr"/>
          <a:lstStyle/>
          <a:p>
            <a:pPr indent="0" marL="0">
              <a:buNone/>
            </a:pPr>
            <a:r>
              <a:rPr lang="en-US" sz="1900" dirty="0">
                <a:solidFill>
                  <a:srgbClr val="7B6FF0"/>
                </a:solidFill>
                <a:latin typeface="Courier New" pitchFamily="34" charset="0"/>
                <a:ea typeface="Courier New" pitchFamily="34" charset="-122"/>
                <a:cs typeface="Courier New" pitchFamily="34" charset="-120"/>
              </a:rPr>
              <a:t>if</a:t>
            </a:r>
            <a:pPr indent="0" marL="0">
              <a:buNone/>
            </a:pPr>
            <a:r>
              <a:rPr lang="en-US" sz="1900" dirty="0">
                <a:solidFill>
                  <a:srgbClr val="F8FAFC"/>
                </a:solidFill>
                <a:latin typeface="Courier New" pitchFamily="34" charset="0"/>
                <a:ea typeface="Courier New" pitchFamily="34" charset="-122"/>
                <a:cs typeface="Courier New" pitchFamily="34" charset="-120"/>
              </a:rPr>
              <a:t> current_host </a:t>
            </a:r>
            <a:pPr indent="0" marL="0">
              <a:buNone/>
            </a:pPr>
            <a:r>
              <a:rPr lang="en-US" sz="1900" dirty="0">
                <a:solidFill>
                  <a:srgbClr val="7B6FF0"/>
                </a:solidFill>
                <a:latin typeface="Courier New" pitchFamily="34" charset="0"/>
                <a:ea typeface="Courier New" pitchFamily="34" charset="-122"/>
                <a:cs typeface="Courier New" pitchFamily="34" charset="-120"/>
              </a:rPr>
              <a:t>in</a:t>
            </a:r>
            <a:pPr indent="0" marL="0">
              <a:buNone/>
            </a:pPr>
            <a:r>
              <a:rPr lang="en-US" sz="1900" dirty="0">
                <a:solidFill>
                  <a:srgbClr val="F8FAFC"/>
                </a:solidFill>
                <a:latin typeface="Courier New" pitchFamily="34" charset="0"/>
                <a:ea typeface="Courier New" pitchFamily="34" charset="-122"/>
                <a:cs typeface="Courier New" pitchFamily="34" charset="-120"/>
              </a:rPr>
              <a:t> trusted {</a:t>
            </a:r>
            <a:endParaRPr lang="en-US" sz="1900" dirty="0"/>
          </a:p>
        </p:txBody>
      </p:sp>
      <p:sp>
        <p:nvSpPr>
          <p:cNvPr id="14" name="Text 11"/>
          <p:cNvSpPr txBox="1"/>
          <p:nvPr/>
        </p:nvSpPr>
        <p:spPr>
          <a:xfrm>
            <a:off x="905256" y="3212592"/>
            <a:ext cx="6556248" cy="452120"/>
          </a:xfrm>
          <a:prstGeom prst="rect">
            <a:avLst/>
          </a:prstGeom>
          <a:noFill/>
          <a:ln/>
        </p:spPr>
        <p:txBody>
          <a:bodyPr wrap="square" lIns="0" tIns="0" rIns="0" bIns="0" rtlCol="0" anchor="ctr"/>
          <a:lstStyle/>
          <a:p>
            <a:pPr indent="0" marL="0">
              <a:buNone/>
            </a:pPr>
            <a:r>
              <a:rPr lang="en-US" sz="1900" dirty="0">
                <a:solidFill>
                  <a:srgbClr val="F8FAFC"/>
                </a:solidFill>
                <a:latin typeface="Courier New" pitchFamily="34" charset="0"/>
                <a:ea typeface="Courier New" pitchFamily="34" charset="-122"/>
                <a:cs typeface="Courier New" pitchFamily="34" charset="-120"/>
              </a:rPr>
              <a:t>  </a:t>
            </a:r>
            <a:pPr indent="0" marL="0">
              <a:buNone/>
            </a:pPr>
            <a:r>
              <a:rPr lang="en-US" sz="1900" dirty="0">
                <a:solidFill>
                  <a:srgbClr val="7B6FF0"/>
                </a:solidFill>
                <a:latin typeface="Courier New" pitchFamily="34" charset="0"/>
                <a:ea typeface="Courier New" pitchFamily="34" charset="-122"/>
                <a:cs typeface="Courier New" pitchFamily="34" charset="-120"/>
              </a:rPr>
              <a:t>int</a:t>
            </a:r>
            <a:pPr indent="0" marL="0">
              <a:buNone/>
            </a:pPr>
            <a:r>
              <a:rPr lang="en-US" sz="1900" dirty="0">
                <a:solidFill>
                  <a:srgbClr val="F8FAFC"/>
                </a:solidFill>
                <a:latin typeface="Courier New" pitchFamily="34" charset="0"/>
                <a:ea typeface="Courier New" pitchFamily="34" charset="-122"/>
                <a:cs typeface="Courier New" pitchFamily="34" charset="-120"/>
              </a:rPr>
              <a:t> passes = </a:t>
            </a:r>
            <a:pPr indent="0" marL="0">
              <a:buNone/>
            </a:pPr>
            <a:r>
              <a:rPr lang="en-US" sz="1900" dirty="0">
                <a:solidFill>
                  <a:srgbClr val="10BCD8"/>
                </a:solidFill>
                <a:latin typeface="Courier New" pitchFamily="34" charset="0"/>
                <a:ea typeface="Courier New" pitchFamily="34" charset="-122"/>
                <a:cs typeface="Courier New" pitchFamily="34" charset="-120"/>
              </a:rPr>
              <a:t>2</a:t>
            </a:r>
            <a:pPr indent="0" marL="0">
              <a:buNone/>
            </a:pPr>
            <a:r>
              <a:rPr lang="en-US" sz="1900" dirty="0">
                <a:solidFill>
                  <a:srgbClr val="F8FAFC"/>
                </a:solidFill>
                <a:latin typeface="Courier New" pitchFamily="34" charset="0"/>
                <a:ea typeface="Courier New" pitchFamily="34" charset="-122"/>
                <a:cs typeface="Courier New" pitchFamily="34" charset="-120"/>
              </a:rPr>
              <a:t>;</a:t>
            </a:r>
            <a:endParaRPr lang="en-US" sz="1900" dirty="0"/>
          </a:p>
        </p:txBody>
      </p:sp>
      <p:sp>
        <p:nvSpPr>
          <p:cNvPr id="15" name="Text 12"/>
          <p:cNvSpPr txBox="1"/>
          <p:nvPr/>
        </p:nvSpPr>
        <p:spPr>
          <a:xfrm>
            <a:off x="905256" y="3664712"/>
            <a:ext cx="6556248" cy="452120"/>
          </a:xfrm>
          <a:prstGeom prst="rect">
            <a:avLst/>
          </a:prstGeom>
          <a:noFill/>
          <a:ln/>
        </p:spPr>
        <p:txBody>
          <a:bodyPr wrap="square" lIns="0" tIns="0" rIns="0" bIns="0" rtlCol="0" anchor="ctr"/>
          <a:lstStyle/>
          <a:p>
            <a:pPr indent="0" marL="0">
              <a:buNone/>
            </a:pPr>
            <a:r>
              <a:rPr lang="en-US" sz="1900" dirty="0">
                <a:solidFill>
                  <a:srgbClr val="F8FAFC"/>
                </a:solidFill>
                <a:latin typeface="Courier New" pitchFamily="34" charset="0"/>
                <a:ea typeface="Courier New" pitchFamily="34" charset="-122"/>
                <a:cs typeface="Courier New" pitchFamily="34" charset="-120"/>
              </a:rPr>
              <a:t>  </a:t>
            </a:r>
            <a:pPr indent="0" marL="0">
              <a:buNone/>
            </a:pPr>
            <a:r>
              <a:rPr lang="en-US" sz="1900" dirty="0">
                <a:solidFill>
                  <a:srgbClr val="7B6FF0"/>
                </a:solidFill>
                <a:latin typeface="Courier New" pitchFamily="34" charset="0"/>
                <a:ea typeface="Courier New" pitchFamily="34" charset="-122"/>
                <a:cs typeface="Courier New" pitchFamily="34" charset="-120"/>
              </a:rPr>
              <a:t>repeat</a:t>
            </a:r>
            <a:pPr indent="0" marL="0">
              <a:buNone/>
            </a:pPr>
            <a:r>
              <a:rPr lang="en-US" sz="1900" dirty="0">
                <a:solidFill>
                  <a:srgbClr val="F8FAFC"/>
                </a:solidFill>
                <a:latin typeface="Courier New" pitchFamily="34" charset="0"/>
                <a:ea typeface="Courier New" pitchFamily="34" charset="-122"/>
                <a:cs typeface="Courier New" pitchFamily="34" charset="-120"/>
              </a:rPr>
              <a:t> passes {</a:t>
            </a:r>
            <a:endParaRPr lang="en-US" sz="1900" dirty="0"/>
          </a:p>
        </p:txBody>
      </p:sp>
      <p:sp>
        <p:nvSpPr>
          <p:cNvPr id="16" name="Text 13"/>
          <p:cNvSpPr txBox="1"/>
          <p:nvPr/>
        </p:nvSpPr>
        <p:spPr>
          <a:xfrm>
            <a:off x="905256" y="4116832"/>
            <a:ext cx="6556248" cy="452120"/>
          </a:xfrm>
          <a:prstGeom prst="rect">
            <a:avLst/>
          </a:prstGeom>
          <a:noFill/>
          <a:ln/>
        </p:spPr>
        <p:txBody>
          <a:bodyPr wrap="square" lIns="0" tIns="0" rIns="0" bIns="0" rtlCol="0" anchor="ctr"/>
          <a:lstStyle/>
          <a:p>
            <a:pPr indent="0" marL="0">
              <a:buNone/>
            </a:pPr>
            <a:r>
              <a:rPr lang="en-US" sz="1900" dirty="0">
                <a:solidFill>
                  <a:srgbClr val="F8FAFC"/>
                </a:solidFill>
                <a:latin typeface="Courier New" pitchFamily="34" charset="0"/>
                <a:ea typeface="Courier New" pitchFamily="34" charset="-122"/>
                <a:cs typeface="Courier New" pitchFamily="34" charset="-120"/>
              </a:rPr>
              <a:t>    </a:t>
            </a:r>
            <a:pPr indent="0" marL="0">
              <a:buNone/>
            </a:pPr>
            <a:r>
              <a:rPr lang="en-US" sz="1900" dirty="0">
                <a:solidFill>
                  <a:srgbClr val="7B6FF0"/>
                </a:solidFill>
                <a:latin typeface="Courier New" pitchFamily="34" charset="0"/>
                <a:ea typeface="Courier New" pitchFamily="34" charset="-122"/>
                <a:cs typeface="Courier New" pitchFamily="34" charset="-120"/>
              </a:rPr>
              <a:t>check</a:t>
            </a:r>
            <a:pPr indent="0" marL="0">
              <a:buNone/>
            </a:pPr>
            <a:r>
              <a:rPr lang="en-US" sz="1900" dirty="0">
                <a:solidFill>
                  <a:srgbClr val="F8FAFC"/>
                </a:solidFill>
                <a:latin typeface="Courier New" pitchFamily="34" charset="0"/>
                <a:ea typeface="Courier New" pitchFamily="34" charset="-122"/>
                <a:cs typeface="Courier New" pitchFamily="34" charset="-120"/>
              </a:rPr>
              <a:t> </a:t>
            </a:r>
            <a:pPr indent="0" marL="0">
              <a:buNone/>
            </a:pPr>
            <a:r>
              <a:rPr lang="en-US" sz="1900" dirty="0">
                <a:solidFill>
                  <a:srgbClr val="7B6FF0"/>
                </a:solidFill>
                <a:latin typeface="Courier New" pitchFamily="34" charset="0"/>
                <a:ea typeface="Courier New" pitchFamily="34" charset="-122"/>
                <a:cs typeface="Courier New" pitchFamily="34" charset="-120"/>
              </a:rPr>
              <a:t>service</a:t>
            </a:r>
            <a:pPr indent="0" marL="0">
              <a:buNone/>
            </a:pPr>
            <a:r>
              <a:rPr lang="en-US" sz="1900" dirty="0">
                <a:solidFill>
                  <a:srgbClr val="F8FAFC"/>
                </a:solidFill>
                <a:latin typeface="Courier New" pitchFamily="34" charset="0"/>
                <a:ea typeface="Courier New" pitchFamily="34" charset="-122"/>
                <a:cs typeface="Courier New" pitchFamily="34" charset="-120"/>
              </a:rPr>
              <a:t> </a:t>
            </a:r>
            <a:pPr indent="0" marL="0">
              <a:buNone/>
            </a:pPr>
            <a:r>
              <a:rPr lang="en-US" sz="1900" dirty="0">
                <a:solidFill>
                  <a:srgbClr val="4ADE80"/>
                </a:solidFill>
                <a:latin typeface="Courier New" pitchFamily="34" charset="0"/>
                <a:ea typeface="Courier New" pitchFamily="34" charset="-122"/>
                <a:cs typeface="Courier New" pitchFamily="34" charset="-120"/>
              </a:rPr>
              <a:t>"http"</a:t>
            </a:r>
            <a:pPr indent="0" marL="0">
              <a:buNone/>
            </a:pPr>
            <a:r>
              <a:rPr lang="en-US" sz="1900" dirty="0">
                <a:solidFill>
                  <a:srgbClr val="F8FAFC"/>
                </a:solidFill>
                <a:latin typeface="Courier New" pitchFamily="34" charset="0"/>
                <a:ea typeface="Courier New" pitchFamily="34" charset="-122"/>
                <a:cs typeface="Courier New" pitchFamily="34" charset="-120"/>
              </a:rPr>
              <a:t>;</a:t>
            </a:r>
            <a:endParaRPr lang="en-US" sz="1900" dirty="0"/>
          </a:p>
        </p:txBody>
      </p:sp>
      <p:sp>
        <p:nvSpPr>
          <p:cNvPr id="17" name="Text 14"/>
          <p:cNvSpPr txBox="1"/>
          <p:nvPr/>
        </p:nvSpPr>
        <p:spPr>
          <a:xfrm>
            <a:off x="905256" y="4568952"/>
            <a:ext cx="6556248" cy="452120"/>
          </a:xfrm>
          <a:prstGeom prst="rect">
            <a:avLst/>
          </a:prstGeom>
          <a:noFill/>
          <a:ln/>
        </p:spPr>
        <p:txBody>
          <a:bodyPr wrap="square" lIns="0" tIns="0" rIns="0" bIns="0" rtlCol="0" anchor="ctr"/>
          <a:lstStyle/>
          <a:p>
            <a:pPr indent="0" marL="0">
              <a:buNone/>
            </a:pPr>
            <a:r>
              <a:rPr lang="en-US" sz="1900" dirty="0">
                <a:solidFill>
                  <a:srgbClr val="F8FAFC"/>
                </a:solidFill>
                <a:latin typeface="Courier New" pitchFamily="34" charset="0"/>
                <a:ea typeface="Courier New" pitchFamily="34" charset="-122"/>
                <a:cs typeface="Courier New" pitchFamily="34" charset="-120"/>
              </a:rPr>
              <a:t>  }</a:t>
            </a:r>
            <a:endParaRPr lang="en-US" sz="1900" dirty="0"/>
          </a:p>
        </p:txBody>
      </p:sp>
      <p:sp>
        <p:nvSpPr>
          <p:cNvPr id="18" name="Text 15"/>
          <p:cNvSpPr txBox="1"/>
          <p:nvPr/>
        </p:nvSpPr>
        <p:spPr>
          <a:xfrm>
            <a:off x="905256" y="5021072"/>
            <a:ext cx="6556248" cy="452120"/>
          </a:xfrm>
          <a:prstGeom prst="rect">
            <a:avLst/>
          </a:prstGeom>
          <a:noFill/>
          <a:ln/>
        </p:spPr>
        <p:txBody>
          <a:bodyPr wrap="square" lIns="0" tIns="0" rIns="0" bIns="0" rtlCol="0" anchor="ctr"/>
          <a:lstStyle/>
          <a:p>
            <a:pPr indent="0" marL="0">
              <a:buNone/>
            </a:pPr>
            <a:r>
              <a:rPr lang="en-US" sz="1900" dirty="0">
                <a:solidFill>
                  <a:srgbClr val="F8FAFC"/>
                </a:solidFill>
                <a:latin typeface="Courier New" pitchFamily="34" charset="0"/>
                <a:ea typeface="Courier New" pitchFamily="34" charset="-122"/>
                <a:cs typeface="Courier New" pitchFamily="34" charset="-120"/>
              </a:rPr>
              <a:t>}</a:t>
            </a:r>
            <a:endParaRPr lang="en-US" sz="1900" dirty="0"/>
          </a:p>
        </p:txBody>
      </p:sp>
      <p:sp>
        <p:nvSpPr>
          <p:cNvPr id="19" name="Text 16"/>
          <p:cNvSpPr txBox="1"/>
          <p:nvPr/>
        </p:nvSpPr>
        <p:spPr>
          <a:xfrm>
            <a:off x="905256" y="5473192"/>
            <a:ext cx="6556248" cy="452120"/>
          </a:xfrm>
          <a:prstGeom prst="rect">
            <a:avLst/>
          </a:prstGeom>
          <a:noFill/>
          <a:ln/>
        </p:spPr>
        <p:txBody>
          <a:bodyPr wrap="square" lIns="0" tIns="0" rIns="0" bIns="0" rtlCol="0" anchor="ctr"/>
          <a:lstStyle/>
          <a:p>
            <a:pPr indent="0" marL="0">
              <a:buNone/>
            </a:pPr>
            <a:r>
              <a:rPr lang="en-US" sz="1900" dirty="0">
                <a:solidFill>
                  <a:srgbClr val="7B6FF0"/>
                </a:solidFill>
                <a:latin typeface="Courier New" pitchFamily="34" charset="0"/>
                <a:ea typeface="Courier New" pitchFamily="34" charset="-122"/>
                <a:cs typeface="Courier New" pitchFamily="34" charset="-120"/>
              </a:rPr>
              <a:t>report</a:t>
            </a:r>
            <a:pPr indent="0" marL="0">
              <a:buNone/>
            </a:pPr>
            <a:r>
              <a:rPr lang="en-US" sz="1900" dirty="0">
                <a:solidFill>
                  <a:srgbClr val="F8FAFC"/>
                </a:solidFill>
                <a:latin typeface="Courier New" pitchFamily="34" charset="0"/>
                <a:ea typeface="Courier New" pitchFamily="34" charset="-122"/>
                <a:cs typeface="Courier New" pitchFamily="34" charset="-120"/>
              </a:rPr>
              <a:t> passes;</a:t>
            </a:r>
            <a:endParaRPr lang="en-US" sz="1900" dirty="0"/>
          </a:p>
        </p:txBody>
      </p:sp>
      <p:sp>
        <p:nvSpPr>
          <p:cNvPr id="20" name="Shape 17"/>
          <p:cNvSpPr/>
          <p:nvPr/>
        </p:nvSpPr>
        <p:spPr>
          <a:xfrm>
            <a:off x="7973568" y="1847088"/>
            <a:ext cx="530352" cy="530352"/>
          </a:xfrm>
          <a:prstGeom prst="ellipse">
            <a:avLst/>
          </a:prstGeom>
          <a:solidFill>
            <a:srgbClr val="10BCD8"/>
          </a:solidFill>
          <a:ln w="12700">
            <a:solidFill>
              <a:srgbClr val="10BCD8">
                <a:alpha val="0"/>
              </a:srgbClr>
            </a:solidFill>
            <a:prstDash val="solid"/>
          </a:ln>
        </p:spPr>
      </p:sp>
      <p:pic>
        <p:nvPicPr>
          <p:cNvPr id="21" name="Image 1" descr="preencoded.png">    </p:cNvPr>
          <p:cNvPicPr>
            <a:picLocks noChangeAspect="1"/>
          </p:cNvPicPr>
          <p:nvPr/>
        </p:nvPicPr>
        <p:blipFill>
          <a:blip r:embed="rId2"/>
          <a:stretch>
            <a:fillRect/>
          </a:stretch>
        </p:blipFill>
        <p:spPr>
          <a:xfrm>
            <a:off x="8095549" y="1969069"/>
            <a:ext cx="286390" cy="286390"/>
          </a:xfrm>
          <a:prstGeom prst="rect">
            <a:avLst/>
          </a:prstGeom>
        </p:spPr>
      </p:pic>
      <p:sp>
        <p:nvSpPr>
          <p:cNvPr id="22" name="Text 18"/>
          <p:cNvSpPr txBox="1"/>
          <p:nvPr/>
        </p:nvSpPr>
        <p:spPr>
          <a:xfrm>
            <a:off x="8705088" y="1828800"/>
            <a:ext cx="2788920" cy="384048"/>
          </a:xfrm>
          <a:prstGeom prst="rect">
            <a:avLst/>
          </a:prstGeom>
          <a:noFill/>
          <a:ln/>
        </p:spPr>
        <p:txBody>
          <a:bodyPr wrap="square" lIns="0" tIns="0" rIns="0" bIns="0"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Escopo interno</a:t>
            </a:r>
            <a:endParaRPr lang="en-US" sz="2100" dirty="0"/>
          </a:p>
        </p:txBody>
      </p:sp>
      <p:sp>
        <p:nvSpPr>
          <p:cNvPr id="23" name="Text 19"/>
          <p:cNvSpPr txBox="1"/>
          <p:nvPr/>
        </p:nvSpPr>
        <p:spPr>
          <a:xfrm>
            <a:off x="8705088" y="2276856"/>
            <a:ext cx="2788920" cy="758952"/>
          </a:xfrm>
          <a:prstGeom prst="rect">
            <a:avLst/>
          </a:prstGeom>
          <a:noFill/>
          <a:ln/>
        </p:spPr>
        <p:txBody>
          <a:bodyPr wrap="square" lIns="0" tIns="0" rIns="0" bIns="0" rtlCol="0" anchor="t"/>
          <a:lstStyle/>
          <a:p>
            <a:pPr indent="0" marL="0">
              <a:buNone/>
            </a:pPr>
            <a:r>
              <a:rPr lang="en-US" sz="1800" dirty="0">
                <a:solidFill>
                  <a:srgbClr val="CBD5E1"/>
                </a:solidFill>
                <a:latin typeface="Calibri" pitchFamily="34" charset="0"/>
                <a:ea typeface="Calibri" pitchFamily="34" charset="-122"/>
                <a:cs typeface="Calibri" pitchFamily="34" charset="-120"/>
              </a:rPr>
              <a:t>passes vale 2 somente dentro do if.</a:t>
            </a:r>
            <a:endParaRPr lang="en-US" sz="1800" dirty="0"/>
          </a:p>
        </p:txBody>
      </p:sp>
      <p:sp>
        <p:nvSpPr>
          <p:cNvPr id="24" name="Shape 20"/>
          <p:cNvSpPr/>
          <p:nvPr/>
        </p:nvSpPr>
        <p:spPr>
          <a:xfrm>
            <a:off x="7973568" y="3319272"/>
            <a:ext cx="530352" cy="530352"/>
          </a:xfrm>
          <a:prstGeom prst="ellipse">
            <a:avLst/>
          </a:prstGeom>
          <a:solidFill>
            <a:srgbClr val="7B6FF0"/>
          </a:solidFill>
          <a:ln w="12700">
            <a:solidFill>
              <a:srgbClr val="7B6FF0">
                <a:alpha val="0"/>
              </a:srgbClr>
            </a:solidFill>
            <a:prstDash val="solid"/>
          </a:ln>
        </p:spPr>
      </p:sp>
      <p:pic>
        <p:nvPicPr>
          <p:cNvPr id="25" name="Image 2" descr="preencoded.png">    </p:cNvPr>
          <p:cNvPicPr>
            <a:picLocks noChangeAspect="1"/>
          </p:cNvPicPr>
          <p:nvPr/>
        </p:nvPicPr>
        <p:blipFill>
          <a:blip r:embed="rId3"/>
          <a:stretch>
            <a:fillRect/>
          </a:stretch>
        </p:blipFill>
        <p:spPr>
          <a:xfrm>
            <a:off x="8095549" y="3441253"/>
            <a:ext cx="286390" cy="286390"/>
          </a:xfrm>
          <a:prstGeom prst="rect">
            <a:avLst/>
          </a:prstGeom>
        </p:spPr>
      </p:pic>
      <p:sp>
        <p:nvSpPr>
          <p:cNvPr id="26" name="Text 21"/>
          <p:cNvSpPr txBox="1"/>
          <p:nvPr/>
        </p:nvSpPr>
        <p:spPr>
          <a:xfrm>
            <a:off x="8705088" y="3300984"/>
            <a:ext cx="2788920" cy="384048"/>
          </a:xfrm>
          <a:prstGeom prst="rect">
            <a:avLst/>
          </a:prstGeom>
          <a:noFill/>
          <a:ln/>
        </p:spPr>
        <p:txBody>
          <a:bodyPr wrap="square" lIns="0" tIns="0" rIns="0" bIns="0"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Expansão</a:t>
            </a:r>
            <a:endParaRPr lang="en-US" sz="2100" dirty="0"/>
          </a:p>
        </p:txBody>
      </p:sp>
      <p:sp>
        <p:nvSpPr>
          <p:cNvPr id="27" name="Text 22"/>
          <p:cNvSpPr txBox="1"/>
          <p:nvPr/>
        </p:nvSpPr>
        <p:spPr>
          <a:xfrm>
            <a:off x="8705088" y="3749040"/>
            <a:ext cx="2788920" cy="758952"/>
          </a:xfrm>
          <a:prstGeom prst="rect">
            <a:avLst/>
          </a:prstGeom>
          <a:noFill/>
          <a:ln/>
        </p:spPr>
        <p:txBody>
          <a:bodyPr wrap="square" lIns="0" tIns="0" rIns="0" bIns="0" rtlCol="0" anchor="t"/>
          <a:lstStyle/>
          <a:p>
            <a:pPr indent="0" marL="0">
              <a:buNone/>
            </a:pPr>
            <a:r>
              <a:rPr lang="en-US" sz="1800" dirty="0">
                <a:solidFill>
                  <a:srgbClr val="CBD5E1"/>
                </a:solidFill>
                <a:latin typeface="Calibri" pitchFamily="34" charset="0"/>
                <a:ea typeface="Calibri" pitchFamily="34" charset="-122"/>
                <a:cs typeface="Calibri" pitchFamily="34" charset="-120"/>
              </a:rPr>
              <a:t>O compilador emite dois checks HTTP.</a:t>
            </a:r>
            <a:endParaRPr lang="en-US" sz="1800" dirty="0"/>
          </a:p>
        </p:txBody>
      </p:sp>
      <p:sp>
        <p:nvSpPr>
          <p:cNvPr id="28" name="Shape 23"/>
          <p:cNvSpPr/>
          <p:nvPr/>
        </p:nvSpPr>
        <p:spPr>
          <a:xfrm>
            <a:off x="7973568" y="4791456"/>
            <a:ext cx="530352" cy="530352"/>
          </a:xfrm>
          <a:prstGeom prst="ellipse">
            <a:avLst/>
          </a:prstGeom>
          <a:solidFill>
            <a:srgbClr val="10BCD8"/>
          </a:solidFill>
          <a:ln w="12700">
            <a:solidFill>
              <a:srgbClr val="10BCD8">
                <a:alpha val="0"/>
              </a:srgbClr>
            </a:solidFill>
            <a:prstDash val="solid"/>
          </a:ln>
        </p:spPr>
      </p:sp>
      <p:pic>
        <p:nvPicPr>
          <p:cNvPr id="29" name="Image 3" descr="preencoded.png">    </p:cNvPr>
          <p:cNvPicPr>
            <a:picLocks noChangeAspect="1"/>
          </p:cNvPicPr>
          <p:nvPr/>
        </p:nvPicPr>
        <p:blipFill>
          <a:blip r:embed="rId4"/>
          <a:stretch>
            <a:fillRect/>
          </a:stretch>
        </p:blipFill>
        <p:spPr>
          <a:xfrm>
            <a:off x="8095549" y="4913437"/>
            <a:ext cx="286390" cy="286390"/>
          </a:xfrm>
          <a:prstGeom prst="rect">
            <a:avLst/>
          </a:prstGeom>
        </p:spPr>
      </p:pic>
      <p:sp>
        <p:nvSpPr>
          <p:cNvPr id="30" name="Text 24"/>
          <p:cNvSpPr txBox="1"/>
          <p:nvPr/>
        </p:nvSpPr>
        <p:spPr>
          <a:xfrm>
            <a:off x="8705088" y="4773168"/>
            <a:ext cx="2788920" cy="384048"/>
          </a:xfrm>
          <a:prstGeom prst="rect">
            <a:avLst/>
          </a:prstGeom>
          <a:noFill/>
          <a:ln/>
        </p:spPr>
        <p:txBody>
          <a:bodyPr wrap="square" lIns="0" tIns="0" rIns="0" bIns="0"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Após o bloco</a:t>
            </a:r>
            <a:endParaRPr lang="en-US" sz="2100" dirty="0"/>
          </a:p>
        </p:txBody>
      </p:sp>
      <p:sp>
        <p:nvSpPr>
          <p:cNvPr id="31" name="Text 25"/>
          <p:cNvSpPr txBox="1"/>
          <p:nvPr/>
        </p:nvSpPr>
        <p:spPr>
          <a:xfrm>
            <a:off x="8705088" y="5221224"/>
            <a:ext cx="2788920" cy="758952"/>
          </a:xfrm>
          <a:prstGeom prst="rect">
            <a:avLst/>
          </a:prstGeom>
          <a:noFill/>
          <a:ln/>
        </p:spPr>
        <p:txBody>
          <a:bodyPr wrap="square" lIns="0" tIns="0" rIns="0" bIns="0" rtlCol="0" anchor="t"/>
          <a:lstStyle/>
          <a:p>
            <a:pPr indent="0" marL="0">
              <a:buNone/>
            </a:pPr>
            <a:r>
              <a:rPr lang="en-US" sz="1800" dirty="0">
                <a:solidFill>
                  <a:srgbClr val="CBD5E1"/>
                </a:solidFill>
                <a:latin typeface="Calibri" pitchFamily="34" charset="0"/>
                <a:ea typeface="Calibri" pitchFamily="34" charset="-122"/>
                <a:cs typeface="Calibri" pitchFamily="34" charset="-120"/>
              </a:rPr>
              <a:t>report passes produz 3.</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324"/>
        </a:solidFill>
      </p:bgPr>
    </p:bg>
    <p:spTree>
      <p:nvGrpSpPr>
        <p:cNvPr id="1" name=""/>
        <p:cNvGrpSpPr/>
        <p:nvPr/>
      </p:nvGrpSpPr>
      <p:grpSpPr>
        <a:xfrm>
          <a:off x="0" y="0"/>
          <a:ext cx="0" cy="0"/>
          <a:chOff x="0" y="0"/>
          <a:chExt cx="0" cy="0"/>
        </a:xfrm>
      </p:grpSpPr>
      <p:sp>
        <p:nvSpPr>
          <p:cNvPr id="2" name="Shape 0"/>
          <p:cNvSpPr/>
          <p:nvPr/>
        </p:nvSpPr>
        <p:spPr>
          <a:xfrm>
            <a:off x="-1024128" y="-1005840"/>
            <a:ext cx="3456432" cy="3364992"/>
          </a:xfrm>
          <a:prstGeom prst="ellipse">
            <a:avLst/>
          </a:prstGeom>
          <a:solidFill>
            <a:srgbClr val="122B3F"/>
          </a:solidFill>
          <a:ln w="12700">
            <a:solidFill>
              <a:srgbClr val="333333">
                <a:alpha val="0"/>
              </a:srgbClr>
            </a:solidFill>
            <a:prstDash val="solid"/>
          </a:ln>
        </p:spPr>
      </p:sp>
      <p:sp>
        <p:nvSpPr>
          <p:cNvPr id="3" name="Shape 1"/>
          <p:cNvSpPr/>
          <p:nvPr/>
        </p:nvSpPr>
        <p:spPr>
          <a:xfrm>
            <a:off x="8686800" y="4709160"/>
            <a:ext cx="4663440" cy="3310128"/>
          </a:xfrm>
          <a:prstGeom prst="ellipse">
            <a:avLst/>
          </a:prstGeom>
          <a:solidFill>
            <a:srgbClr val="1D1D40"/>
          </a:solidFill>
          <a:ln w="12700">
            <a:solidFill>
              <a:srgbClr val="333333">
                <a:alpha val="0"/>
              </a:srgbClr>
            </a:solidFill>
            <a:prstDash val="solid"/>
          </a:ln>
        </p:spPr>
      </p:sp>
      <p:sp>
        <p:nvSpPr>
          <p:cNvPr id="4" name="Text 2"/>
          <p:cNvSpPr txBox="1"/>
          <p:nvPr/>
        </p:nvSpPr>
        <p:spPr>
          <a:xfrm>
            <a:off x="594360" y="292608"/>
            <a:ext cx="10469880" cy="530352"/>
          </a:xfrm>
          <a:prstGeom prst="rect">
            <a:avLst/>
          </a:prstGeom>
          <a:noFill/>
          <a:ln/>
        </p:spPr>
        <p:txBody>
          <a:bodyPr wrap="square" lIns="0" tIns="0" rIns="0" bIns="0" rtlCol="0" anchor="ctr"/>
          <a:lstStyle/>
          <a:p>
            <a:pPr algn="ctr" indent="0" marL="0">
              <a:buNone/>
            </a:pPr>
            <a:r>
              <a:rPr lang="en-US" sz="2900" b="1" dirty="0">
                <a:solidFill>
                  <a:srgbClr val="F8FAFC"/>
                </a:solidFill>
                <a:latin typeface="Arial" pitchFamily="34" charset="0"/>
                <a:ea typeface="Arial" pitchFamily="34" charset="-122"/>
                <a:cs typeface="Arial" pitchFamily="34" charset="-120"/>
              </a:rPr>
              <a:t>Erro semântico: conflito por </a:t>
            </a:r>
            <a:pPr algn="ctr" indent="0" marL="0">
              <a:buNone/>
            </a:pPr>
            <a:r>
              <a:rPr lang="en-US" sz="2900" b="1" dirty="0">
                <a:solidFill>
                  <a:srgbClr val="10BCD8"/>
                </a:solidFill>
                <a:latin typeface="Arial" pitchFamily="34" charset="0"/>
                <a:ea typeface="Arial" pitchFamily="34" charset="-122"/>
                <a:cs typeface="Arial" pitchFamily="34" charset="-120"/>
              </a:rPr>
              <a:t>IP</a:t>
            </a:r>
            <a:endParaRPr lang="en-US" sz="2900" dirty="0"/>
          </a:p>
        </p:txBody>
      </p:sp>
      <p:sp>
        <p:nvSpPr>
          <p:cNvPr id="5" name="Shape 3"/>
          <p:cNvSpPr/>
          <p:nvPr/>
        </p:nvSpPr>
        <p:spPr>
          <a:xfrm>
            <a:off x="10991088" y="310896"/>
            <a:ext cx="621792" cy="621792"/>
          </a:xfrm>
          <a:prstGeom prst="ellipse">
            <a:avLst/>
          </a:prstGeom>
          <a:solidFill>
            <a:srgbClr val="7B6FF0"/>
          </a:solidFill>
          <a:ln w="12700">
            <a:solidFill>
              <a:srgbClr val="7B6FF0">
                <a:alpha val="0"/>
              </a:srgbClr>
            </a:solidFill>
            <a:prstDash val="solid"/>
          </a:ln>
        </p:spPr>
      </p:sp>
      <p:pic>
        <p:nvPicPr>
          <p:cNvPr id="6" name="Image 0" descr="preencoded.png">    </p:cNvPr>
          <p:cNvPicPr>
            <a:picLocks noChangeAspect="1"/>
          </p:cNvPicPr>
          <p:nvPr/>
        </p:nvPicPr>
        <p:blipFill>
          <a:blip r:embed="rId1"/>
          <a:stretch>
            <a:fillRect/>
          </a:stretch>
        </p:blipFill>
        <p:spPr>
          <a:xfrm>
            <a:off x="11134100" y="453908"/>
            <a:ext cx="335768" cy="335768"/>
          </a:xfrm>
          <a:prstGeom prst="rect">
            <a:avLst/>
          </a:prstGeom>
        </p:spPr>
      </p:pic>
      <p:sp>
        <p:nvSpPr>
          <p:cNvPr id="7" name="Text 4"/>
          <p:cNvSpPr txBox="1"/>
          <p:nvPr/>
        </p:nvSpPr>
        <p:spPr>
          <a:xfrm>
            <a:off x="685800" y="987552"/>
            <a:ext cx="10789920" cy="384048"/>
          </a:xfrm>
          <a:prstGeom prst="rect">
            <a:avLst/>
          </a:prstGeom>
          <a:noFill/>
          <a:ln/>
        </p:spPr>
        <p:txBody>
          <a:bodyPr wrap="square" lIns="0" tIns="0" rIns="0" bIns="0" rtlCol="0" anchor="ctr"/>
          <a:lstStyle/>
          <a:p>
            <a:pPr algn="ctr" indent="0" marL="0">
              <a:buNone/>
            </a:pPr>
            <a:r>
              <a:rPr lang="en-US" sz="1800" dirty="0">
                <a:solidFill>
                  <a:srgbClr val="CBD5E1"/>
                </a:solidFill>
                <a:latin typeface="Calibri" pitchFamily="34" charset="0"/>
                <a:ea typeface="Calibri" pitchFamily="34" charset="-122"/>
                <a:cs typeface="Calibri" pitchFamily="34" charset="-120"/>
              </a:rPr>
              <a:t>Grupos diferentes não tornam válidas duas políticas opostas</a:t>
            </a:r>
            <a:endParaRPr lang="en-US" sz="1800" dirty="0"/>
          </a:p>
        </p:txBody>
      </p:sp>
      <p:sp>
        <p:nvSpPr>
          <p:cNvPr id="8" name="Text 5"/>
          <p:cNvSpPr txBox="1"/>
          <p:nvPr/>
        </p:nvSpPr>
        <p:spPr>
          <a:xfrm>
            <a:off x="502920" y="6556248"/>
            <a:ext cx="7772400" cy="164592"/>
          </a:xfrm>
          <a:prstGeom prst="rect">
            <a:avLst/>
          </a:prstGeom>
          <a:noFill/>
          <a:ln/>
        </p:spPr>
        <p:txBody>
          <a:bodyPr wrap="square" lIns="0" tIns="0" rIns="0" bIns="0" rtlCol="0" anchor="ctr"/>
          <a:lstStyle/>
          <a:p>
            <a:pPr indent="0" marL="0">
              <a:buNone/>
            </a:pPr>
            <a:r>
              <a:rPr lang="en-US" sz="850" dirty="0">
                <a:solidFill>
                  <a:srgbClr val="8796AD"/>
                </a:solidFill>
                <a:latin typeface="Calibri" pitchFamily="34" charset="0"/>
                <a:ea typeface="Calibri" pitchFamily="34" charset="-122"/>
                <a:cs typeface="Calibri" pitchFamily="34" charset="-120"/>
              </a:rPr>
              <a:t>NetSec  ·  Redes + Segurança + Automação</a:t>
            </a:r>
            <a:endParaRPr lang="en-US" sz="850" dirty="0"/>
          </a:p>
        </p:txBody>
      </p:sp>
      <p:sp>
        <p:nvSpPr>
          <p:cNvPr id="9" name="Text 6"/>
          <p:cNvSpPr txBox="1"/>
          <p:nvPr/>
        </p:nvSpPr>
        <p:spPr>
          <a:xfrm>
            <a:off x="11292840" y="6547104"/>
            <a:ext cx="320040" cy="182880"/>
          </a:xfrm>
          <a:prstGeom prst="rect">
            <a:avLst/>
          </a:prstGeom>
          <a:noFill/>
          <a:ln/>
        </p:spPr>
        <p:txBody>
          <a:bodyPr wrap="square" lIns="0" tIns="0" rIns="0" bIns="0" rtlCol="0" anchor="ctr"/>
          <a:lstStyle/>
          <a:p>
            <a:pPr algn="r" indent="0" marL="0">
              <a:buNone/>
            </a:pPr>
            <a:r>
              <a:rPr lang="en-US" sz="850" dirty="0">
                <a:solidFill>
                  <a:srgbClr val="8796AD"/>
                </a:solidFill>
                <a:latin typeface="Calibri" pitchFamily="34" charset="0"/>
                <a:ea typeface="Calibri" pitchFamily="34" charset="-122"/>
                <a:cs typeface="Calibri" pitchFamily="34" charset="-120"/>
              </a:rPr>
              <a:t>9</a:t>
            </a:r>
            <a:endParaRPr lang="en-US" sz="850" dirty="0"/>
          </a:p>
        </p:txBody>
      </p:sp>
      <p:sp>
        <p:nvSpPr>
          <p:cNvPr id="10" name="Shape 7"/>
          <p:cNvSpPr/>
          <p:nvPr/>
        </p:nvSpPr>
        <p:spPr>
          <a:xfrm>
            <a:off x="685800" y="1691640"/>
            <a:ext cx="5239512" cy="2788920"/>
          </a:xfrm>
          <a:prstGeom prst="roundRect">
            <a:avLst>
              <a:gd name="adj" fmla="val 3934"/>
            </a:avLst>
          </a:prstGeom>
          <a:solidFill>
            <a:srgbClr val="1E293B"/>
          </a:solidFill>
          <a:ln w="7620">
            <a:solidFill>
              <a:srgbClr val="283449"/>
            </a:solidFill>
            <a:prstDash val="solid"/>
          </a:ln>
        </p:spPr>
      </p:sp>
      <p:sp>
        <p:nvSpPr>
          <p:cNvPr id="11" name="Text 8"/>
          <p:cNvSpPr txBox="1"/>
          <p:nvPr/>
        </p:nvSpPr>
        <p:spPr>
          <a:xfrm>
            <a:off x="960120" y="1947672"/>
            <a:ext cx="4690872" cy="411480"/>
          </a:xfrm>
          <a:prstGeom prst="rect">
            <a:avLst/>
          </a:prstGeom>
          <a:noFill/>
          <a:ln/>
        </p:spPr>
        <p:txBody>
          <a:bodyPr wrap="square" lIns="0" tIns="0" rIns="0" bIns="0" rtlCol="0" anchor="ctr"/>
          <a:lstStyle/>
          <a:p>
            <a:pPr indent="0" marL="0">
              <a:buNone/>
            </a:pPr>
            <a:r>
              <a:rPr lang="en-US" sz="2400" b="1" dirty="0">
                <a:solidFill>
                  <a:srgbClr val="F8FAFC"/>
                </a:solidFill>
                <a:latin typeface="Calibri" pitchFamily="34" charset="0"/>
                <a:ea typeface="Calibri" pitchFamily="34" charset="-122"/>
                <a:cs typeface="Calibri" pitchFamily="34" charset="-120"/>
              </a:rPr>
              <a:t>Grupo first</a:t>
            </a:r>
            <a:endParaRPr lang="en-US" sz="2400" dirty="0"/>
          </a:p>
        </p:txBody>
      </p:sp>
      <p:sp>
        <p:nvSpPr>
          <p:cNvPr id="12" name="Text 9"/>
          <p:cNvSpPr txBox="1"/>
          <p:nvPr/>
        </p:nvSpPr>
        <p:spPr>
          <a:xfrm>
            <a:off x="960120" y="2542032"/>
            <a:ext cx="4690872" cy="411480"/>
          </a:xfrm>
          <a:prstGeom prst="rect">
            <a:avLst/>
          </a:prstGeom>
          <a:noFill/>
          <a:ln/>
        </p:spPr>
        <p:txBody>
          <a:bodyPr wrap="square" lIns="0" tIns="0" rIns="0" bIns="0" rtlCol="0" anchor="ctr"/>
          <a:lstStyle/>
          <a:p>
            <a:pPr indent="0" marL="0">
              <a:buNone/>
            </a:pPr>
            <a:r>
              <a:rPr lang="en-US" sz="2500" dirty="0">
                <a:solidFill>
                  <a:srgbClr val="10BCD8"/>
                </a:solidFill>
                <a:latin typeface="Courier New" pitchFamily="34" charset="0"/>
                <a:ea typeface="Courier New" pitchFamily="34" charset="-122"/>
                <a:cs typeface="Courier New" pitchFamily="34" charset="-120"/>
              </a:rPr>
              <a:t>192.0.2.10</a:t>
            </a:r>
            <a:endParaRPr lang="en-US" sz="2500" dirty="0"/>
          </a:p>
        </p:txBody>
      </p:sp>
      <p:sp>
        <p:nvSpPr>
          <p:cNvPr id="13" name="Shape 10"/>
          <p:cNvSpPr/>
          <p:nvPr/>
        </p:nvSpPr>
        <p:spPr>
          <a:xfrm>
            <a:off x="941832" y="3246120"/>
            <a:ext cx="4727448" cy="868680"/>
          </a:xfrm>
          <a:prstGeom prst="roundRect">
            <a:avLst>
              <a:gd name="adj" fmla="val 12632"/>
            </a:avLst>
          </a:prstGeom>
          <a:solidFill>
            <a:srgbClr val="060A19"/>
          </a:solidFill>
          <a:ln w="7620">
            <a:solidFill>
              <a:srgbClr val="283449"/>
            </a:solidFill>
            <a:prstDash val="solid"/>
          </a:ln>
        </p:spPr>
      </p:sp>
      <p:sp>
        <p:nvSpPr>
          <p:cNvPr id="14" name="Text 11"/>
          <p:cNvSpPr txBox="1"/>
          <p:nvPr/>
        </p:nvSpPr>
        <p:spPr>
          <a:xfrm>
            <a:off x="1161288" y="3410712"/>
            <a:ext cx="4288536" cy="260604"/>
          </a:xfrm>
          <a:prstGeom prst="rect">
            <a:avLst/>
          </a:prstGeom>
          <a:noFill/>
          <a:ln/>
        </p:spPr>
        <p:txBody>
          <a:bodyPr wrap="square" lIns="0" tIns="0" rIns="0" bIns="0" rtlCol="0" anchor="ctr"/>
          <a:lstStyle/>
          <a:p>
            <a:pPr indent="0" marL="0">
              <a:buNone/>
            </a:pPr>
            <a:r>
              <a:rPr lang="en-US" sz="1800" dirty="0">
                <a:solidFill>
                  <a:srgbClr val="7B6FF0"/>
                </a:solidFill>
                <a:latin typeface="Courier New" pitchFamily="34" charset="0"/>
                <a:ea typeface="Courier New" pitchFamily="34" charset="-122"/>
                <a:cs typeface="Courier New" pitchFamily="34" charset="-120"/>
              </a:rPr>
              <a:t>firewall</a:t>
            </a:r>
            <a:pPr indent="0" marL="0">
              <a:buNone/>
            </a:pPr>
            <a:r>
              <a:rPr lang="en-US" sz="1800" dirty="0">
                <a:solidFill>
                  <a:srgbClr val="F8FAFC"/>
                </a:solidFill>
                <a:latin typeface="Courier New" pitchFamily="34" charset="0"/>
                <a:ea typeface="Courier New" pitchFamily="34" charset="-122"/>
                <a:cs typeface="Courier New" pitchFamily="34" charset="-120"/>
              </a:rPr>
              <a:t> </a:t>
            </a:r>
            <a:pPr indent="0" marL="0">
              <a:buNone/>
            </a:pPr>
            <a:r>
              <a:rPr lang="en-US" sz="1800" dirty="0">
                <a:solidFill>
                  <a:srgbClr val="7B6FF0"/>
                </a:solidFill>
                <a:latin typeface="Courier New" pitchFamily="34" charset="0"/>
                <a:ea typeface="Courier New" pitchFamily="34" charset="-122"/>
                <a:cs typeface="Courier New" pitchFamily="34" charset="-120"/>
              </a:rPr>
              <a:t>allow</a:t>
            </a:r>
            <a:pPr indent="0" marL="0">
              <a:buNone/>
            </a:pPr>
            <a:r>
              <a:rPr lang="en-US" sz="1800" dirty="0">
                <a:solidFill>
                  <a:srgbClr val="F8FAFC"/>
                </a:solidFill>
                <a:latin typeface="Courier New" pitchFamily="34" charset="0"/>
                <a:ea typeface="Courier New" pitchFamily="34" charset="-122"/>
                <a:cs typeface="Courier New" pitchFamily="34" charset="-120"/>
              </a:rPr>
              <a:t> </a:t>
            </a:r>
            <a:pPr indent="0" marL="0">
              <a:buNone/>
            </a:pPr>
            <a:r>
              <a:rPr lang="en-US" sz="1800" dirty="0">
                <a:solidFill>
                  <a:srgbClr val="7B6FF0"/>
                </a:solidFill>
                <a:latin typeface="Courier New" pitchFamily="34" charset="0"/>
                <a:ea typeface="Courier New" pitchFamily="34" charset="-122"/>
                <a:cs typeface="Courier New" pitchFamily="34" charset="-120"/>
              </a:rPr>
              <a:t>port</a:t>
            </a:r>
            <a:pPr indent="0" marL="0">
              <a:buNone/>
            </a:pPr>
            <a:r>
              <a:rPr lang="en-US" sz="1800" dirty="0">
                <a:solidFill>
                  <a:srgbClr val="F8FAFC"/>
                </a:solidFill>
                <a:latin typeface="Courier New" pitchFamily="34" charset="0"/>
                <a:ea typeface="Courier New" pitchFamily="34" charset="-122"/>
                <a:cs typeface="Courier New" pitchFamily="34" charset="-120"/>
              </a:rPr>
              <a:t> </a:t>
            </a:r>
            <a:pPr indent="0" marL="0">
              <a:buNone/>
            </a:pPr>
            <a:r>
              <a:rPr lang="en-US" sz="1800" dirty="0">
                <a:solidFill>
                  <a:srgbClr val="10BCD8"/>
                </a:solidFill>
                <a:latin typeface="Courier New" pitchFamily="34" charset="0"/>
                <a:ea typeface="Courier New" pitchFamily="34" charset="-122"/>
                <a:cs typeface="Courier New" pitchFamily="34" charset="-120"/>
              </a:rPr>
              <a:t>22</a:t>
            </a:r>
            <a:endParaRPr lang="en-US" sz="1800" dirty="0"/>
          </a:p>
        </p:txBody>
      </p:sp>
      <p:sp>
        <p:nvSpPr>
          <p:cNvPr id="15" name="Text 12"/>
          <p:cNvSpPr txBox="1"/>
          <p:nvPr/>
        </p:nvSpPr>
        <p:spPr>
          <a:xfrm>
            <a:off x="1161288" y="3671316"/>
            <a:ext cx="4288536" cy="260604"/>
          </a:xfrm>
          <a:prstGeom prst="rect">
            <a:avLst/>
          </a:prstGeom>
          <a:noFill/>
          <a:ln/>
        </p:spPr>
        <p:txBody>
          <a:bodyPr wrap="square" lIns="0" tIns="0" rIns="0" bIns="0" rtlCol="0" anchor="ctr"/>
          <a:lstStyle/>
          <a:p>
            <a:pPr indent="0" marL="0">
              <a:buNone/>
            </a:pPr>
            <a:r>
              <a:rPr lang="en-US" sz="1800" dirty="0">
                <a:solidFill>
                  <a:srgbClr val="F8FAFC"/>
                </a:solidFill>
                <a:latin typeface="Courier New" pitchFamily="34" charset="0"/>
                <a:ea typeface="Courier New" pitchFamily="34" charset="-122"/>
                <a:cs typeface="Courier New" pitchFamily="34" charset="-120"/>
              </a:rPr>
              <a:t>  </a:t>
            </a:r>
            <a:pPr indent="0" marL="0">
              <a:buNone/>
            </a:pPr>
            <a:r>
              <a:rPr lang="en-US" sz="1800" dirty="0">
                <a:solidFill>
                  <a:srgbClr val="7B6FF0"/>
                </a:solidFill>
                <a:latin typeface="Courier New" pitchFamily="34" charset="0"/>
                <a:ea typeface="Courier New" pitchFamily="34" charset="-122"/>
                <a:cs typeface="Courier New" pitchFamily="34" charset="-120"/>
              </a:rPr>
              <a:t>protocol</a:t>
            </a:r>
            <a:pPr indent="0" marL="0">
              <a:buNone/>
            </a:pPr>
            <a:r>
              <a:rPr lang="en-US" sz="1800" dirty="0">
                <a:solidFill>
                  <a:srgbClr val="F8FAFC"/>
                </a:solidFill>
                <a:latin typeface="Courier New" pitchFamily="34" charset="0"/>
                <a:ea typeface="Courier New" pitchFamily="34" charset="-122"/>
                <a:cs typeface="Courier New" pitchFamily="34" charset="-120"/>
              </a:rPr>
              <a:t> tcp;</a:t>
            </a:r>
            <a:endParaRPr lang="en-US" sz="1800" dirty="0"/>
          </a:p>
        </p:txBody>
      </p:sp>
      <p:sp>
        <p:nvSpPr>
          <p:cNvPr id="16" name="Text 13"/>
          <p:cNvSpPr txBox="1"/>
          <p:nvPr/>
        </p:nvSpPr>
        <p:spPr>
          <a:xfrm>
            <a:off x="4069080" y="1920240"/>
            <a:ext cx="1554480" cy="365760"/>
          </a:xfrm>
          <a:prstGeom prst="rect">
            <a:avLst/>
          </a:prstGeom>
          <a:noFill/>
          <a:ln/>
        </p:spPr>
        <p:txBody>
          <a:bodyPr wrap="square" lIns="0" tIns="0" rIns="0" bIns="0" rtlCol="0" anchor="ctr"/>
          <a:lstStyle/>
          <a:p>
            <a:pPr algn="r" indent="0" marL="0">
              <a:buNone/>
            </a:pPr>
            <a:r>
              <a:rPr lang="en-US" sz="1900" b="1" dirty="0">
                <a:solidFill>
                  <a:srgbClr val="4ADE80"/>
                </a:solidFill>
                <a:latin typeface="Calibri" pitchFamily="34" charset="0"/>
                <a:ea typeface="Calibri" pitchFamily="34" charset="-122"/>
                <a:cs typeface="Calibri" pitchFamily="34" charset="-120"/>
              </a:rPr>
              <a:t>Permitir</a:t>
            </a:r>
            <a:endParaRPr lang="en-US" sz="1900" dirty="0"/>
          </a:p>
        </p:txBody>
      </p:sp>
      <p:sp>
        <p:nvSpPr>
          <p:cNvPr id="17" name="Shape 14"/>
          <p:cNvSpPr/>
          <p:nvPr/>
        </p:nvSpPr>
        <p:spPr>
          <a:xfrm>
            <a:off x="6291072" y="1691640"/>
            <a:ext cx="5239512" cy="2788920"/>
          </a:xfrm>
          <a:prstGeom prst="roundRect">
            <a:avLst>
              <a:gd name="adj" fmla="val 3934"/>
            </a:avLst>
          </a:prstGeom>
          <a:solidFill>
            <a:srgbClr val="1E293B"/>
          </a:solidFill>
          <a:ln w="7620">
            <a:solidFill>
              <a:srgbClr val="283449"/>
            </a:solidFill>
            <a:prstDash val="solid"/>
          </a:ln>
        </p:spPr>
      </p:sp>
      <p:sp>
        <p:nvSpPr>
          <p:cNvPr id="18" name="Text 15"/>
          <p:cNvSpPr txBox="1"/>
          <p:nvPr/>
        </p:nvSpPr>
        <p:spPr>
          <a:xfrm>
            <a:off x="6565392" y="1947672"/>
            <a:ext cx="4690872" cy="411480"/>
          </a:xfrm>
          <a:prstGeom prst="rect">
            <a:avLst/>
          </a:prstGeom>
          <a:noFill/>
          <a:ln/>
        </p:spPr>
        <p:txBody>
          <a:bodyPr wrap="square" lIns="0" tIns="0" rIns="0" bIns="0" rtlCol="0" anchor="ctr"/>
          <a:lstStyle/>
          <a:p>
            <a:pPr indent="0" marL="0">
              <a:buNone/>
            </a:pPr>
            <a:r>
              <a:rPr lang="en-US" sz="2400" b="1" dirty="0">
                <a:solidFill>
                  <a:srgbClr val="F8FAFC"/>
                </a:solidFill>
                <a:latin typeface="Calibri" pitchFamily="34" charset="0"/>
                <a:ea typeface="Calibri" pitchFamily="34" charset="-122"/>
                <a:cs typeface="Calibri" pitchFamily="34" charset="-120"/>
              </a:rPr>
              <a:t>Grupo alias</a:t>
            </a:r>
            <a:endParaRPr lang="en-US" sz="2400" dirty="0"/>
          </a:p>
        </p:txBody>
      </p:sp>
      <p:sp>
        <p:nvSpPr>
          <p:cNvPr id="19" name="Text 16"/>
          <p:cNvSpPr txBox="1"/>
          <p:nvPr/>
        </p:nvSpPr>
        <p:spPr>
          <a:xfrm>
            <a:off x="6565392" y="2542032"/>
            <a:ext cx="4690872" cy="411480"/>
          </a:xfrm>
          <a:prstGeom prst="rect">
            <a:avLst/>
          </a:prstGeom>
          <a:noFill/>
          <a:ln/>
        </p:spPr>
        <p:txBody>
          <a:bodyPr wrap="square" lIns="0" tIns="0" rIns="0" bIns="0" rtlCol="0" anchor="ctr"/>
          <a:lstStyle/>
          <a:p>
            <a:pPr indent="0" marL="0">
              <a:buNone/>
            </a:pPr>
            <a:r>
              <a:rPr lang="en-US" sz="2500" dirty="0">
                <a:solidFill>
                  <a:srgbClr val="10BCD8"/>
                </a:solidFill>
                <a:latin typeface="Courier New" pitchFamily="34" charset="0"/>
                <a:ea typeface="Courier New" pitchFamily="34" charset="-122"/>
                <a:cs typeface="Courier New" pitchFamily="34" charset="-120"/>
              </a:rPr>
              <a:t>192.0.2.10</a:t>
            </a:r>
            <a:endParaRPr lang="en-US" sz="2500" dirty="0"/>
          </a:p>
        </p:txBody>
      </p:sp>
      <p:sp>
        <p:nvSpPr>
          <p:cNvPr id="20" name="Shape 17"/>
          <p:cNvSpPr/>
          <p:nvPr/>
        </p:nvSpPr>
        <p:spPr>
          <a:xfrm>
            <a:off x="6547104" y="3246120"/>
            <a:ext cx="4727448" cy="868680"/>
          </a:xfrm>
          <a:prstGeom prst="roundRect">
            <a:avLst>
              <a:gd name="adj" fmla="val 12632"/>
            </a:avLst>
          </a:prstGeom>
          <a:solidFill>
            <a:srgbClr val="060A19"/>
          </a:solidFill>
          <a:ln w="7620">
            <a:solidFill>
              <a:srgbClr val="283449"/>
            </a:solidFill>
            <a:prstDash val="solid"/>
          </a:ln>
        </p:spPr>
      </p:sp>
      <p:sp>
        <p:nvSpPr>
          <p:cNvPr id="21" name="Text 18"/>
          <p:cNvSpPr txBox="1"/>
          <p:nvPr/>
        </p:nvSpPr>
        <p:spPr>
          <a:xfrm>
            <a:off x="6766560" y="3410712"/>
            <a:ext cx="4288536" cy="260604"/>
          </a:xfrm>
          <a:prstGeom prst="rect">
            <a:avLst/>
          </a:prstGeom>
          <a:noFill/>
          <a:ln/>
        </p:spPr>
        <p:txBody>
          <a:bodyPr wrap="square" lIns="0" tIns="0" rIns="0" bIns="0" rtlCol="0" anchor="ctr"/>
          <a:lstStyle/>
          <a:p>
            <a:pPr indent="0" marL="0">
              <a:buNone/>
            </a:pPr>
            <a:r>
              <a:rPr lang="en-US" sz="1800" dirty="0">
                <a:solidFill>
                  <a:srgbClr val="7B6FF0"/>
                </a:solidFill>
                <a:latin typeface="Courier New" pitchFamily="34" charset="0"/>
                <a:ea typeface="Courier New" pitchFamily="34" charset="-122"/>
                <a:cs typeface="Courier New" pitchFamily="34" charset="-120"/>
              </a:rPr>
              <a:t>firewall</a:t>
            </a:r>
            <a:pPr indent="0" marL="0">
              <a:buNone/>
            </a:pPr>
            <a:r>
              <a:rPr lang="en-US" sz="1800" dirty="0">
                <a:solidFill>
                  <a:srgbClr val="F8FAFC"/>
                </a:solidFill>
                <a:latin typeface="Courier New" pitchFamily="34" charset="0"/>
                <a:ea typeface="Courier New" pitchFamily="34" charset="-122"/>
                <a:cs typeface="Courier New" pitchFamily="34" charset="-120"/>
              </a:rPr>
              <a:t> </a:t>
            </a:r>
            <a:pPr indent="0" marL="0">
              <a:buNone/>
            </a:pPr>
            <a:r>
              <a:rPr lang="en-US" sz="1800" dirty="0">
                <a:solidFill>
                  <a:srgbClr val="FF4E58"/>
                </a:solidFill>
                <a:latin typeface="Courier New" pitchFamily="34" charset="0"/>
                <a:ea typeface="Courier New" pitchFamily="34" charset="-122"/>
                <a:cs typeface="Courier New" pitchFamily="34" charset="-120"/>
              </a:rPr>
              <a:t>deny</a:t>
            </a:r>
            <a:pPr indent="0" marL="0">
              <a:buNone/>
            </a:pPr>
            <a:r>
              <a:rPr lang="en-US" sz="1800" dirty="0">
                <a:solidFill>
                  <a:srgbClr val="F8FAFC"/>
                </a:solidFill>
                <a:latin typeface="Courier New" pitchFamily="34" charset="0"/>
                <a:ea typeface="Courier New" pitchFamily="34" charset="-122"/>
                <a:cs typeface="Courier New" pitchFamily="34" charset="-120"/>
              </a:rPr>
              <a:t> </a:t>
            </a:r>
            <a:pPr indent="0" marL="0">
              <a:buNone/>
            </a:pPr>
            <a:r>
              <a:rPr lang="en-US" sz="1800" dirty="0">
                <a:solidFill>
                  <a:srgbClr val="7B6FF0"/>
                </a:solidFill>
                <a:latin typeface="Courier New" pitchFamily="34" charset="0"/>
                <a:ea typeface="Courier New" pitchFamily="34" charset="-122"/>
                <a:cs typeface="Courier New" pitchFamily="34" charset="-120"/>
              </a:rPr>
              <a:t>port</a:t>
            </a:r>
            <a:pPr indent="0" marL="0">
              <a:buNone/>
            </a:pPr>
            <a:r>
              <a:rPr lang="en-US" sz="1800" dirty="0">
                <a:solidFill>
                  <a:srgbClr val="F8FAFC"/>
                </a:solidFill>
                <a:latin typeface="Courier New" pitchFamily="34" charset="0"/>
                <a:ea typeface="Courier New" pitchFamily="34" charset="-122"/>
                <a:cs typeface="Courier New" pitchFamily="34" charset="-120"/>
              </a:rPr>
              <a:t> </a:t>
            </a:r>
            <a:pPr indent="0" marL="0">
              <a:buNone/>
            </a:pPr>
            <a:r>
              <a:rPr lang="en-US" sz="1800" dirty="0">
                <a:solidFill>
                  <a:srgbClr val="10BCD8"/>
                </a:solidFill>
                <a:latin typeface="Courier New" pitchFamily="34" charset="0"/>
                <a:ea typeface="Courier New" pitchFamily="34" charset="-122"/>
                <a:cs typeface="Courier New" pitchFamily="34" charset="-120"/>
              </a:rPr>
              <a:t>22</a:t>
            </a:r>
            <a:endParaRPr lang="en-US" sz="1800" dirty="0"/>
          </a:p>
        </p:txBody>
      </p:sp>
      <p:sp>
        <p:nvSpPr>
          <p:cNvPr id="22" name="Text 19"/>
          <p:cNvSpPr txBox="1"/>
          <p:nvPr/>
        </p:nvSpPr>
        <p:spPr>
          <a:xfrm>
            <a:off x="6766560" y="3671316"/>
            <a:ext cx="4288536" cy="260604"/>
          </a:xfrm>
          <a:prstGeom prst="rect">
            <a:avLst/>
          </a:prstGeom>
          <a:noFill/>
          <a:ln/>
        </p:spPr>
        <p:txBody>
          <a:bodyPr wrap="square" lIns="0" tIns="0" rIns="0" bIns="0" rtlCol="0" anchor="ctr"/>
          <a:lstStyle/>
          <a:p>
            <a:pPr indent="0" marL="0">
              <a:buNone/>
            </a:pPr>
            <a:r>
              <a:rPr lang="en-US" sz="1800" dirty="0">
                <a:solidFill>
                  <a:srgbClr val="F8FAFC"/>
                </a:solidFill>
                <a:latin typeface="Courier New" pitchFamily="34" charset="0"/>
                <a:ea typeface="Courier New" pitchFamily="34" charset="-122"/>
                <a:cs typeface="Courier New" pitchFamily="34" charset="-120"/>
              </a:rPr>
              <a:t>  </a:t>
            </a:r>
            <a:pPr indent="0" marL="0">
              <a:buNone/>
            </a:pPr>
            <a:r>
              <a:rPr lang="en-US" sz="1800" dirty="0">
                <a:solidFill>
                  <a:srgbClr val="7B6FF0"/>
                </a:solidFill>
                <a:latin typeface="Courier New" pitchFamily="34" charset="0"/>
                <a:ea typeface="Courier New" pitchFamily="34" charset="-122"/>
                <a:cs typeface="Courier New" pitchFamily="34" charset="-120"/>
              </a:rPr>
              <a:t>protocol</a:t>
            </a:r>
            <a:pPr indent="0" marL="0">
              <a:buNone/>
            </a:pPr>
            <a:r>
              <a:rPr lang="en-US" sz="1800" dirty="0">
                <a:solidFill>
                  <a:srgbClr val="F8FAFC"/>
                </a:solidFill>
                <a:latin typeface="Courier New" pitchFamily="34" charset="0"/>
                <a:ea typeface="Courier New" pitchFamily="34" charset="-122"/>
                <a:cs typeface="Courier New" pitchFamily="34" charset="-120"/>
              </a:rPr>
              <a:t> tcp;</a:t>
            </a:r>
            <a:endParaRPr lang="en-US" sz="1800" dirty="0"/>
          </a:p>
        </p:txBody>
      </p:sp>
      <p:sp>
        <p:nvSpPr>
          <p:cNvPr id="23" name="Text 20"/>
          <p:cNvSpPr txBox="1"/>
          <p:nvPr/>
        </p:nvSpPr>
        <p:spPr>
          <a:xfrm>
            <a:off x="9674352" y="1920240"/>
            <a:ext cx="1554480" cy="365760"/>
          </a:xfrm>
          <a:prstGeom prst="rect">
            <a:avLst/>
          </a:prstGeom>
          <a:noFill/>
          <a:ln/>
        </p:spPr>
        <p:txBody>
          <a:bodyPr wrap="square" lIns="0" tIns="0" rIns="0" bIns="0" rtlCol="0" anchor="ctr"/>
          <a:lstStyle/>
          <a:p>
            <a:pPr algn="r" indent="0" marL="0">
              <a:buNone/>
            </a:pPr>
            <a:r>
              <a:rPr lang="en-US" sz="1900" b="1" dirty="0">
                <a:solidFill>
                  <a:srgbClr val="FF4E58"/>
                </a:solidFill>
                <a:latin typeface="Calibri" pitchFamily="34" charset="0"/>
                <a:ea typeface="Calibri" pitchFamily="34" charset="-122"/>
                <a:cs typeface="Calibri" pitchFamily="34" charset="-120"/>
              </a:rPr>
              <a:t>Bloquear</a:t>
            </a:r>
            <a:endParaRPr lang="en-US" sz="1900" dirty="0"/>
          </a:p>
        </p:txBody>
      </p:sp>
      <p:sp>
        <p:nvSpPr>
          <p:cNvPr id="24" name="Text 21"/>
          <p:cNvSpPr txBox="1"/>
          <p:nvPr/>
        </p:nvSpPr>
        <p:spPr>
          <a:xfrm>
            <a:off x="914400" y="4754880"/>
            <a:ext cx="10378440" cy="502920"/>
          </a:xfrm>
          <a:prstGeom prst="rect">
            <a:avLst/>
          </a:prstGeom>
          <a:noFill/>
          <a:ln/>
        </p:spPr>
        <p:txBody>
          <a:bodyPr wrap="square" lIns="0" tIns="0" rIns="0" bIns="0" rtlCol="0" anchor="ctr"/>
          <a:lstStyle/>
          <a:p>
            <a:pPr algn="ctr" indent="0" marL="0">
              <a:buNone/>
            </a:pPr>
            <a:r>
              <a:rPr lang="en-US" sz="2200" dirty="0">
                <a:solidFill>
                  <a:srgbClr val="F8FAFC"/>
                </a:solidFill>
                <a:latin typeface="Courier New" pitchFamily="34" charset="0"/>
                <a:ea typeface="Courier New" pitchFamily="34" charset="-122"/>
                <a:cs typeface="Courier New" pitchFamily="34" charset="-120"/>
              </a:rPr>
              <a:t>Chave semântica: (192.0.2.10, 22, tcp)</a:t>
            </a:r>
            <a:endParaRPr lang="en-US" sz="2200" dirty="0"/>
          </a:p>
        </p:txBody>
      </p:sp>
      <p:sp>
        <p:nvSpPr>
          <p:cNvPr id="25" name="Shape 22"/>
          <p:cNvSpPr/>
          <p:nvPr/>
        </p:nvSpPr>
        <p:spPr>
          <a:xfrm>
            <a:off x="868680" y="5440680"/>
            <a:ext cx="10469880" cy="731520"/>
          </a:xfrm>
          <a:prstGeom prst="roundRect">
            <a:avLst>
              <a:gd name="adj" fmla="val 15000"/>
            </a:avLst>
          </a:prstGeom>
          <a:solidFill>
            <a:srgbClr val="060A19"/>
          </a:solidFill>
          <a:ln w="7620">
            <a:solidFill>
              <a:srgbClr val="283449"/>
            </a:solidFill>
            <a:prstDash val="solid"/>
          </a:ln>
        </p:spPr>
      </p:sp>
      <p:sp>
        <p:nvSpPr>
          <p:cNvPr id="26" name="Text 23"/>
          <p:cNvSpPr txBox="1"/>
          <p:nvPr/>
        </p:nvSpPr>
        <p:spPr>
          <a:xfrm>
            <a:off x="1088136" y="5605272"/>
            <a:ext cx="10030968" cy="192024"/>
          </a:xfrm>
          <a:prstGeom prst="rect">
            <a:avLst/>
          </a:prstGeom>
          <a:noFill/>
          <a:ln/>
        </p:spPr>
        <p:txBody>
          <a:bodyPr wrap="square" lIns="0" tIns="0" rIns="0" bIns="0" rtlCol="0" anchor="ctr"/>
          <a:lstStyle/>
          <a:p>
            <a:pPr indent="0" marL="0">
              <a:buNone/>
            </a:pPr>
            <a:r>
              <a:rPr lang="en-US" sz="1800" dirty="0">
                <a:solidFill>
                  <a:srgbClr val="F8FAFC"/>
                </a:solidFill>
                <a:latin typeface="Courier New" pitchFamily="34" charset="0"/>
                <a:ea typeface="Courier New" pitchFamily="34" charset="-122"/>
                <a:cs typeface="Courier New" pitchFamily="34" charset="-120"/>
              </a:rPr>
              <a:t>04_rejected.netsec:</a:t>
            </a:r>
            <a:pPr indent="0" marL="0">
              <a:buNone/>
            </a:pPr>
            <a:r>
              <a:rPr lang="en-US" sz="1800" dirty="0">
                <a:solidFill>
                  <a:srgbClr val="10BCD8"/>
                </a:solidFill>
                <a:latin typeface="Courier New" pitchFamily="34" charset="0"/>
                <a:ea typeface="Courier New" pitchFamily="34" charset="-122"/>
                <a:cs typeface="Courier New" pitchFamily="34" charset="-120"/>
              </a:rPr>
              <a:t>12</a:t>
            </a:r>
            <a:pPr indent="0" marL="0">
              <a:buNone/>
            </a:pPr>
            <a:r>
              <a:rPr lang="en-US" sz="1800" dirty="0">
                <a:solidFill>
                  <a:srgbClr val="F8FAFC"/>
                </a:solidFill>
                <a:latin typeface="Courier New" pitchFamily="34" charset="0"/>
                <a:ea typeface="Courier New" pitchFamily="34" charset="-122"/>
                <a:cs typeface="Courier New" pitchFamily="34" charset="-120"/>
              </a:rPr>
              <a:t>:</a:t>
            </a:r>
            <a:pPr indent="0" marL="0">
              <a:buNone/>
            </a:pPr>
            <a:r>
              <a:rPr lang="en-US" sz="1800" dirty="0">
                <a:solidFill>
                  <a:srgbClr val="10BCD8"/>
                </a:solidFill>
                <a:latin typeface="Courier New" pitchFamily="34" charset="0"/>
                <a:ea typeface="Courier New" pitchFamily="34" charset="-122"/>
                <a:cs typeface="Courier New" pitchFamily="34" charset="-120"/>
              </a:rPr>
              <a:t>5</a:t>
            </a:r>
            <a:endParaRPr lang="en-US" sz="1800" dirty="0"/>
          </a:p>
        </p:txBody>
      </p:sp>
      <p:sp>
        <p:nvSpPr>
          <p:cNvPr id="27" name="Text 24"/>
          <p:cNvSpPr txBox="1"/>
          <p:nvPr/>
        </p:nvSpPr>
        <p:spPr>
          <a:xfrm>
            <a:off x="1088136" y="5797296"/>
            <a:ext cx="10030968" cy="192024"/>
          </a:xfrm>
          <a:prstGeom prst="rect">
            <a:avLst/>
          </a:prstGeom>
          <a:noFill/>
          <a:ln/>
        </p:spPr>
        <p:txBody>
          <a:bodyPr wrap="square" lIns="0" tIns="0" rIns="0" bIns="0" rtlCol="0" anchor="ctr"/>
          <a:lstStyle/>
          <a:p>
            <a:pPr indent="0" marL="0">
              <a:buNone/>
            </a:pPr>
            <a:r>
              <a:rPr lang="en-US" sz="1800" dirty="0">
                <a:solidFill>
                  <a:srgbClr val="F8FAFC"/>
                </a:solidFill>
                <a:latin typeface="Courier New" pitchFamily="34" charset="0"/>
                <a:ea typeface="Courier New" pitchFamily="34" charset="-122"/>
                <a:cs typeface="Courier New" pitchFamily="34" charset="-120"/>
              </a:rPr>
              <a:t>E_FIREWALL_CONFLICT: Contradictory policies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324"/>
        </a:solidFill>
      </p:bgPr>
    </p:bg>
    <p:spTree>
      <p:nvGrpSpPr>
        <p:cNvPr id="1" name=""/>
        <p:cNvGrpSpPr/>
        <p:nvPr/>
      </p:nvGrpSpPr>
      <p:grpSpPr>
        <a:xfrm>
          <a:off x="0" y="0"/>
          <a:ext cx="0" cy="0"/>
          <a:chOff x="0" y="0"/>
          <a:chExt cx="0" cy="0"/>
        </a:xfrm>
      </p:grpSpPr>
      <p:sp>
        <p:nvSpPr>
          <p:cNvPr id="2" name="Shape 0"/>
          <p:cNvSpPr/>
          <p:nvPr/>
        </p:nvSpPr>
        <p:spPr>
          <a:xfrm>
            <a:off x="-1024128" y="-1005840"/>
            <a:ext cx="3456432" cy="3364992"/>
          </a:xfrm>
          <a:prstGeom prst="ellipse">
            <a:avLst/>
          </a:prstGeom>
          <a:solidFill>
            <a:srgbClr val="122B3F"/>
          </a:solidFill>
          <a:ln w="12700">
            <a:solidFill>
              <a:srgbClr val="333333">
                <a:alpha val="0"/>
              </a:srgbClr>
            </a:solidFill>
            <a:prstDash val="solid"/>
          </a:ln>
        </p:spPr>
      </p:sp>
      <p:sp>
        <p:nvSpPr>
          <p:cNvPr id="3" name="Shape 1"/>
          <p:cNvSpPr/>
          <p:nvPr/>
        </p:nvSpPr>
        <p:spPr>
          <a:xfrm>
            <a:off x="8686800" y="4709160"/>
            <a:ext cx="4663440" cy="3310128"/>
          </a:xfrm>
          <a:prstGeom prst="ellipse">
            <a:avLst/>
          </a:prstGeom>
          <a:solidFill>
            <a:srgbClr val="1D1D40"/>
          </a:solidFill>
          <a:ln w="12700">
            <a:solidFill>
              <a:srgbClr val="333333">
                <a:alpha val="0"/>
              </a:srgbClr>
            </a:solidFill>
            <a:prstDash val="solid"/>
          </a:ln>
        </p:spPr>
      </p:sp>
      <p:sp>
        <p:nvSpPr>
          <p:cNvPr id="4" name="Text 2"/>
          <p:cNvSpPr txBox="1"/>
          <p:nvPr/>
        </p:nvSpPr>
        <p:spPr>
          <a:xfrm>
            <a:off x="594360" y="292608"/>
            <a:ext cx="10469880" cy="530352"/>
          </a:xfrm>
          <a:prstGeom prst="rect">
            <a:avLst/>
          </a:prstGeom>
          <a:noFill/>
          <a:ln/>
        </p:spPr>
        <p:txBody>
          <a:bodyPr wrap="square" lIns="0" tIns="0" rIns="0" bIns="0" rtlCol="0" anchor="ctr"/>
          <a:lstStyle/>
          <a:p>
            <a:pPr algn="ctr" indent="0" marL="0">
              <a:buNone/>
            </a:pPr>
            <a:r>
              <a:rPr lang="en-US" sz="2900" b="1" dirty="0">
                <a:solidFill>
                  <a:srgbClr val="F8FAFC"/>
                </a:solidFill>
                <a:latin typeface="Arial" pitchFamily="34" charset="0"/>
                <a:ea typeface="Arial" pitchFamily="34" charset="-122"/>
                <a:cs typeface="Arial" pitchFamily="34" charset="-120"/>
              </a:rPr>
              <a:t>Plano e executor </a:t>
            </a:r>
            <a:pPr algn="ctr" indent="0" marL="0">
              <a:buNone/>
            </a:pPr>
            <a:r>
              <a:rPr lang="en-US" sz="2900" b="1" dirty="0">
                <a:solidFill>
                  <a:srgbClr val="10BCD8"/>
                </a:solidFill>
                <a:latin typeface="Arial" pitchFamily="34" charset="0"/>
                <a:ea typeface="Arial" pitchFamily="34" charset="-122"/>
                <a:cs typeface="Arial" pitchFamily="34" charset="-120"/>
              </a:rPr>
              <a:t>próprios</a:t>
            </a:r>
            <a:endParaRPr lang="en-US" sz="2900" dirty="0"/>
          </a:p>
        </p:txBody>
      </p:sp>
      <p:sp>
        <p:nvSpPr>
          <p:cNvPr id="5" name="Shape 3"/>
          <p:cNvSpPr/>
          <p:nvPr/>
        </p:nvSpPr>
        <p:spPr>
          <a:xfrm>
            <a:off x="10991088" y="310896"/>
            <a:ext cx="621792" cy="621792"/>
          </a:xfrm>
          <a:prstGeom prst="ellipse">
            <a:avLst/>
          </a:prstGeom>
          <a:solidFill>
            <a:srgbClr val="7B6FF0"/>
          </a:solidFill>
          <a:ln w="12700">
            <a:solidFill>
              <a:srgbClr val="7B6FF0">
                <a:alpha val="0"/>
              </a:srgbClr>
            </a:solidFill>
            <a:prstDash val="solid"/>
          </a:ln>
        </p:spPr>
      </p:sp>
      <p:pic>
        <p:nvPicPr>
          <p:cNvPr id="6" name="Image 0" descr="preencoded.png">    </p:cNvPr>
          <p:cNvPicPr>
            <a:picLocks noChangeAspect="1"/>
          </p:cNvPicPr>
          <p:nvPr/>
        </p:nvPicPr>
        <p:blipFill>
          <a:blip r:embed="rId1"/>
          <a:stretch>
            <a:fillRect/>
          </a:stretch>
        </p:blipFill>
        <p:spPr>
          <a:xfrm>
            <a:off x="11134100" y="453908"/>
            <a:ext cx="335768" cy="335768"/>
          </a:xfrm>
          <a:prstGeom prst="rect">
            <a:avLst/>
          </a:prstGeom>
        </p:spPr>
      </p:pic>
      <p:sp>
        <p:nvSpPr>
          <p:cNvPr id="7" name="Text 4"/>
          <p:cNvSpPr txBox="1"/>
          <p:nvPr/>
        </p:nvSpPr>
        <p:spPr>
          <a:xfrm>
            <a:off x="685800" y="987552"/>
            <a:ext cx="10789920" cy="384048"/>
          </a:xfrm>
          <a:prstGeom prst="rect">
            <a:avLst/>
          </a:prstGeom>
          <a:noFill/>
          <a:ln/>
        </p:spPr>
        <p:txBody>
          <a:bodyPr wrap="square" lIns="0" tIns="0" rIns="0" bIns="0" rtlCol="0" anchor="ctr"/>
          <a:lstStyle/>
          <a:p>
            <a:pPr algn="ctr" indent="0" marL="0">
              <a:buNone/>
            </a:pPr>
            <a:r>
              <a:rPr lang="en-US" sz="1800" dirty="0">
                <a:solidFill>
                  <a:srgbClr val="CBD5E1"/>
                </a:solidFill>
                <a:latin typeface="Calibri" pitchFamily="34" charset="0"/>
                <a:ea typeface="Calibri" pitchFamily="34" charset="-122"/>
                <a:cs typeface="Calibri" pitchFamily="34" charset="-120"/>
              </a:rPr>
              <a:t>A NetSec gera instruções estruturadas e seleciona o adaptador em runtime</a:t>
            </a:r>
            <a:endParaRPr lang="en-US" sz="1800" dirty="0"/>
          </a:p>
        </p:txBody>
      </p:sp>
      <p:sp>
        <p:nvSpPr>
          <p:cNvPr id="8" name="Text 5"/>
          <p:cNvSpPr txBox="1"/>
          <p:nvPr/>
        </p:nvSpPr>
        <p:spPr>
          <a:xfrm>
            <a:off x="502920" y="6556248"/>
            <a:ext cx="7772400" cy="164592"/>
          </a:xfrm>
          <a:prstGeom prst="rect">
            <a:avLst/>
          </a:prstGeom>
          <a:noFill/>
          <a:ln/>
        </p:spPr>
        <p:txBody>
          <a:bodyPr wrap="square" lIns="0" tIns="0" rIns="0" bIns="0" rtlCol="0" anchor="ctr"/>
          <a:lstStyle/>
          <a:p>
            <a:pPr indent="0" marL="0">
              <a:buNone/>
            </a:pPr>
            <a:r>
              <a:rPr lang="en-US" sz="850" dirty="0">
                <a:solidFill>
                  <a:srgbClr val="8796AD"/>
                </a:solidFill>
                <a:latin typeface="Calibri" pitchFamily="34" charset="0"/>
                <a:ea typeface="Calibri" pitchFamily="34" charset="-122"/>
                <a:cs typeface="Calibri" pitchFamily="34" charset="-120"/>
              </a:rPr>
              <a:t>NetSec  ·  Redes + Segurança + Automação</a:t>
            </a:r>
            <a:endParaRPr lang="en-US" sz="850" dirty="0"/>
          </a:p>
        </p:txBody>
      </p:sp>
      <p:sp>
        <p:nvSpPr>
          <p:cNvPr id="9" name="Text 6"/>
          <p:cNvSpPr txBox="1"/>
          <p:nvPr/>
        </p:nvSpPr>
        <p:spPr>
          <a:xfrm>
            <a:off x="11292840" y="6547104"/>
            <a:ext cx="320040" cy="182880"/>
          </a:xfrm>
          <a:prstGeom prst="rect">
            <a:avLst/>
          </a:prstGeom>
          <a:noFill/>
          <a:ln/>
        </p:spPr>
        <p:txBody>
          <a:bodyPr wrap="square" lIns="0" tIns="0" rIns="0" bIns="0" rtlCol="0" anchor="ctr"/>
          <a:lstStyle/>
          <a:p>
            <a:pPr algn="r" indent="0" marL="0">
              <a:buNone/>
            </a:pPr>
            <a:r>
              <a:rPr lang="en-US" sz="850" dirty="0">
                <a:solidFill>
                  <a:srgbClr val="8796AD"/>
                </a:solidFill>
                <a:latin typeface="Calibri" pitchFamily="34" charset="0"/>
                <a:ea typeface="Calibri" pitchFamily="34" charset="-122"/>
                <a:cs typeface="Calibri" pitchFamily="34" charset="-120"/>
              </a:rPr>
              <a:t>10</a:t>
            </a:r>
            <a:endParaRPr lang="en-US" sz="850" dirty="0"/>
          </a:p>
        </p:txBody>
      </p:sp>
      <p:sp>
        <p:nvSpPr>
          <p:cNvPr id="10" name="Shape 7"/>
          <p:cNvSpPr/>
          <p:nvPr/>
        </p:nvSpPr>
        <p:spPr>
          <a:xfrm>
            <a:off x="685800" y="1783080"/>
            <a:ext cx="4846320" cy="2651760"/>
          </a:xfrm>
          <a:prstGeom prst="roundRect">
            <a:avLst>
              <a:gd name="adj" fmla="val 4138"/>
            </a:avLst>
          </a:prstGeom>
          <a:solidFill>
            <a:srgbClr val="060A19"/>
          </a:solidFill>
          <a:ln w="7620">
            <a:solidFill>
              <a:srgbClr val="283449"/>
            </a:solidFill>
            <a:prstDash val="solid"/>
          </a:ln>
        </p:spPr>
      </p:sp>
      <p:sp>
        <p:nvSpPr>
          <p:cNvPr id="11" name="Text 8"/>
          <p:cNvSpPr txBox="1"/>
          <p:nvPr/>
        </p:nvSpPr>
        <p:spPr>
          <a:xfrm>
            <a:off x="905256" y="1947672"/>
            <a:ext cx="4407408" cy="384048"/>
          </a:xfrm>
          <a:prstGeom prst="rect">
            <a:avLst/>
          </a:prstGeom>
          <a:noFill/>
          <a:ln/>
        </p:spPr>
        <p:txBody>
          <a:bodyPr wrap="square" lIns="0" tIns="0" rIns="0" bIns="0" rtlCol="0" anchor="ctr"/>
          <a:lstStyle/>
          <a:p>
            <a:pPr indent="0" marL="0">
              <a:buNone/>
            </a:pPr>
            <a:r>
              <a:rPr lang="en-US" sz="2100" dirty="0">
                <a:solidFill>
                  <a:srgbClr val="F8FAFC"/>
                </a:solidFill>
                <a:latin typeface="Courier New" pitchFamily="34" charset="0"/>
                <a:ea typeface="Courier New" pitchFamily="34" charset="-122"/>
                <a:cs typeface="Courier New" pitchFamily="34" charset="-120"/>
              </a:rPr>
              <a:t>{</a:t>
            </a:r>
            <a:endParaRPr lang="en-US" sz="2100" dirty="0"/>
          </a:p>
        </p:txBody>
      </p:sp>
      <p:sp>
        <p:nvSpPr>
          <p:cNvPr id="12" name="Text 9"/>
          <p:cNvSpPr txBox="1"/>
          <p:nvPr/>
        </p:nvSpPr>
        <p:spPr>
          <a:xfrm>
            <a:off x="905256" y="2331720"/>
            <a:ext cx="4407408" cy="384048"/>
          </a:xfrm>
          <a:prstGeom prst="rect">
            <a:avLst/>
          </a:prstGeom>
          <a:noFill/>
          <a:ln/>
        </p:spPr>
        <p:txBody>
          <a:bodyPr wrap="square" lIns="0" tIns="0" rIns="0" bIns="0" rtlCol="0" anchor="ctr"/>
          <a:lstStyle/>
          <a:p>
            <a:pPr indent="0" marL="0">
              <a:buNone/>
            </a:pPr>
            <a:r>
              <a:rPr lang="en-US" sz="2100" dirty="0">
                <a:solidFill>
                  <a:srgbClr val="F8FAFC"/>
                </a:solidFill>
                <a:latin typeface="Courier New" pitchFamily="34" charset="0"/>
                <a:ea typeface="Courier New" pitchFamily="34" charset="-122"/>
                <a:cs typeface="Courier New" pitchFamily="34" charset="-120"/>
              </a:rPr>
              <a:t>  </a:t>
            </a:r>
            <a:pPr indent="0" marL="0">
              <a:buNone/>
            </a:pPr>
            <a:r>
              <a:rPr lang="en-US" sz="2100" dirty="0">
                <a:solidFill>
                  <a:srgbClr val="4ADE80"/>
                </a:solidFill>
                <a:latin typeface="Courier New" pitchFamily="34" charset="0"/>
                <a:ea typeface="Courier New" pitchFamily="34" charset="-122"/>
                <a:cs typeface="Courier New" pitchFamily="34" charset="-120"/>
              </a:rPr>
              <a:t>"operation"</a:t>
            </a:r>
            <a:pPr indent="0" marL="0">
              <a:buNone/>
            </a:pPr>
            <a:r>
              <a:rPr lang="en-US" sz="2100" dirty="0">
                <a:solidFill>
                  <a:srgbClr val="F8FAFC"/>
                </a:solidFill>
                <a:latin typeface="Courier New" pitchFamily="34" charset="0"/>
                <a:ea typeface="Courier New" pitchFamily="34" charset="-122"/>
                <a:cs typeface="Courier New" pitchFamily="34" charset="-120"/>
              </a:rPr>
              <a:t>: </a:t>
            </a:r>
            <a:pPr indent="0" marL="0">
              <a:buNone/>
            </a:pPr>
            <a:r>
              <a:rPr lang="en-US" sz="2100" dirty="0">
                <a:solidFill>
                  <a:srgbClr val="4ADE80"/>
                </a:solidFill>
                <a:latin typeface="Courier New" pitchFamily="34" charset="0"/>
                <a:ea typeface="Courier New" pitchFamily="34" charset="-122"/>
                <a:cs typeface="Courier New" pitchFamily="34" charset="-120"/>
              </a:rPr>
              <a:t>"deny"</a:t>
            </a:r>
            <a:pPr indent="0" marL="0">
              <a:buNone/>
            </a:pPr>
            <a:r>
              <a:rPr lang="en-US" sz="2100" dirty="0">
                <a:solidFill>
                  <a:srgbClr val="F8FAFC"/>
                </a:solidFill>
                <a:latin typeface="Courier New" pitchFamily="34" charset="0"/>
                <a:ea typeface="Courier New" pitchFamily="34" charset="-122"/>
                <a:cs typeface="Courier New" pitchFamily="34" charset="-120"/>
              </a:rPr>
              <a:t>,</a:t>
            </a:r>
            <a:endParaRPr lang="en-US" sz="2100" dirty="0"/>
          </a:p>
        </p:txBody>
      </p:sp>
      <p:sp>
        <p:nvSpPr>
          <p:cNvPr id="13" name="Text 10"/>
          <p:cNvSpPr txBox="1"/>
          <p:nvPr/>
        </p:nvSpPr>
        <p:spPr>
          <a:xfrm>
            <a:off x="905256" y="2715768"/>
            <a:ext cx="4407408" cy="384048"/>
          </a:xfrm>
          <a:prstGeom prst="rect">
            <a:avLst/>
          </a:prstGeom>
          <a:noFill/>
          <a:ln/>
        </p:spPr>
        <p:txBody>
          <a:bodyPr wrap="square" lIns="0" tIns="0" rIns="0" bIns="0" rtlCol="0" anchor="ctr"/>
          <a:lstStyle/>
          <a:p>
            <a:pPr indent="0" marL="0">
              <a:buNone/>
            </a:pPr>
            <a:r>
              <a:rPr lang="en-US" sz="2100" dirty="0">
                <a:solidFill>
                  <a:srgbClr val="F8FAFC"/>
                </a:solidFill>
                <a:latin typeface="Courier New" pitchFamily="34" charset="0"/>
                <a:ea typeface="Courier New" pitchFamily="34" charset="-122"/>
                <a:cs typeface="Courier New" pitchFamily="34" charset="-120"/>
              </a:rPr>
              <a:t>  </a:t>
            </a:r>
            <a:pPr indent="0" marL="0">
              <a:buNone/>
            </a:pPr>
            <a:r>
              <a:rPr lang="en-US" sz="2100" dirty="0">
                <a:solidFill>
                  <a:srgbClr val="4ADE80"/>
                </a:solidFill>
                <a:latin typeface="Courier New" pitchFamily="34" charset="0"/>
                <a:ea typeface="Courier New" pitchFamily="34" charset="-122"/>
                <a:cs typeface="Courier New" pitchFamily="34" charset="-120"/>
              </a:rPr>
              <a:t>"host"</a:t>
            </a:r>
            <a:pPr indent="0" marL="0">
              <a:buNone/>
            </a:pPr>
            <a:r>
              <a:rPr lang="en-US" sz="2100" dirty="0">
                <a:solidFill>
                  <a:srgbClr val="F8FAFC"/>
                </a:solidFill>
                <a:latin typeface="Courier New" pitchFamily="34" charset="0"/>
                <a:ea typeface="Courier New" pitchFamily="34" charset="-122"/>
                <a:cs typeface="Courier New" pitchFamily="34" charset="-120"/>
              </a:rPr>
              <a:t>: </a:t>
            </a:r>
            <a:pPr indent="0" marL="0">
              <a:buNone/>
            </a:pPr>
            <a:r>
              <a:rPr lang="en-US" sz="2100" dirty="0">
                <a:solidFill>
                  <a:srgbClr val="4ADE80"/>
                </a:solidFill>
                <a:latin typeface="Courier New" pitchFamily="34" charset="0"/>
                <a:ea typeface="Courier New" pitchFamily="34" charset="-122"/>
                <a:cs typeface="Courier New" pitchFamily="34" charset="-120"/>
              </a:rPr>
              <a:t>"192.0.2.10"</a:t>
            </a:r>
            <a:pPr indent="0" marL="0">
              <a:buNone/>
            </a:pPr>
            <a:r>
              <a:rPr lang="en-US" sz="2100" dirty="0">
                <a:solidFill>
                  <a:srgbClr val="F8FAFC"/>
                </a:solidFill>
                <a:latin typeface="Courier New" pitchFamily="34" charset="0"/>
                <a:ea typeface="Courier New" pitchFamily="34" charset="-122"/>
                <a:cs typeface="Courier New" pitchFamily="34" charset="-120"/>
              </a:rPr>
              <a:t>,</a:t>
            </a:r>
            <a:endParaRPr lang="en-US" sz="2100" dirty="0"/>
          </a:p>
        </p:txBody>
      </p:sp>
      <p:sp>
        <p:nvSpPr>
          <p:cNvPr id="14" name="Text 11"/>
          <p:cNvSpPr txBox="1"/>
          <p:nvPr/>
        </p:nvSpPr>
        <p:spPr>
          <a:xfrm>
            <a:off x="905256" y="3099816"/>
            <a:ext cx="4407408" cy="384048"/>
          </a:xfrm>
          <a:prstGeom prst="rect">
            <a:avLst/>
          </a:prstGeom>
          <a:noFill/>
          <a:ln/>
        </p:spPr>
        <p:txBody>
          <a:bodyPr wrap="square" lIns="0" tIns="0" rIns="0" bIns="0" rtlCol="0" anchor="ctr"/>
          <a:lstStyle/>
          <a:p>
            <a:pPr indent="0" marL="0">
              <a:buNone/>
            </a:pPr>
            <a:r>
              <a:rPr lang="en-US" sz="2100" dirty="0">
                <a:solidFill>
                  <a:srgbClr val="F8FAFC"/>
                </a:solidFill>
                <a:latin typeface="Courier New" pitchFamily="34" charset="0"/>
                <a:ea typeface="Courier New" pitchFamily="34" charset="-122"/>
                <a:cs typeface="Courier New" pitchFamily="34" charset="-120"/>
              </a:rPr>
              <a:t>  </a:t>
            </a:r>
            <a:pPr indent="0" marL="0">
              <a:buNone/>
            </a:pPr>
            <a:r>
              <a:rPr lang="en-US" sz="2100" dirty="0">
                <a:solidFill>
                  <a:srgbClr val="4ADE80"/>
                </a:solidFill>
                <a:latin typeface="Courier New" pitchFamily="34" charset="0"/>
                <a:ea typeface="Courier New" pitchFamily="34" charset="-122"/>
                <a:cs typeface="Courier New" pitchFamily="34" charset="-120"/>
              </a:rPr>
              <a:t>"port"</a:t>
            </a:r>
            <a:pPr indent="0" marL="0">
              <a:buNone/>
            </a:pPr>
            <a:r>
              <a:rPr lang="en-US" sz="2100" dirty="0">
                <a:solidFill>
                  <a:srgbClr val="F8FAFC"/>
                </a:solidFill>
                <a:latin typeface="Courier New" pitchFamily="34" charset="0"/>
                <a:ea typeface="Courier New" pitchFamily="34" charset="-122"/>
                <a:cs typeface="Courier New" pitchFamily="34" charset="-120"/>
              </a:rPr>
              <a:t>: </a:t>
            </a:r>
            <a:pPr indent="0" marL="0">
              <a:buNone/>
            </a:pPr>
            <a:r>
              <a:rPr lang="en-US" sz="2100" dirty="0">
                <a:solidFill>
                  <a:srgbClr val="10BCD8"/>
                </a:solidFill>
                <a:latin typeface="Courier New" pitchFamily="34" charset="0"/>
                <a:ea typeface="Courier New" pitchFamily="34" charset="-122"/>
                <a:cs typeface="Courier New" pitchFamily="34" charset="-120"/>
              </a:rPr>
              <a:t>23</a:t>
            </a:r>
            <a:pPr indent="0" marL="0">
              <a:buNone/>
            </a:pPr>
            <a:r>
              <a:rPr lang="en-US" sz="2100" dirty="0">
                <a:solidFill>
                  <a:srgbClr val="F8FAFC"/>
                </a:solidFill>
                <a:latin typeface="Courier New" pitchFamily="34" charset="0"/>
                <a:ea typeface="Courier New" pitchFamily="34" charset="-122"/>
                <a:cs typeface="Courier New" pitchFamily="34" charset="-120"/>
              </a:rPr>
              <a:t>,</a:t>
            </a:r>
            <a:endParaRPr lang="en-US" sz="2100" dirty="0"/>
          </a:p>
        </p:txBody>
      </p:sp>
      <p:sp>
        <p:nvSpPr>
          <p:cNvPr id="15" name="Text 12"/>
          <p:cNvSpPr txBox="1"/>
          <p:nvPr/>
        </p:nvSpPr>
        <p:spPr>
          <a:xfrm>
            <a:off x="905256" y="3483864"/>
            <a:ext cx="4407408" cy="384048"/>
          </a:xfrm>
          <a:prstGeom prst="rect">
            <a:avLst/>
          </a:prstGeom>
          <a:noFill/>
          <a:ln/>
        </p:spPr>
        <p:txBody>
          <a:bodyPr wrap="square" lIns="0" tIns="0" rIns="0" bIns="0" rtlCol="0" anchor="ctr"/>
          <a:lstStyle/>
          <a:p>
            <a:pPr indent="0" marL="0">
              <a:buNone/>
            </a:pPr>
            <a:r>
              <a:rPr lang="en-US" sz="2100" dirty="0">
                <a:solidFill>
                  <a:srgbClr val="F8FAFC"/>
                </a:solidFill>
                <a:latin typeface="Courier New" pitchFamily="34" charset="0"/>
                <a:ea typeface="Courier New" pitchFamily="34" charset="-122"/>
                <a:cs typeface="Courier New" pitchFamily="34" charset="-120"/>
              </a:rPr>
              <a:t>  </a:t>
            </a:r>
            <a:pPr indent="0" marL="0">
              <a:buNone/>
            </a:pPr>
            <a:r>
              <a:rPr lang="en-US" sz="2100" dirty="0">
                <a:solidFill>
                  <a:srgbClr val="4ADE80"/>
                </a:solidFill>
                <a:latin typeface="Courier New" pitchFamily="34" charset="0"/>
                <a:ea typeface="Courier New" pitchFamily="34" charset="-122"/>
                <a:cs typeface="Courier New" pitchFamily="34" charset="-120"/>
              </a:rPr>
              <a:t>"protocol"</a:t>
            </a:r>
            <a:pPr indent="0" marL="0">
              <a:buNone/>
            </a:pPr>
            <a:r>
              <a:rPr lang="en-US" sz="2100" dirty="0">
                <a:solidFill>
                  <a:srgbClr val="F8FAFC"/>
                </a:solidFill>
                <a:latin typeface="Courier New" pitchFamily="34" charset="0"/>
                <a:ea typeface="Courier New" pitchFamily="34" charset="-122"/>
                <a:cs typeface="Courier New" pitchFamily="34" charset="-120"/>
              </a:rPr>
              <a:t>: </a:t>
            </a:r>
            <a:pPr indent="0" marL="0">
              <a:buNone/>
            </a:pPr>
            <a:r>
              <a:rPr lang="en-US" sz="2100" dirty="0">
                <a:solidFill>
                  <a:srgbClr val="4ADE80"/>
                </a:solidFill>
                <a:latin typeface="Courier New" pitchFamily="34" charset="0"/>
                <a:ea typeface="Courier New" pitchFamily="34" charset="-122"/>
                <a:cs typeface="Courier New" pitchFamily="34" charset="-120"/>
              </a:rPr>
              <a:t>"tcp"</a:t>
            </a:r>
            <a:endParaRPr lang="en-US" sz="2100" dirty="0"/>
          </a:p>
        </p:txBody>
      </p:sp>
      <p:sp>
        <p:nvSpPr>
          <p:cNvPr id="16" name="Text 13"/>
          <p:cNvSpPr txBox="1"/>
          <p:nvPr/>
        </p:nvSpPr>
        <p:spPr>
          <a:xfrm>
            <a:off x="905256" y="3867912"/>
            <a:ext cx="4407408" cy="384048"/>
          </a:xfrm>
          <a:prstGeom prst="rect">
            <a:avLst/>
          </a:prstGeom>
          <a:noFill/>
          <a:ln/>
        </p:spPr>
        <p:txBody>
          <a:bodyPr wrap="square" lIns="0" tIns="0" rIns="0" bIns="0" rtlCol="0" anchor="ctr"/>
          <a:lstStyle/>
          <a:p>
            <a:pPr indent="0" marL="0">
              <a:buNone/>
            </a:pPr>
            <a:r>
              <a:rPr lang="en-US" sz="2100" dirty="0">
                <a:solidFill>
                  <a:srgbClr val="F8FAFC"/>
                </a:solidFill>
                <a:latin typeface="Courier New" pitchFamily="34" charset="0"/>
                <a:ea typeface="Courier New" pitchFamily="34" charset="-122"/>
                <a:cs typeface="Courier New" pitchFamily="34" charset="-120"/>
              </a:rPr>
              <a:t>}</a:t>
            </a:r>
            <a:endParaRPr lang="en-US" sz="2100" dirty="0"/>
          </a:p>
        </p:txBody>
      </p:sp>
      <p:sp>
        <p:nvSpPr>
          <p:cNvPr id="17" name="Shape 14"/>
          <p:cNvSpPr/>
          <p:nvPr/>
        </p:nvSpPr>
        <p:spPr>
          <a:xfrm>
            <a:off x="5806440" y="1783080"/>
            <a:ext cx="5705856" cy="2651760"/>
          </a:xfrm>
          <a:prstGeom prst="roundRect">
            <a:avLst>
              <a:gd name="adj" fmla="val 4138"/>
            </a:avLst>
          </a:prstGeom>
          <a:solidFill>
            <a:srgbClr val="060A19"/>
          </a:solidFill>
          <a:ln w="7620">
            <a:solidFill>
              <a:srgbClr val="283449"/>
            </a:solidFill>
            <a:prstDash val="solid"/>
          </a:ln>
        </p:spPr>
      </p:sp>
      <p:sp>
        <p:nvSpPr>
          <p:cNvPr id="18" name="Text 15"/>
          <p:cNvSpPr txBox="1"/>
          <p:nvPr/>
        </p:nvSpPr>
        <p:spPr>
          <a:xfrm>
            <a:off x="6025896" y="1947672"/>
            <a:ext cx="5266944" cy="329184"/>
          </a:xfrm>
          <a:prstGeom prst="rect">
            <a:avLst/>
          </a:prstGeom>
          <a:noFill/>
          <a:ln/>
        </p:spPr>
        <p:txBody>
          <a:bodyPr wrap="square" lIns="0" tIns="0" rIns="0" bIns="0" rtlCol="0" anchor="ctr"/>
          <a:lstStyle/>
          <a:p>
            <a:pPr indent="0" marL="0">
              <a:buNone/>
            </a:pPr>
            <a:r>
              <a:rPr lang="en-US" sz="1450" dirty="0">
                <a:solidFill>
                  <a:srgbClr val="7B6FF0"/>
                </a:solidFill>
                <a:latin typeface="Courier New" pitchFamily="34" charset="0"/>
                <a:ea typeface="Courier New" pitchFamily="34" charset="-122"/>
                <a:cs typeface="Courier New" pitchFamily="34" charset="-120"/>
              </a:rPr>
              <a:t>if</a:t>
            </a:r>
            <a:pPr indent="0" marL="0">
              <a:buNone/>
            </a:pPr>
            <a:r>
              <a:rPr lang="en-US" sz="1450" dirty="0">
                <a:solidFill>
                  <a:srgbClr val="F8FAFC"/>
                </a:solidFill>
                <a:latin typeface="Courier New" pitchFamily="34" charset="0"/>
                <a:ea typeface="Courier New" pitchFamily="34" charset="-122"/>
                <a:cs typeface="Courier New" pitchFamily="34" charset="-120"/>
              </a:rPr>
              <a:t> instruction.operation == </a:t>
            </a:r>
            <a:pPr indent="0" marL="0">
              <a:buNone/>
            </a:pPr>
            <a:r>
              <a:rPr lang="en-US" sz="1450" dirty="0">
                <a:solidFill>
                  <a:srgbClr val="4ADE80"/>
                </a:solidFill>
                <a:latin typeface="Courier New" pitchFamily="34" charset="0"/>
                <a:ea typeface="Courier New" pitchFamily="34" charset="-122"/>
                <a:cs typeface="Courier New" pitchFamily="34" charset="-120"/>
              </a:rPr>
              <a:t>"report"</a:t>
            </a:r>
            <a:pPr indent="0" marL="0">
              <a:buNone/>
            </a:pPr>
            <a:r>
              <a:rPr lang="en-US" sz="1450" dirty="0">
                <a:solidFill>
                  <a:srgbClr val="F8FAFC"/>
                </a:solidFill>
                <a:latin typeface="Courier New" pitchFamily="34" charset="0"/>
                <a:ea typeface="Courier New" pitchFamily="34" charset="-122"/>
                <a:cs typeface="Courier New" pitchFamily="34" charset="-120"/>
              </a:rPr>
              <a:t>:</a:t>
            </a:r>
            <a:endParaRPr lang="en-US" sz="1450" dirty="0"/>
          </a:p>
        </p:txBody>
      </p:sp>
      <p:sp>
        <p:nvSpPr>
          <p:cNvPr id="19" name="Text 16"/>
          <p:cNvSpPr txBox="1"/>
          <p:nvPr/>
        </p:nvSpPr>
        <p:spPr>
          <a:xfrm>
            <a:off x="6025896" y="2276856"/>
            <a:ext cx="5266944" cy="329184"/>
          </a:xfrm>
          <a:prstGeom prst="rect">
            <a:avLst/>
          </a:prstGeom>
          <a:noFill/>
          <a:ln/>
        </p:spPr>
        <p:txBody>
          <a:bodyPr wrap="square" lIns="0" tIns="0" rIns="0" bIns="0" rtlCol="0" anchor="ctr"/>
          <a:lstStyle/>
          <a:p>
            <a:pPr indent="0" marL="0">
              <a:buNone/>
            </a:pPr>
            <a:r>
              <a:rPr lang="en-US" sz="1450" dirty="0">
                <a:solidFill>
                  <a:srgbClr val="F8FAFC"/>
                </a:solidFill>
                <a:latin typeface="Courier New" pitchFamily="34" charset="0"/>
                <a:ea typeface="Courier New" pitchFamily="34" charset="-122"/>
                <a:cs typeface="Courier New" pitchFamily="34" charset="-120"/>
              </a:rPr>
              <a:t>    </a:t>
            </a:r>
            <a:pPr indent="0" marL="0">
              <a:buNone/>
            </a:pPr>
            <a:r>
              <a:rPr lang="en-US" sz="1450" dirty="0">
                <a:solidFill>
                  <a:srgbClr val="7B6FF0"/>
                </a:solidFill>
                <a:latin typeface="Courier New" pitchFamily="34" charset="0"/>
                <a:ea typeface="Courier New" pitchFamily="34" charset="-122"/>
                <a:cs typeface="Courier New" pitchFamily="34" charset="-120"/>
              </a:rPr>
              <a:t>return</a:t>
            </a:r>
            <a:pPr indent="0" marL="0">
              <a:buNone/>
            </a:pPr>
            <a:r>
              <a:rPr lang="en-US" sz="1450" dirty="0">
                <a:solidFill>
                  <a:srgbClr val="F8FAFC"/>
                </a:solidFill>
                <a:latin typeface="Courier New" pitchFamily="34" charset="0"/>
                <a:ea typeface="Courier New" pitchFamily="34" charset="-122"/>
                <a:cs typeface="Courier New" pitchFamily="34" charset="-120"/>
              </a:rPr>
              <a:t> ProbeResult(</a:t>
            </a:r>
            <a:endParaRPr lang="en-US" sz="1450" dirty="0"/>
          </a:p>
        </p:txBody>
      </p:sp>
      <p:sp>
        <p:nvSpPr>
          <p:cNvPr id="20" name="Text 17"/>
          <p:cNvSpPr txBox="1"/>
          <p:nvPr/>
        </p:nvSpPr>
        <p:spPr>
          <a:xfrm>
            <a:off x="6025896" y="2606040"/>
            <a:ext cx="5266944" cy="329184"/>
          </a:xfrm>
          <a:prstGeom prst="rect">
            <a:avLst/>
          </a:prstGeom>
          <a:noFill/>
          <a:ln/>
        </p:spPr>
        <p:txBody>
          <a:bodyPr wrap="square" lIns="0" tIns="0" rIns="0" bIns="0" rtlCol="0" anchor="ctr"/>
          <a:lstStyle/>
          <a:p>
            <a:pPr indent="0" marL="0">
              <a:buNone/>
            </a:pPr>
            <a:r>
              <a:rPr lang="en-US" sz="1450" dirty="0">
                <a:solidFill>
                  <a:srgbClr val="F8FAFC"/>
                </a:solidFill>
                <a:latin typeface="Courier New" pitchFamily="34" charset="0"/>
                <a:ea typeface="Courier New" pitchFamily="34" charset="-122"/>
                <a:cs typeface="Courier New" pitchFamily="34" charset="-120"/>
              </a:rPr>
              <a:t>        True, </a:t>
            </a:r>
            <a:pPr indent="0" marL="0">
              <a:buNone/>
            </a:pPr>
            <a:r>
              <a:rPr lang="en-US" sz="1450" dirty="0">
                <a:solidFill>
                  <a:srgbClr val="4ADE80"/>
                </a:solidFill>
                <a:latin typeface="Courier New" pitchFamily="34" charset="0"/>
                <a:ea typeface="Courier New" pitchFamily="34" charset="-122"/>
                <a:cs typeface="Courier New" pitchFamily="34" charset="-120"/>
              </a:rPr>
              <a:t>"reported"</a:t>
            </a:r>
            <a:pPr indent="0" marL="0">
              <a:buNone/>
            </a:pPr>
            <a:r>
              <a:rPr lang="en-US" sz="1450" dirty="0">
                <a:solidFill>
                  <a:srgbClr val="F8FAFC"/>
                </a:solidFill>
                <a:latin typeface="Courier New" pitchFamily="34" charset="0"/>
                <a:ea typeface="Courier New" pitchFamily="34" charset="-122"/>
                <a:cs typeface="Courier New" pitchFamily="34" charset="-120"/>
              </a:rPr>
              <a:t>,</a:t>
            </a:r>
            <a:endParaRPr lang="en-US" sz="1450" dirty="0"/>
          </a:p>
        </p:txBody>
      </p:sp>
      <p:sp>
        <p:nvSpPr>
          <p:cNvPr id="21" name="Text 18"/>
          <p:cNvSpPr txBox="1"/>
          <p:nvPr/>
        </p:nvSpPr>
        <p:spPr>
          <a:xfrm>
            <a:off x="6025896" y="2935224"/>
            <a:ext cx="5266944" cy="329184"/>
          </a:xfrm>
          <a:prstGeom prst="rect">
            <a:avLst/>
          </a:prstGeom>
          <a:noFill/>
          <a:ln/>
        </p:spPr>
        <p:txBody>
          <a:bodyPr wrap="square" lIns="0" tIns="0" rIns="0" bIns="0" rtlCol="0" anchor="ctr"/>
          <a:lstStyle/>
          <a:p>
            <a:pPr indent="0" marL="0">
              <a:buNone/>
            </a:pPr>
            <a:r>
              <a:rPr lang="en-US" sz="1450" dirty="0">
                <a:solidFill>
                  <a:srgbClr val="F8FAFC"/>
                </a:solidFill>
                <a:latin typeface="Courier New" pitchFamily="34" charset="0"/>
                <a:ea typeface="Courier New" pitchFamily="34" charset="-122"/>
                <a:cs typeface="Courier New" pitchFamily="34" charset="-120"/>
              </a:rPr>
              <a:t>        instruction.message)</a:t>
            </a:r>
            <a:endParaRPr lang="en-US" sz="1450" dirty="0"/>
          </a:p>
        </p:txBody>
      </p:sp>
      <p:sp>
        <p:nvSpPr>
          <p:cNvPr id="22" name="Text 19"/>
          <p:cNvSpPr txBox="1"/>
          <p:nvPr/>
        </p:nvSpPr>
        <p:spPr>
          <a:xfrm>
            <a:off x="6025896" y="3264408"/>
            <a:ext cx="5266944" cy="329184"/>
          </a:xfrm>
          <a:prstGeom prst="rect">
            <a:avLst/>
          </a:prstGeom>
          <a:noFill/>
          <a:ln/>
        </p:spPr>
        <p:txBody>
          <a:bodyPr wrap="square" lIns="0" tIns="0" rIns="0" bIns="0" rtlCol="0" anchor="ctr"/>
          <a:lstStyle/>
          <a:p>
            <a:pPr indent="0" marL="0">
              <a:buNone/>
            </a:pPr>
            <a:r>
              <a:rPr lang="en-US" sz="1450" dirty="0">
                <a:solidFill>
                  <a:srgbClr val="7B6FF0"/>
                </a:solidFill>
                <a:latin typeface="Courier New" pitchFamily="34" charset="0"/>
                <a:ea typeface="Courier New" pitchFamily="34" charset="-122"/>
                <a:cs typeface="Courier New" pitchFamily="34" charset="-120"/>
              </a:rPr>
              <a:t>if</a:t>
            </a:r>
            <a:pPr indent="0" marL="0">
              <a:buNone/>
            </a:pPr>
            <a:r>
              <a:rPr lang="en-US" sz="1450" dirty="0">
                <a:solidFill>
                  <a:srgbClr val="F8FAFC"/>
                </a:solidFill>
                <a:latin typeface="Courier New" pitchFamily="34" charset="0"/>
                <a:ea typeface="Courier New" pitchFamily="34" charset="-122"/>
                <a:cs typeface="Courier New" pitchFamily="34" charset="-120"/>
              </a:rPr>
              <a:t> instruction.operation </a:t>
            </a:r>
            <a:pPr indent="0" marL="0">
              <a:buNone/>
            </a:pPr>
            <a:r>
              <a:rPr lang="en-US" sz="1450" dirty="0">
                <a:solidFill>
                  <a:srgbClr val="7B6FF0"/>
                </a:solidFill>
                <a:latin typeface="Courier New" pitchFamily="34" charset="0"/>
                <a:ea typeface="Courier New" pitchFamily="34" charset="-122"/>
                <a:cs typeface="Courier New" pitchFamily="34" charset="-120"/>
              </a:rPr>
              <a:t>in</a:t>
            </a:r>
            <a:pPr indent="0" marL="0">
              <a:buNone/>
            </a:pPr>
            <a:r>
              <a:rPr lang="en-US" sz="1450" dirty="0">
                <a:solidFill>
                  <a:srgbClr val="F8FAFC"/>
                </a:solidFill>
                <a:latin typeface="Courier New" pitchFamily="34" charset="0"/>
                <a:ea typeface="Courier New" pitchFamily="34" charset="-122"/>
                <a:cs typeface="Courier New" pitchFamily="34" charset="-120"/>
              </a:rPr>
              <a:t> {</a:t>
            </a:r>
            <a:pPr indent="0" marL="0">
              <a:buNone/>
            </a:pPr>
            <a:r>
              <a:rPr lang="en-US" sz="1450" dirty="0">
                <a:solidFill>
                  <a:srgbClr val="4ADE80"/>
                </a:solidFill>
                <a:latin typeface="Courier New" pitchFamily="34" charset="0"/>
                <a:ea typeface="Courier New" pitchFamily="34" charset="-122"/>
                <a:cs typeface="Courier New" pitchFamily="34" charset="-120"/>
              </a:rPr>
              <a:t>"allow"</a:t>
            </a:r>
            <a:pPr indent="0" marL="0">
              <a:buNone/>
            </a:pPr>
            <a:r>
              <a:rPr lang="en-US" sz="1450" dirty="0">
                <a:solidFill>
                  <a:srgbClr val="F8FAFC"/>
                </a:solidFill>
                <a:latin typeface="Courier New" pitchFamily="34" charset="0"/>
                <a:ea typeface="Courier New" pitchFamily="34" charset="-122"/>
                <a:cs typeface="Courier New" pitchFamily="34" charset="-120"/>
              </a:rPr>
              <a:t>, </a:t>
            </a:r>
            <a:pPr indent="0" marL="0">
              <a:buNone/>
            </a:pPr>
            <a:r>
              <a:rPr lang="en-US" sz="1450" dirty="0">
                <a:solidFill>
                  <a:srgbClr val="4ADE80"/>
                </a:solidFill>
                <a:latin typeface="Courier New" pitchFamily="34" charset="0"/>
                <a:ea typeface="Courier New" pitchFamily="34" charset="-122"/>
                <a:cs typeface="Courier New" pitchFamily="34" charset="-120"/>
              </a:rPr>
              <a:t>"deny"</a:t>
            </a:r>
            <a:pPr indent="0" marL="0">
              <a:buNone/>
            </a:pPr>
            <a:r>
              <a:rPr lang="en-US" sz="1450" dirty="0">
                <a:solidFill>
                  <a:srgbClr val="F8FAFC"/>
                </a:solidFill>
                <a:latin typeface="Courier New" pitchFamily="34" charset="0"/>
                <a:ea typeface="Courier New" pitchFamily="34" charset="-122"/>
                <a:cs typeface="Courier New" pitchFamily="34" charset="-120"/>
              </a:rPr>
              <a:t>}:</a:t>
            </a:r>
            <a:endParaRPr lang="en-US" sz="1450" dirty="0"/>
          </a:p>
        </p:txBody>
      </p:sp>
      <p:sp>
        <p:nvSpPr>
          <p:cNvPr id="23" name="Text 20"/>
          <p:cNvSpPr txBox="1"/>
          <p:nvPr/>
        </p:nvSpPr>
        <p:spPr>
          <a:xfrm>
            <a:off x="6025896" y="3593592"/>
            <a:ext cx="5266944" cy="329184"/>
          </a:xfrm>
          <a:prstGeom prst="rect">
            <a:avLst/>
          </a:prstGeom>
          <a:noFill/>
          <a:ln/>
        </p:spPr>
        <p:txBody>
          <a:bodyPr wrap="square" lIns="0" tIns="0" rIns="0" bIns="0" rtlCol="0" anchor="ctr"/>
          <a:lstStyle/>
          <a:p>
            <a:pPr indent="0" marL="0">
              <a:buNone/>
            </a:pPr>
            <a:r>
              <a:rPr lang="en-US" sz="1450" dirty="0">
                <a:solidFill>
                  <a:srgbClr val="F8FAFC"/>
                </a:solidFill>
                <a:latin typeface="Courier New" pitchFamily="34" charset="0"/>
                <a:ea typeface="Courier New" pitchFamily="34" charset="-122"/>
                <a:cs typeface="Courier New" pitchFamily="34" charset="-120"/>
              </a:rPr>
              <a:t>    </a:t>
            </a:r>
            <a:pPr indent="0" marL="0">
              <a:buNone/>
            </a:pPr>
            <a:r>
              <a:rPr lang="en-US" sz="1450" dirty="0">
                <a:solidFill>
                  <a:srgbClr val="7B6FF0"/>
                </a:solidFill>
                <a:latin typeface="Courier New" pitchFamily="34" charset="0"/>
                <a:ea typeface="Courier New" pitchFamily="34" charset="-122"/>
                <a:cs typeface="Courier New" pitchFamily="34" charset="-120"/>
              </a:rPr>
              <a:t>return</a:t>
            </a:r>
            <a:pPr indent="0" marL="0">
              <a:buNone/>
            </a:pPr>
            <a:r>
              <a:rPr lang="en-US" sz="1450" dirty="0">
                <a:solidFill>
                  <a:srgbClr val="F8FAFC"/>
                </a:solidFill>
                <a:latin typeface="Courier New" pitchFamily="34" charset="0"/>
                <a:ea typeface="Courier New" pitchFamily="34" charset="-122"/>
                <a:cs typeface="Courier New" pitchFamily="34" charset="-120"/>
              </a:rPr>
              <a:t> adapter.</a:t>
            </a:r>
            <a:pPr indent="0" marL="0">
              <a:buNone/>
            </a:pPr>
            <a:r>
              <a:rPr lang="en-US" sz="1450" dirty="0">
                <a:solidFill>
                  <a:srgbClr val="7B6FF0"/>
                </a:solidFill>
                <a:latin typeface="Courier New" pitchFamily="34" charset="0"/>
                <a:ea typeface="Courier New" pitchFamily="34" charset="-122"/>
                <a:cs typeface="Courier New" pitchFamily="34" charset="-120"/>
              </a:rPr>
              <a:t>firewall</a:t>
            </a:r>
            <a:pPr indent="0" marL="0">
              <a:buNone/>
            </a:pPr>
            <a:r>
              <a:rPr lang="en-US" sz="1450" dirty="0">
                <a:solidFill>
                  <a:srgbClr val="F8FAFC"/>
                </a:solidFill>
                <a:latin typeface="Courier New" pitchFamily="34" charset="0"/>
                <a:ea typeface="Courier New" pitchFamily="34" charset="-122"/>
                <a:cs typeface="Courier New" pitchFamily="34" charset="-120"/>
              </a:rPr>
              <a:t>(instruction)</a:t>
            </a:r>
            <a:endParaRPr lang="en-US" sz="1450" dirty="0"/>
          </a:p>
        </p:txBody>
      </p:sp>
      <p:sp>
        <p:nvSpPr>
          <p:cNvPr id="24" name="Text 21"/>
          <p:cNvSpPr txBox="1"/>
          <p:nvPr/>
        </p:nvSpPr>
        <p:spPr>
          <a:xfrm>
            <a:off x="6025896" y="3922776"/>
            <a:ext cx="5266944" cy="329184"/>
          </a:xfrm>
          <a:prstGeom prst="rect">
            <a:avLst/>
          </a:prstGeom>
          <a:noFill/>
          <a:ln/>
        </p:spPr>
        <p:txBody>
          <a:bodyPr wrap="square" lIns="0" tIns="0" rIns="0" bIns="0" rtlCol="0" anchor="ctr"/>
          <a:lstStyle/>
          <a:p>
            <a:pPr indent="0" marL="0">
              <a:buNone/>
            </a:pPr>
            <a:r>
              <a:rPr lang="en-US" sz="1450" dirty="0">
                <a:solidFill>
                  <a:srgbClr val="7B6FF0"/>
                </a:solidFill>
                <a:latin typeface="Courier New" pitchFamily="34" charset="0"/>
                <a:ea typeface="Courier New" pitchFamily="34" charset="-122"/>
                <a:cs typeface="Courier New" pitchFamily="34" charset="-120"/>
              </a:rPr>
              <a:t>return</a:t>
            </a:r>
            <a:pPr indent="0" marL="0">
              <a:buNone/>
            </a:pPr>
            <a:r>
              <a:rPr lang="en-US" sz="1450" dirty="0">
                <a:solidFill>
                  <a:srgbClr val="F8FAFC"/>
                </a:solidFill>
                <a:latin typeface="Courier New" pitchFamily="34" charset="0"/>
                <a:ea typeface="Courier New" pitchFamily="34" charset="-122"/>
                <a:cs typeface="Courier New" pitchFamily="34" charset="-120"/>
              </a:rPr>
              <a:t> adapter.</a:t>
            </a:r>
            <a:pPr indent="0" marL="0">
              <a:buNone/>
            </a:pPr>
            <a:r>
              <a:rPr lang="en-US" sz="1450" dirty="0">
                <a:solidFill>
                  <a:srgbClr val="7B6FF0"/>
                </a:solidFill>
                <a:latin typeface="Courier New" pitchFamily="34" charset="0"/>
                <a:ea typeface="Courier New" pitchFamily="34" charset="-122"/>
                <a:cs typeface="Courier New" pitchFamily="34" charset="-120"/>
              </a:rPr>
              <a:t>check</a:t>
            </a:r>
            <a:pPr indent="0" marL="0">
              <a:buNone/>
            </a:pPr>
            <a:r>
              <a:rPr lang="en-US" sz="1450" dirty="0">
                <a:solidFill>
                  <a:srgbClr val="F8FAFC"/>
                </a:solidFill>
                <a:latin typeface="Courier New" pitchFamily="34" charset="0"/>
                <a:ea typeface="Courier New" pitchFamily="34" charset="-122"/>
                <a:cs typeface="Courier New" pitchFamily="34" charset="-120"/>
              </a:rPr>
              <a:t>(instruction)</a:t>
            </a:r>
            <a:endParaRPr lang="en-US" sz="1450" dirty="0"/>
          </a:p>
        </p:txBody>
      </p:sp>
      <p:sp>
        <p:nvSpPr>
          <p:cNvPr id="25" name="Text 22"/>
          <p:cNvSpPr txBox="1"/>
          <p:nvPr/>
        </p:nvSpPr>
        <p:spPr>
          <a:xfrm>
            <a:off x="932688" y="4736592"/>
            <a:ext cx="4434840" cy="411480"/>
          </a:xfrm>
          <a:prstGeom prst="rect">
            <a:avLst/>
          </a:prstGeom>
          <a:noFill/>
          <a:ln/>
        </p:spPr>
        <p:txBody>
          <a:bodyPr wrap="square" lIns="0" tIns="0" rIns="0" bIns="0" rtlCol="0" anchor="ctr"/>
          <a:lstStyle/>
          <a:p>
            <a:pPr indent="0" marL="0">
              <a:buNone/>
            </a:pPr>
            <a:r>
              <a:rPr lang="en-US" sz="2400" b="1" dirty="0">
                <a:solidFill>
                  <a:srgbClr val="10BCD8"/>
                </a:solidFill>
                <a:latin typeface="Calibri" pitchFamily="34" charset="0"/>
                <a:ea typeface="Calibri" pitchFamily="34" charset="-122"/>
                <a:cs typeface="Calibri" pitchFamily="34" charset="-120"/>
              </a:rPr>
              <a:t>Plano serializado</a:t>
            </a:r>
            <a:endParaRPr lang="en-US" sz="2400" dirty="0"/>
          </a:p>
        </p:txBody>
      </p:sp>
      <p:sp>
        <p:nvSpPr>
          <p:cNvPr id="26" name="Text 23"/>
          <p:cNvSpPr txBox="1"/>
          <p:nvPr/>
        </p:nvSpPr>
        <p:spPr>
          <a:xfrm>
            <a:off x="932688" y="5303520"/>
            <a:ext cx="4434840" cy="777240"/>
          </a:xfrm>
          <a:prstGeom prst="rect">
            <a:avLst/>
          </a:prstGeom>
          <a:noFill/>
          <a:ln/>
        </p:spPr>
        <p:txBody>
          <a:bodyPr wrap="square" lIns="0" tIns="0" rIns="0" bIns="0" rtlCol="0" anchor="ctr"/>
          <a:lstStyle/>
          <a:p>
            <a:pPr indent="0" marL="0">
              <a:buNone/>
            </a:pPr>
            <a:r>
              <a:rPr lang="en-US" sz="1900" dirty="0">
                <a:solidFill>
                  <a:srgbClr val="CBD5E1"/>
                </a:solidFill>
                <a:latin typeface="Calibri" pitchFamily="34" charset="0"/>
                <a:ea typeface="Calibri" pitchFamily="34" charset="-122"/>
                <a:cs typeface="Calibri" pitchFamily="34" charset="-120"/>
              </a:rPr>
              <a:t>Recorte de uma instrução. O plano completo também preserva a origem no código.</a:t>
            </a:r>
            <a:endParaRPr lang="en-US" sz="1900" dirty="0"/>
          </a:p>
        </p:txBody>
      </p:sp>
      <p:sp>
        <p:nvSpPr>
          <p:cNvPr id="27" name="Text 24"/>
          <p:cNvSpPr txBox="1"/>
          <p:nvPr/>
        </p:nvSpPr>
        <p:spPr>
          <a:xfrm>
            <a:off x="6071616" y="4736592"/>
            <a:ext cx="4846320" cy="411480"/>
          </a:xfrm>
          <a:prstGeom prst="rect">
            <a:avLst/>
          </a:prstGeom>
          <a:noFill/>
          <a:ln/>
        </p:spPr>
        <p:txBody>
          <a:bodyPr wrap="square" lIns="0" tIns="0" rIns="0" bIns="0" rtlCol="0" anchor="ctr"/>
          <a:lstStyle/>
          <a:p>
            <a:pPr indent="0" marL="0">
              <a:buNone/>
            </a:pPr>
            <a:r>
              <a:rPr lang="en-US" sz="2400" b="1" dirty="0">
                <a:solidFill>
                  <a:srgbClr val="7B6FF0"/>
                </a:solidFill>
                <a:latin typeface="Calibri" pitchFamily="34" charset="0"/>
                <a:ea typeface="Calibri" pitchFamily="34" charset="-122"/>
                <a:cs typeface="Calibri" pitchFamily="34" charset="-120"/>
              </a:rPr>
              <a:t>Despacho explícito</a:t>
            </a:r>
            <a:endParaRPr lang="en-US" sz="2400" dirty="0"/>
          </a:p>
        </p:txBody>
      </p:sp>
      <p:sp>
        <p:nvSpPr>
          <p:cNvPr id="28" name="Text 25"/>
          <p:cNvSpPr txBox="1"/>
          <p:nvPr/>
        </p:nvSpPr>
        <p:spPr>
          <a:xfrm>
            <a:off x="6071616" y="5303520"/>
            <a:ext cx="4846320" cy="777240"/>
          </a:xfrm>
          <a:prstGeom prst="rect">
            <a:avLst/>
          </a:prstGeom>
          <a:noFill/>
          <a:ln/>
        </p:spPr>
        <p:txBody>
          <a:bodyPr wrap="square" lIns="0" tIns="0" rIns="0" bIns="0" rtlCol="0" anchor="ctr"/>
          <a:lstStyle/>
          <a:p>
            <a:pPr indent="0" marL="0">
              <a:buNone/>
            </a:pPr>
            <a:r>
              <a:rPr lang="en-US" sz="1900" dirty="0">
                <a:solidFill>
                  <a:srgbClr val="CBD5E1"/>
                </a:solidFill>
                <a:latin typeface="Calibri" pitchFamily="34" charset="0"/>
                <a:ea typeface="Calibri" pitchFamily="34" charset="-122"/>
                <a:cs typeface="Calibri" pitchFamily="34" charset="-120"/>
              </a:rPr>
              <a:t>Preflight valida o ambiente. Cada ação produz sucesso, status e detalhe.</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324"/>
        </a:solidFill>
      </p:bgPr>
    </p:bg>
    <p:spTree>
      <p:nvGrpSpPr>
        <p:cNvPr id="1" name=""/>
        <p:cNvGrpSpPr/>
        <p:nvPr/>
      </p:nvGrpSpPr>
      <p:grpSpPr>
        <a:xfrm>
          <a:off x="0" y="0"/>
          <a:ext cx="0" cy="0"/>
          <a:chOff x="0" y="0"/>
          <a:chExt cx="0" cy="0"/>
        </a:xfrm>
      </p:grpSpPr>
      <p:sp>
        <p:nvSpPr>
          <p:cNvPr id="2" name="Shape 0"/>
          <p:cNvSpPr/>
          <p:nvPr/>
        </p:nvSpPr>
        <p:spPr>
          <a:xfrm>
            <a:off x="-1024128" y="-1005840"/>
            <a:ext cx="3456432" cy="3364992"/>
          </a:xfrm>
          <a:prstGeom prst="ellipse">
            <a:avLst/>
          </a:prstGeom>
          <a:solidFill>
            <a:srgbClr val="122B3F"/>
          </a:solidFill>
          <a:ln w="12700">
            <a:solidFill>
              <a:srgbClr val="333333">
                <a:alpha val="0"/>
              </a:srgbClr>
            </a:solidFill>
            <a:prstDash val="solid"/>
          </a:ln>
        </p:spPr>
      </p:sp>
      <p:sp>
        <p:nvSpPr>
          <p:cNvPr id="3" name="Shape 1"/>
          <p:cNvSpPr/>
          <p:nvPr/>
        </p:nvSpPr>
        <p:spPr>
          <a:xfrm>
            <a:off x="8686800" y="4709160"/>
            <a:ext cx="4663440" cy="3310128"/>
          </a:xfrm>
          <a:prstGeom prst="ellipse">
            <a:avLst/>
          </a:prstGeom>
          <a:solidFill>
            <a:srgbClr val="1D1D40"/>
          </a:solidFill>
          <a:ln w="12700">
            <a:solidFill>
              <a:srgbClr val="333333">
                <a:alpha val="0"/>
              </a:srgbClr>
            </a:solidFill>
            <a:prstDash val="solid"/>
          </a:ln>
        </p:spPr>
      </p:sp>
      <p:sp>
        <p:nvSpPr>
          <p:cNvPr id="4" name="Text 2"/>
          <p:cNvSpPr txBox="1"/>
          <p:nvPr/>
        </p:nvSpPr>
        <p:spPr>
          <a:xfrm>
            <a:off x="594360" y="292608"/>
            <a:ext cx="10469880" cy="530352"/>
          </a:xfrm>
          <a:prstGeom prst="rect">
            <a:avLst/>
          </a:prstGeom>
          <a:noFill/>
          <a:ln/>
        </p:spPr>
        <p:txBody>
          <a:bodyPr wrap="square" lIns="0" tIns="0" rIns="0" bIns="0" rtlCol="0" anchor="ctr"/>
          <a:lstStyle/>
          <a:p>
            <a:pPr algn="ctr" indent="0" marL="0">
              <a:buNone/>
            </a:pPr>
            <a:r>
              <a:rPr lang="en-US" sz="2900" b="1" dirty="0">
                <a:solidFill>
                  <a:srgbClr val="F8FAFC"/>
                </a:solidFill>
                <a:latin typeface="Arial" pitchFamily="34" charset="0"/>
                <a:ea typeface="Arial" pitchFamily="34" charset="-122"/>
                <a:cs typeface="Arial" pitchFamily="34" charset="-120"/>
              </a:rPr>
              <a:t>Ambientes de </a:t>
            </a:r>
            <a:pPr algn="ctr" indent="0" marL="0">
              <a:buNone/>
            </a:pPr>
            <a:r>
              <a:rPr lang="en-US" sz="2900" b="1" dirty="0">
                <a:solidFill>
                  <a:srgbClr val="10BCD8"/>
                </a:solidFill>
                <a:latin typeface="Arial" pitchFamily="34" charset="0"/>
                <a:ea typeface="Arial" pitchFamily="34" charset="-122"/>
                <a:cs typeface="Arial" pitchFamily="34" charset="-120"/>
              </a:rPr>
              <a:t>execução</a:t>
            </a:r>
            <a:endParaRPr lang="en-US" sz="2900" dirty="0"/>
          </a:p>
        </p:txBody>
      </p:sp>
      <p:sp>
        <p:nvSpPr>
          <p:cNvPr id="5" name="Shape 3"/>
          <p:cNvSpPr/>
          <p:nvPr/>
        </p:nvSpPr>
        <p:spPr>
          <a:xfrm>
            <a:off x="10991088" y="310896"/>
            <a:ext cx="621792" cy="621792"/>
          </a:xfrm>
          <a:prstGeom prst="ellipse">
            <a:avLst/>
          </a:prstGeom>
          <a:solidFill>
            <a:srgbClr val="7B6FF0"/>
          </a:solidFill>
          <a:ln w="12700">
            <a:solidFill>
              <a:srgbClr val="7B6FF0">
                <a:alpha val="0"/>
              </a:srgbClr>
            </a:solidFill>
            <a:prstDash val="solid"/>
          </a:ln>
        </p:spPr>
      </p:sp>
      <p:pic>
        <p:nvPicPr>
          <p:cNvPr id="6" name="Image 0" descr="preencoded.png">    </p:cNvPr>
          <p:cNvPicPr>
            <a:picLocks noChangeAspect="1"/>
          </p:cNvPicPr>
          <p:nvPr/>
        </p:nvPicPr>
        <p:blipFill>
          <a:blip r:embed="rId1"/>
          <a:stretch>
            <a:fillRect/>
          </a:stretch>
        </p:blipFill>
        <p:spPr>
          <a:xfrm>
            <a:off x="11134100" y="453908"/>
            <a:ext cx="335768" cy="335768"/>
          </a:xfrm>
          <a:prstGeom prst="rect">
            <a:avLst/>
          </a:prstGeom>
        </p:spPr>
      </p:pic>
      <p:sp>
        <p:nvSpPr>
          <p:cNvPr id="7" name="Text 4"/>
          <p:cNvSpPr txBox="1"/>
          <p:nvPr/>
        </p:nvSpPr>
        <p:spPr>
          <a:xfrm>
            <a:off x="685800" y="987552"/>
            <a:ext cx="10789920" cy="384048"/>
          </a:xfrm>
          <a:prstGeom prst="rect">
            <a:avLst/>
          </a:prstGeom>
          <a:noFill/>
          <a:ln/>
        </p:spPr>
        <p:txBody>
          <a:bodyPr wrap="square" lIns="0" tIns="0" rIns="0" bIns="0" rtlCol="0" anchor="ctr"/>
          <a:lstStyle/>
          <a:p>
            <a:pPr algn="ctr" indent="0" marL="0">
              <a:buNone/>
            </a:pPr>
            <a:r>
              <a:rPr lang="en-US" sz="1800" dirty="0">
                <a:solidFill>
                  <a:srgbClr val="CBD5E1"/>
                </a:solidFill>
                <a:latin typeface="Calibri" pitchFamily="34" charset="0"/>
                <a:ea typeface="Calibri" pitchFamily="34" charset="-122"/>
                <a:cs typeface="Calibri" pitchFamily="34" charset="-120"/>
              </a:rPr>
              <a:t>O mesmo plano tem efeitos diferentes somente quando o modo é escolhido explicitamente</a:t>
            </a:r>
            <a:endParaRPr lang="en-US" sz="1800" dirty="0"/>
          </a:p>
        </p:txBody>
      </p:sp>
      <p:sp>
        <p:nvSpPr>
          <p:cNvPr id="8" name="Text 5"/>
          <p:cNvSpPr txBox="1"/>
          <p:nvPr/>
        </p:nvSpPr>
        <p:spPr>
          <a:xfrm>
            <a:off x="502920" y="6556248"/>
            <a:ext cx="7772400" cy="164592"/>
          </a:xfrm>
          <a:prstGeom prst="rect">
            <a:avLst/>
          </a:prstGeom>
          <a:noFill/>
          <a:ln/>
        </p:spPr>
        <p:txBody>
          <a:bodyPr wrap="square" lIns="0" tIns="0" rIns="0" bIns="0" rtlCol="0" anchor="ctr"/>
          <a:lstStyle/>
          <a:p>
            <a:pPr indent="0" marL="0">
              <a:buNone/>
            </a:pPr>
            <a:r>
              <a:rPr lang="en-US" sz="850" dirty="0">
                <a:solidFill>
                  <a:srgbClr val="8796AD"/>
                </a:solidFill>
                <a:latin typeface="Calibri" pitchFamily="34" charset="0"/>
                <a:ea typeface="Calibri" pitchFamily="34" charset="-122"/>
                <a:cs typeface="Calibri" pitchFamily="34" charset="-120"/>
              </a:rPr>
              <a:t>NetSec  ·  Redes + Segurança + Automação</a:t>
            </a:r>
            <a:endParaRPr lang="en-US" sz="850" dirty="0"/>
          </a:p>
        </p:txBody>
      </p:sp>
      <p:sp>
        <p:nvSpPr>
          <p:cNvPr id="9" name="Text 6"/>
          <p:cNvSpPr txBox="1"/>
          <p:nvPr/>
        </p:nvSpPr>
        <p:spPr>
          <a:xfrm>
            <a:off x="11292840" y="6547104"/>
            <a:ext cx="320040" cy="182880"/>
          </a:xfrm>
          <a:prstGeom prst="rect">
            <a:avLst/>
          </a:prstGeom>
          <a:noFill/>
          <a:ln/>
        </p:spPr>
        <p:txBody>
          <a:bodyPr wrap="square" lIns="0" tIns="0" rIns="0" bIns="0" rtlCol="0" anchor="ctr"/>
          <a:lstStyle/>
          <a:p>
            <a:pPr algn="r" indent="0" marL="0">
              <a:buNone/>
            </a:pPr>
            <a:r>
              <a:rPr lang="en-US" sz="850" dirty="0">
                <a:solidFill>
                  <a:srgbClr val="8796AD"/>
                </a:solidFill>
                <a:latin typeface="Calibri" pitchFamily="34" charset="0"/>
                <a:ea typeface="Calibri" pitchFamily="34" charset="-122"/>
                <a:cs typeface="Calibri" pitchFamily="34" charset="-120"/>
              </a:rPr>
              <a:t>11</a:t>
            </a:r>
            <a:endParaRPr lang="en-US" sz="8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835640" cy="914400"/>
        </p:xfrm>
        <a:graphic>
          <a:graphicData uri="http://schemas.openxmlformats.org/drawingml/2006/table">
            <a:tbl>
              <a:tblPr/>
              <a:tblGrid>
                <a:gridCol w="1691640"/>
                <a:gridCol w="5029200"/>
                <a:gridCol w="4114800"/>
              </a:tblGrid>
              <a:tr h="786384">
                <a:tc>
                  <a:txBody>
                    <a:bodyPr/>
                    <a:lstStyle/>
                    <a:p>
                      <a:pPr indent="0" marL="0">
                        <a:buNone/>
                      </a:pPr>
                      <a:r>
                        <a:rPr lang="en-US" sz="1900" b="1" dirty="0">
                          <a:solidFill>
                            <a:srgbClr val="10BCD8"/>
                          </a:solidFill>
                          <a:latin typeface="Calibri" pitchFamily="34" charset="0"/>
                          <a:ea typeface="Calibri" pitchFamily="34" charset="-122"/>
                          <a:cs typeface="Calibri" pitchFamily="34" charset="-120"/>
                        </a:rPr>
                        <a:t>Modo</a:t>
                      </a:r>
                      <a:endParaRPr lang="en-US" sz="19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c>
                  <a:txBody>
                    <a:bodyPr/>
                    <a:lstStyle/>
                    <a:p>
                      <a:pPr indent="0" marL="0">
                        <a:buNone/>
                      </a:pPr>
                      <a:r>
                        <a:rPr lang="en-US" sz="1900" b="1" dirty="0">
                          <a:solidFill>
                            <a:srgbClr val="10BCD8"/>
                          </a:solidFill>
                          <a:latin typeface="Calibri" pitchFamily="34" charset="0"/>
                          <a:ea typeface="Calibri" pitchFamily="34" charset="-122"/>
                          <a:cs typeface="Calibri" pitchFamily="34" charset="-120"/>
                        </a:rPr>
                        <a:t>De onde vem o resultado</a:t>
                      </a:r>
                      <a:endParaRPr lang="en-US" sz="19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c>
                  <a:txBody>
                    <a:bodyPr/>
                    <a:lstStyle/>
                    <a:p>
                      <a:pPr indent="0" marL="0">
                        <a:buNone/>
                      </a:pPr>
                      <a:r>
                        <a:rPr lang="en-US" sz="1900" b="1" dirty="0">
                          <a:solidFill>
                            <a:srgbClr val="10BCD8"/>
                          </a:solidFill>
                          <a:latin typeface="Calibri" pitchFamily="34" charset="0"/>
                          <a:ea typeface="Calibri" pitchFamily="34" charset="-122"/>
                          <a:cs typeface="Calibri" pitchFamily="34" charset="-120"/>
                        </a:rPr>
                        <a:t>Pode alterar firewall?</a:t>
                      </a:r>
                      <a:endParaRPr lang="en-US" sz="19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r>
              <a:tr h="786384">
                <a:tc>
                  <a:txBody>
                    <a:bodyPr/>
                    <a:lstStyle/>
                    <a:p>
                      <a:pPr indent="0" marL="0">
                        <a:buNone/>
                      </a:pPr>
                      <a:r>
                        <a:rPr lang="en-US" sz="1900" dirty="0">
                          <a:solidFill>
                            <a:srgbClr val="F8FAFC"/>
                          </a:solidFill>
                          <a:latin typeface="Calibri" pitchFamily="34" charset="0"/>
                          <a:ea typeface="Calibri" pitchFamily="34" charset="-122"/>
                          <a:cs typeface="Calibri" pitchFamily="34" charset="-120"/>
                        </a:rPr>
                        <a:t>simulate</a:t>
                      </a:r>
                      <a:endParaRPr lang="en-US" sz="19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1E293B"/>
                    </a:solidFill>
                  </a:tcPr>
                </a:tc>
                <a:tc>
                  <a:txBody>
                    <a:bodyPr/>
                    <a:lstStyle/>
                    <a:p>
                      <a:pPr indent="0" marL="0">
                        <a:buNone/>
                      </a:pPr>
                      <a:r>
                        <a:rPr lang="en-US" sz="1900" dirty="0">
                          <a:solidFill>
                            <a:srgbClr val="F8FAFC"/>
                          </a:solidFill>
                          <a:latin typeface="Calibri" pitchFamily="34" charset="0"/>
                          <a:ea typeface="Calibri" pitchFamily="34" charset="-122"/>
                          <a:cs typeface="Calibri" pitchFamily="34" charset="-120"/>
                        </a:rPr>
                        <a:t>Cenário JSON explícito</a:t>
                      </a:r>
                      <a:endParaRPr lang="en-US" sz="19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1E293B"/>
                    </a:solidFill>
                  </a:tcPr>
                </a:tc>
                <a:tc>
                  <a:txBody>
                    <a:bodyPr/>
                    <a:lstStyle/>
                    <a:p>
                      <a:pPr indent="0" marL="0">
                        <a:buNone/>
                      </a:pPr>
                      <a:r>
                        <a:rPr lang="en-US" sz="1900" dirty="0">
                          <a:solidFill>
                            <a:srgbClr val="F8FAFC"/>
                          </a:solidFill>
                          <a:latin typeface="Calibri" pitchFamily="34" charset="0"/>
                          <a:ea typeface="Calibri" pitchFamily="34" charset="-122"/>
                          <a:cs typeface="Calibri" pitchFamily="34" charset="-120"/>
                        </a:rPr>
                        <a:t>Somente o estado simulado</a:t>
                      </a:r>
                      <a:endParaRPr lang="en-US" sz="19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1E293B"/>
                    </a:solidFill>
                  </a:tcPr>
                </a:tc>
              </a:tr>
              <a:tr h="786384">
                <a:tc>
                  <a:txBody>
                    <a:bodyPr/>
                    <a:lstStyle/>
                    <a:p>
                      <a:pPr indent="0" marL="0">
                        <a:buNone/>
                      </a:pPr>
                      <a:r>
                        <a:rPr lang="en-US" sz="1900" dirty="0">
                          <a:solidFill>
                            <a:srgbClr val="F8FAFC"/>
                          </a:solidFill>
                          <a:latin typeface="Calibri" pitchFamily="34" charset="0"/>
                          <a:ea typeface="Calibri" pitchFamily="34" charset="-122"/>
                          <a:cs typeface="Calibri" pitchFamily="34" charset="-120"/>
                        </a:rPr>
                        <a:t>network</a:t>
                      </a:r>
                      <a:endParaRPr lang="en-US" sz="19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c>
                  <a:txBody>
                    <a:bodyPr/>
                    <a:lstStyle/>
                    <a:p>
                      <a:pPr indent="0" marL="0">
                        <a:buNone/>
                      </a:pPr>
                      <a:r>
                        <a:rPr lang="en-US" sz="1900" dirty="0">
                          <a:solidFill>
                            <a:srgbClr val="F8FAFC"/>
                          </a:solidFill>
                          <a:latin typeface="Calibri" pitchFamily="34" charset="0"/>
                          <a:ea typeface="Calibri" pitchFamily="34" charset="-122"/>
                          <a:cs typeface="Calibri" pitchFamily="34" charset="-120"/>
                        </a:rPr>
                        <a:t>Sondas TCP / SSH / HTTP(S) locais</a:t>
                      </a:r>
                      <a:endParaRPr lang="en-US" sz="19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c>
                  <a:txBody>
                    <a:bodyPr/>
                    <a:lstStyle/>
                    <a:p>
                      <a:pPr indent="0" marL="0">
                        <a:buNone/>
                      </a:pPr>
                      <a:r>
                        <a:rPr lang="en-US" sz="1900" dirty="0">
                          <a:solidFill>
                            <a:srgbClr val="F8FAFC"/>
                          </a:solidFill>
                          <a:latin typeface="Calibri" pitchFamily="34" charset="0"/>
                          <a:ea typeface="Calibri" pitchFamily="34" charset="-122"/>
                          <a:cs typeface="Calibri" pitchFamily="34" charset="-120"/>
                        </a:rPr>
                        <a:t>Não. Rejeita regras no preflight</a:t>
                      </a:r>
                      <a:endParaRPr lang="en-US" sz="19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r>
              <a:tr h="786384">
                <a:tc>
                  <a:txBody>
                    <a:bodyPr/>
                    <a:lstStyle/>
                    <a:p>
                      <a:pPr indent="0" marL="0">
                        <a:buNone/>
                      </a:pPr>
                      <a:r>
                        <a:rPr lang="en-US" sz="1900" dirty="0">
                          <a:solidFill>
                            <a:srgbClr val="F8FAFC"/>
                          </a:solidFill>
                          <a:latin typeface="Calibri" pitchFamily="34" charset="0"/>
                          <a:ea typeface="Calibri" pitchFamily="34" charset="-122"/>
                          <a:cs typeface="Calibri" pitchFamily="34" charset="-120"/>
                        </a:rPr>
                        <a:t>docker</a:t>
                      </a:r>
                      <a:endParaRPr lang="en-US" sz="19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1E293B"/>
                    </a:solidFill>
                  </a:tcPr>
                </a:tc>
                <a:tc>
                  <a:txBody>
                    <a:bodyPr/>
                    <a:lstStyle/>
                    <a:p>
                      <a:pPr indent="0" marL="0">
                        <a:buNone/>
                      </a:pPr>
                      <a:r>
                        <a:rPr lang="en-US" sz="1900" dirty="0">
                          <a:solidFill>
                            <a:srgbClr val="F8FAFC"/>
                          </a:solidFill>
                          <a:latin typeface="Calibri" pitchFamily="34" charset="0"/>
                          <a:ea typeface="Calibri" pitchFamily="34" charset="-122"/>
                          <a:cs typeface="Calibri" pitchFamily="34" charset="-120"/>
                        </a:rPr>
                        <a:t>Sondas e nftables no laboratório</a:t>
                      </a:r>
                      <a:endParaRPr lang="en-US" sz="19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1E293B"/>
                    </a:solidFill>
                  </a:tcPr>
                </a:tc>
                <a:tc>
                  <a:txBody>
                    <a:bodyPr/>
                    <a:lstStyle/>
                    <a:p>
                      <a:pPr indent="0" marL="0">
                        <a:buNone/>
                      </a:pPr>
                      <a:r>
                        <a:rPr lang="en-US" sz="1900" dirty="0">
                          <a:solidFill>
                            <a:srgbClr val="F8FAFC"/>
                          </a:solidFill>
                          <a:latin typeface="Calibri" pitchFamily="34" charset="0"/>
                          <a:ea typeface="Calibri" pitchFamily="34" charset="-122"/>
                          <a:cs typeface="Calibri" pitchFamily="34" charset="-120"/>
                        </a:rPr>
                        <a:t>Sim, nos containers autorizados</a:t>
                      </a:r>
                      <a:endParaRPr lang="en-US" sz="19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1E293B"/>
                    </a:solidFill>
                  </a:tcPr>
                </a:tc>
              </a:tr>
            </a:tbl>
          </a:graphicData>
        </a:graphic>
      </p:graphicFrame>
      <p:sp>
        <p:nvSpPr>
          <p:cNvPr id="11" name="Shape 7"/>
          <p:cNvSpPr/>
          <p:nvPr/>
        </p:nvSpPr>
        <p:spPr>
          <a:xfrm>
            <a:off x="941832" y="5212080"/>
            <a:ext cx="530352" cy="530352"/>
          </a:xfrm>
          <a:prstGeom prst="ellipse">
            <a:avLst/>
          </a:prstGeom>
          <a:solidFill>
            <a:srgbClr val="10BCD8"/>
          </a:solidFill>
          <a:ln w="12700">
            <a:solidFill>
              <a:srgbClr val="10BCD8">
                <a:alpha val="0"/>
              </a:srgbClr>
            </a:solidFill>
            <a:prstDash val="solid"/>
          </a:ln>
        </p:spPr>
      </p:sp>
      <p:pic>
        <p:nvPicPr>
          <p:cNvPr id="12" name="Image 1" descr="preencoded.png">    </p:cNvPr>
          <p:cNvPicPr>
            <a:picLocks noChangeAspect="1"/>
          </p:cNvPicPr>
          <p:nvPr/>
        </p:nvPicPr>
        <p:blipFill>
          <a:blip r:embed="rId2"/>
          <a:stretch>
            <a:fillRect/>
          </a:stretch>
        </p:blipFill>
        <p:spPr>
          <a:xfrm>
            <a:off x="1063813" y="5334061"/>
            <a:ext cx="286390" cy="286390"/>
          </a:xfrm>
          <a:prstGeom prst="rect">
            <a:avLst/>
          </a:prstGeom>
        </p:spPr>
      </p:pic>
      <p:sp>
        <p:nvSpPr>
          <p:cNvPr id="13" name="Text 8"/>
          <p:cNvSpPr txBox="1"/>
          <p:nvPr/>
        </p:nvSpPr>
        <p:spPr>
          <a:xfrm>
            <a:off x="1673352" y="5193792"/>
            <a:ext cx="4297680" cy="384048"/>
          </a:xfrm>
          <a:prstGeom prst="rect">
            <a:avLst/>
          </a:prstGeom>
          <a:noFill/>
          <a:ln/>
        </p:spPr>
        <p:txBody>
          <a:bodyPr wrap="square" lIns="0" tIns="0" rIns="0" bIns="0"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Check de porta</a:t>
            </a:r>
            <a:endParaRPr lang="en-US" sz="2100" dirty="0"/>
          </a:p>
        </p:txBody>
      </p:sp>
      <p:sp>
        <p:nvSpPr>
          <p:cNvPr id="14" name="Text 9"/>
          <p:cNvSpPr txBox="1"/>
          <p:nvPr/>
        </p:nvSpPr>
        <p:spPr>
          <a:xfrm>
            <a:off x="1673352" y="5641848"/>
            <a:ext cx="4297680" cy="758952"/>
          </a:xfrm>
          <a:prstGeom prst="rect">
            <a:avLst/>
          </a:prstGeom>
          <a:noFill/>
          <a:ln/>
        </p:spPr>
        <p:txBody>
          <a:bodyPr wrap="square" lIns="0" tIns="0" rIns="0" bIns="0" rtlCol="0" anchor="t"/>
          <a:lstStyle/>
          <a:p>
            <a:pPr indent="0" marL="0">
              <a:buNone/>
            </a:pPr>
            <a:r>
              <a:rPr lang="en-US" sz="1800" dirty="0">
                <a:solidFill>
                  <a:srgbClr val="CBD5E1"/>
                </a:solidFill>
                <a:latin typeface="Calibri" pitchFamily="34" charset="0"/>
                <a:ea typeface="Calibri" pitchFamily="34" charset="-122"/>
                <a:cs typeface="Calibri" pitchFamily="34" charset="-120"/>
              </a:rPr>
              <a:t>Comprova uma conexão TCP no endpoint.</a:t>
            </a:r>
            <a:endParaRPr lang="en-US" sz="1800" dirty="0"/>
          </a:p>
        </p:txBody>
      </p:sp>
      <p:sp>
        <p:nvSpPr>
          <p:cNvPr id="15" name="Shape 10"/>
          <p:cNvSpPr/>
          <p:nvPr/>
        </p:nvSpPr>
        <p:spPr>
          <a:xfrm>
            <a:off x="6281928" y="5212080"/>
            <a:ext cx="530352" cy="530352"/>
          </a:xfrm>
          <a:prstGeom prst="ellipse">
            <a:avLst/>
          </a:prstGeom>
          <a:solidFill>
            <a:srgbClr val="7B6FF0"/>
          </a:solidFill>
          <a:ln w="12700">
            <a:solidFill>
              <a:srgbClr val="7B6FF0">
                <a:alpha val="0"/>
              </a:srgbClr>
            </a:solidFill>
            <a:prstDash val="solid"/>
          </a:ln>
        </p:spPr>
      </p:sp>
      <p:pic>
        <p:nvPicPr>
          <p:cNvPr id="16" name="Image 2" descr="preencoded.png">    </p:cNvPr>
          <p:cNvPicPr>
            <a:picLocks noChangeAspect="1"/>
          </p:cNvPicPr>
          <p:nvPr/>
        </p:nvPicPr>
        <p:blipFill>
          <a:blip r:embed="rId3"/>
          <a:stretch>
            <a:fillRect/>
          </a:stretch>
        </p:blipFill>
        <p:spPr>
          <a:xfrm>
            <a:off x="6403909" y="5334061"/>
            <a:ext cx="286390" cy="286390"/>
          </a:xfrm>
          <a:prstGeom prst="rect">
            <a:avLst/>
          </a:prstGeom>
        </p:spPr>
      </p:pic>
      <p:sp>
        <p:nvSpPr>
          <p:cNvPr id="17" name="Text 11"/>
          <p:cNvSpPr txBox="1"/>
          <p:nvPr/>
        </p:nvSpPr>
        <p:spPr>
          <a:xfrm>
            <a:off x="7013448" y="5193792"/>
            <a:ext cx="4023360" cy="384048"/>
          </a:xfrm>
          <a:prstGeom prst="rect">
            <a:avLst/>
          </a:prstGeom>
          <a:noFill/>
          <a:ln/>
        </p:spPr>
        <p:txBody>
          <a:bodyPr wrap="square" lIns="0" tIns="0" rIns="0" bIns="0"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Check de serviço</a:t>
            </a:r>
            <a:endParaRPr lang="en-US" sz="2100" dirty="0"/>
          </a:p>
        </p:txBody>
      </p:sp>
      <p:sp>
        <p:nvSpPr>
          <p:cNvPr id="18" name="Text 12"/>
          <p:cNvSpPr txBox="1"/>
          <p:nvPr/>
        </p:nvSpPr>
        <p:spPr>
          <a:xfrm>
            <a:off x="7013448" y="5641848"/>
            <a:ext cx="4023360" cy="758952"/>
          </a:xfrm>
          <a:prstGeom prst="rect">
            <a:avLst/>
          </a:prstGeom>
          <a:noFill/>
          <a:ln/>
        </p:spPr>
        <p:txBody>
          <a:bodyPr wrap="square" lIns="0" tIns="0" rIns="0" bIns="0" rtlCol="0" anchor="t"/>
          <a:lstStyle/>
          <a:p>
            <a:pPr indent="0" marL="0">
              <a:buNone/>
            </a:pPr>
            <a:r>
              <a:rPr lang="en-US" sz="1800" dirty="0">
                <a:solidFill>
                  <a:srgbClr val="CBD5E1"/>
                </a:solidFill>
                <a:latin typeface="Calibri" pitchFamily="34" charset="0"/>
                <a:ea typeface="Calibri" pitchFamily="34" charset="-122"/>
                <a:cs typeface="Calibri" pitchFamily="34" charset="-120"/>
              </a:rPr>
              <a:t>Valida identificação ou resposta do protocolo.</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324"/>
        </a:solidFill>
      </p:bgPr>
    </p:bg>
    <p:spTree>
      <p:nvGrpSpPr>
        <p:cNvPr id="1" name=""/>
        <p:cNvGrpSpPr/>
        <p:nvPr/>
      </p:nvGrpSpPr>
      <p:grpSpPr>
        <a:xfrm>
          <a:off x="0" y="0"/>
          <a:ext cx="0" cy="0"/>
          <a:chOff x="0" y="0"/>
          <a:chExt cx="0" cy="0"/>
        </a:xfrm>
      </p:grpSpPr>
      <p:sp>
        <p:nvSpPr>
          <p:cNvPr id="2" name="Shape 0"/>
          <p:cNvSpPr/>
          <p:nvPr/>
        </p:nvSpPr>
        <p:spPr>
          <a:xfrm>
            <a:off x="-1024128" y="-1005840"/>
            <a:ext cx="3456432" cy="3364992"/>
          </a:xfrm>
          <a:prstGeom prst="ellipse">
            <a:avLst/>
          </a:prstGeom>
          <a:solidFill>
            <a:srgbClr val="122B3F"/>
          </a:solidFill>
          <a:ln w="12700">
            <a:solidFill>
              <a:srgbClr val="333333">
                <a:alpha val="0"/>
              </a:srgbClr>
            </a:solidFill>
            <a:prstDash val="solid"/>
          </a:ln>
        </p:spPr>
      </p:sp>
      <p:sp>
        <p:nvSpPr>
          <p:cNvPr id="3" name="Shape 1"/>
          <p:cNvSpPr/>
          <p:nvPr/>
        </p:nvSpPr>
        <p:spPr>
          <a:xfrm>
            <a:off x="8686800" y="4709160"/>
            <a:ext cx="4663440" cy="3310128"/>
          </a:xfrm>
          <a:prstGeom prst="ellipse">
            <a:avLst/>
          </a:prstGeom>
          <a:solidFill>
            <a:srgbClr val="1D1D40"/>
          </a:solidFill>
          <a:ln w="12700">
            <a:solidFill>
              <a:srgbClr val="333333">
                <a:alpha val="0"/>
              </a:srgbClr>
            </a:solidFill>
            <a:prstDash val="solid"/>
          </a:ln>
        </p:spPr>
      </p:sp>
      <p:sp>
        <p:nvSpPr>
          <p:cNvPr id="4" name="Text 2"/>
          <p:cNvSpPr txBox="1"/>
          <p:nvPr/>
        </p:nvSpPr>
        <p:spPr>
          <a:xfrm>
            <a:off x="594360" y="292608"/>
            <a:ext cx="10469880" cy="530352"/>
          </a:xfrm>
          <a:prstGeom prst="rect">
            <a:avLst/>
          </a:prstGeom>
          <a:noFill/>
          <a:ln/>
        </p:spPr>
        <p:txBody>
          <a:bodyPr wrap="square" lIns="0" tIns="0" rIns="0" bIns="0" rtlCol="0" anchor="ctr"/>
          <a:lstStyle/>
          <a:p>
            <a:pPr algn="ctr" indent="0" marL="0">
              <a:buNone/>
            </a:pPr>
            <a:r>
              <a:rPr lang="en-US" sz="2900" b="1" dirty="0">
                <a:solidFill>
                  <a:srgbClr val="F8FAFC"/>
                </a:solidFill>
                <a:latin typeface="Arial" pitchFamily="34" charset="0"/>
                <a:ea typeface="Arial" pitchFamily="34" charset="-122"/>
                <a:cs typeface="Arial" pitchFamily="34" charset="-120"/>
              </a:rPr>
              <a:t>Edição no </a:t>
            </a:r>
            <a:pPr algn="ctr" indent="0" marL="0">
              <a:buNone/>
            </a:pPr>
            <a:r>
              <a:rPr lang="en-US" sz="2900" b="1" dirty="0">
                <a:solidFill>
                  <a:srgbClr val="10BCD8"/>
                </a:solidFill>
                <a:latin typeface="Arial" pitchFamily="34" charset="0"/>
                <a:ea typeface="Arial" pitchFamily="34" charset="-122"/>
                <a:cs typeface="Arial" pitchFamily="34" charset="-120"/>
              </a:rPr>
              <a:t>VS Code</a:t>
            </a:r>
            <a:endParaRPr lang="en-US" sz="2900" dirty="0"/>
          </a:p>
        </p:txBody>
      </p:sp>
      <p:sp>
        <p:nvSpPr>
          <p:cNvPr id="5" name="Shape 3"/>
          <p:cNvSpPr/>
          <p:nvPr/>
        </p:nvSpPr>
        <p:spPr>
          <a:xfrm>
            <a:off x="10991088" y="310896"/>
            <a:ext cx="621792" cy="621792"/>
          </a:xfrm>
          <a:prstGeom prst="ellipse">
            <a:avLst/>
          </a:prstGeom>
          <a:solidFill>
            <a:srgbClr val="7B6FF0"/>
          </a:solidFill>
          <a:ln w="12700">
            <a:solidFill>
              <a:srgbClr val="7B6FF0">
                <a:alpha val="0"/>
              </a:srgbClr>
            </a:solidFill>
            <a:prstDash val="solid"/>
          </a:ln>
        </p:spPr>
      </p:sp>
      <p:pic>
        <p:nvPicPr>
          <p:cNvPr id="6" name="Image 0" descr="preencoded.png">    </p:cNvPr>
          <p:cNvPicPr>
            <a:picLocks noChangeAspect="1"/>
          </p:cNvPicPr>
          <p:nvPr/>
        </p:nvPicPr>
        <p:blipFill>
          <a:blip r:embed="rId1"/>
          <a:stretch>
            <a:fillRect/>
          </a:stretch>
        </p:blipFill>
        <p:spPr>
          <a:xfrm>
            <a:off x="11134100" y="453908"/>
            <a:ext cx="335768" cy="335768"/>
          </a:xfrm>
          <a:prstGeom prst="rect">
            <a:avLst/>
          </a:prstGeom>
        </p:spPr>
      </p:pic>
      <p:sp>
        <p:nvSpPr>
          <p:cNvPr id="7" name="Text 4"/>
          <p:cNvSpPr txBox="1"/>
          <p:nvPr/>
        </p:nvSpPr>
        <p:spPr>
          <a:xfrm>
            <a:off x="685800" y="987552"/>
            <a:ext cx="10789920" cy="384048"/>
          </a:xfrm>
          <a:prstGeom prst="rect">
            <a:avLst/>
          </a:prstGeom>
          <a:noFill/>
          <a:ln/>
        </p:spPr>
        <p:txBody>
          <a:bodyPr wrap="square" lIns="0" tIns="0" rIns="0" bIns="0" rtlCol="0" anchor="ctr"/>
          <a:lstStyle/>
          <a:p>
            <a:pPr algn="ctr" indent="0" marL="0">
              <a:buNone/>
            </a:pPr>
            <a:r>
              <a:rPr lang="en-US" sz="1800" dirty="0">
                <a:solidFill>
                  <a:srgbClr val="CBD5E1"/>
                </a:solidFill>
                <a:latin typeface="Calibri" pitchFamily="34" charset="0"/>
                <a:ea typeface="Calibri" pitchFamily="34" charset="-122"/>
                <a:cs typeface="Calibri" pitchFamily="34" charset="-120"/>
              </a:rPr>
              <a:t>O editor consulta o mesmo compilador, inclusive no texto ainda não salvo</a:t>
            </a:r>
            <a:endParaRPr lang="en-US" sz="1800" dirty="0"/>
          </a:p>
        </p:txBody>
      </p:sp>
      <p:sp>
        <p:nvSpPr>
          <p:cNvPr id="8" name="Text 5"/>
          <p:cNvSpPr txBox="1"/>
          <p:nvPr/>
        </p:nvSpPr>
        <p:spPr>
          <a:xfrm>
            <a:off x="502920" y="6556248"/>
            <a:ext cx="7772400" cy="164592"/>
          </a:xfrm>
          <a:prstGeom prst="rect">
            <a:avLst/>
          </a:prstGeom>
          <a:noFill/>
          <a:ln/>
        </p:spPr>
        <p:txBody>
          <a:bodyPr wrap="square" lIns="0" tIns="0" rIns="0" bIns="0" rtlCol="0" anchor="ctr"/>
          <a:lstStyle/>
          <a:p>
            <a:pPr indent="0" marL="0">
              <a:buNone/>
            </a:pPr>
            <a:r>
              <a:rPr lang="en-US" sz="850" dirty="0">
                <a:solidFill>
                  <a:srgbClr val="8796AD"/>
                </a:solidFill>
                <a:latin typeface="Calibri" pitchFamily="34" charset="0"/>
                <a:ea typeface="Calibri" pitchFamily="34" charset="-122"/>
                <a:cs typeface="Calibri" pitchFamily="34" charset="-120"/>
              </a:rPr>
              <a:t>NetSec  ·  Redes + Segurança + Automação</a:t>
            </a:r>
            <a:endParaRPr lang="en-US" sz="850" dirty="0"/>
          </a:p>
        </p:txBody>
      </p:sp>
      <p:sp>
        <p:nvSpPr>
          <p:cNvPr id="9" name="Text 6"/>
          <p:cNvSpPr txBox="1"/>
          <p:nvPr/>
        </p:nvSpPr>
        <p:spPr>
          <a:xfrm>
            <a:off x="11292840" y="6547104"/>
            <a:ext cx="320040" cy="182880"/>
          </a:xfrm>
          <a:prstGeom prst="rect">
            <a:avLst/>
          </a:prstGeom>
          <a:noFill/>
          <a:ln/>
        </p:spPr>
        <p:txBody>
          <a:bodyPr wrap="square" lIns="0" tIns="0" rIns="0" bIns="0" rtlCol="0" anchor="ctr"/>
          <a:lstStyle/>
          <a:p>
            <a:pPr algn="r" indent="0" marL="0">
              <a:buNone/>
            </a:pPr>
            <a:r>
              <a:rPr lang="en-US" sz="850" dirty="0">
                <a:solidFill>
                  <a:srgbClr val="8796AD"/>
                </a:solidFill>
                <a:latin typeface="Calibri" pitchFamily="34" charset="0"/>
                <a:ea typeface="Calibri" pitchFamily="34" charset="-122"/>
                <a:cs typeface="Calibri" pitchFamily="34" charset="-120"/>
              </a:rPr>
              <a:t>12</a:t>
            </a:r>
            <a:endParaRPr lang="en-US" sz="850" dirty="0"/>
          </a:p>
        </p:txBody>
      </p:sp>
      <p:sp>
        <p:nvSpPr>
          <p:cNvPr id="10" name="Shape 7"/>
          <p:cNvSpPr/>
          <p:nvPr/>
        </p:nvSpPr>
        <p:spPr>
          <a:xfrm>
            <a:off x="685800" y="1719072"/>
            <a:ext cx="6766560" cy="4398264"/>
          </a:xfrm>
          <a:prstGeom prst="roundRect">
            <a:avLst>
              <a:gd name="adj" fmla="val 2495"/>
            </a:avLst>
          </a:prstGeom>
          <a:solidFill>
            <a:srgbClr val="1E293B"/>
          </a:solidFill>
          <a:ln w="7620">
            <a:solidFill>
              <a:srgbClr val="283449"/>
            </a:solidFill>
            <a:prstDash val="solid"/>
          </a:ln>
        </p:spPr>
      </p:sp>
      <p:sp>
        <p:nvSpPr>
          <p:cNvPr id="11" name="Shape 8"/>
          <p:cNvSpPr/>
          <p:nvPr/>
        </p:nvSpPr>
        <p:spPr>
          <a:xfrm>
            <a:off x="960120" y="1993392"/>
            <a:ext cx="6217920" cy="1645920"/>
          </a:xfrm>
          <a:prstGeom prst="roundRect">
            <a:avLst>
              <a:gd name="adj" fmla="val 6667"/>
            </a:avLst>
          </a:prstGeom>
          <a:solidFill>
            <a:srgbClr val="060A19"/>
          </a:solidFill>
          <a:ln w="7620">
            <a:solidFill>
              <a:srgbClr val="283449"/>
            </a:solidFill>
            <a:prstDash val="solid"/>
          </a:ln>
        </p:spPr>
      </p:sp>
      <p:sp>
        <p:nvSpPr>
          <p:cNvPr id="12" name="Text 9"/>
          <p:cNvSpPr txBox="1"/>
          <p:nvPr/>
        </p:nvSpPr>
        <p:spPr>
          <a:xfrm>
            <a:off x="1179576" y="2157984"/>
            <a:ext cx="5779008" cy="324612"/>
          </a:xfrm>
          <a:prstGeom prst="rect">
            <a:avLst/>
          </a:prstGeom>
          <a:noFill/>
          <a:ln/>
        </p:spPr>
        <p:txBody>
          <a:bodyPr wrap="square" lIns="0" tIns="0" rIns="0" bIns="0" rtlCol="0" anchor="ctr"/>
          <a:lstStyle/>
          <a:p>
            <a:pPr indent="0" marL="0">
              <a:buNone/>
            </a:pPr>
            <a:r>
              <a:rPr lang="en-US" sz="2300" dirty="0">
                <a:solidFill>
                  <a:srgbClr val="7B6FF0"/>
                </a:solidFill>
                <a:latin typeface="Courier New" pitchFamily="34" charset="0"/>
                <a:ea typeface="Courier New" pitchFamily="34" charset="-122"/>
                <a:cs typeface="Courier New" pitchFamily="34" charset="-120"/>
              </a:rPr>
              <a:t>port</a:t>
            </a:r>
            <a:pPr indent="0" marL="0">
              <a:buNone/>
            </a:pPr>
            <a:r>
              <a:rPr lang="en-US" sz="2300" dirty="0">
                <a:solidFill>
                  <a:srgbClr val="F8FAFC"/>
                </a:solidFill>
                <a:latin typeface="Courier New" pitchFamily="34" charset="0"/>
                <a:ea typeface="Courier New" pitchFamily="34" charset="-122"/>
                <a:cs typeface="Courier New" pitchFamily="34" charset="-120"/>
              </a:rPr>
              <a:t> admin = </a:t>
            </a:r>
            <a:pPr indent="0" marL="0">
              <a:buNone/>
            </a:pPr>
            <a:r>
              <a:rPr lang="en-US" sz="2300" dirty="0">
                <a:solidFill>
                  <a:srgbClr val="7B6FF0"/>
                </a:solidFill>
                <a:latin typeface="Courier New" pitchFamily="34" charset="0"/>
                <a:ea typeface="Courier New" pitchFamily="34" charset="-122"/>
                <a:cs typeface="Courier New" pitchFamily="34" charset="-120"/>
              </a:rPr>
              <a:t>port</a:t>
            </a:r>
            <a:pPr indent="0" marL="0">
              <a:buNone/>
            </a:pPr>
            <a:r>
              <a:rPr lang="en-US" sz="2300" dirty="0">
                <a:solidFill>
                  <a:srgbClr val="F8FAFC"/>
                </a:solidFill>
                <a:latin typeface="Courier New" pitchFamily="34" charset="0"/>
                <a:ea typeface="Courier New" pitchFamily="34" charset="-122"/>
                <a:cs typeface="Courier New" pitchFamily="34" charset="-120"/>
              </a:rPr>
              <a:t>(</a:t>
            </a:r>
            <a:pPr indent="0" marL="0">
              <a:buNone/>
            </a:pPr>
            <a:r>
              <a:rPr lang="en-US" sz="2300" dirty="0">
                <a:solidFill>
                  <a:srgbClr val="10BCD8"/>
                </a:solidFill>
                <a:latin typeface="Courier New" pitchFamily="34" charset="0"/>
                <a:ea typeface="Courier New" pitchFamily="34" charset="-122"/>
                <a:cs typeface="Courier New" pitchFamily="34" charset="-120"/>
              </a:rPr>
              <a:t>22</a:t>
            </a:r>
            <a:pPr indent="0" marL="0">
              <a:buNone/>
            </a:pPr>
            <a:r>
              <a:rPr lang="en-US" sz="2300" dirty="0">
                <a:solidFill>
                  <a:srgbClr val="F8FAFC"/>
                </a:solidFill>
                <a:latin typeface="Courier New" pitchFamily="34" charset="0"/>
                <a:ea typeface="Courier New" pitchFamily="34" charset="-122"/>
                <a:cs typeface="Courier New" pitchFamily="34" charset="-120"/>
              </a:rPr>
              <a:t>);</a:t>
            </a:r>
            <a:endParaRPr lang="en-US" sz="2300" dirty="0"/>
          </a:p>
        </p:txBody>
      </p:sp>
      <p:sp>
        <p:nvSpPr>
          <p:cNvPr id="13" name="Text 10"/>
          <p:cNvSpPr txBox="1"/>
          <p:nvPr/>
        </p:nvSpPr>
        <p:spPr>
          <a:xfrm>
            <a:off x="1179576" y="2482596"/>
            <a:ext cx="5779008" cy="324612"/>
          </a:xfrm>
          <a:prstGeom prst="rect">
            <a:avLst/>
          </a:prstGeom>
          <a:noFill/>
          <a:ln/>
        </p:spPr>
        <p:txBody>
          <a:bodyPr wrap="square" lIns="0" tIns="0" rIns="0" bIns="0" rtlCol="0" anchor="ctr"/>
          <a:lstStyle/>
          <a:p>
            <a:pPr indent="0" marL="0">
              <a:buNone/>
            </a:pPr>
            <a:endParaRPr lang="en-US" sz="2300" dirty="0"/>
          </a:p>
        </p:txBody>
      </p:sp>
      <p:sp>
        <p:nvSpPr>
          <p:cNvPr id="14" name="Text 11"/>
          <p:cNvSpPr txBox="1"/>
          <p:nvPr/>
        </p:nvSpPr>
        <p:spPr>
          <a:xfrm>
            <a:off x="1179576" y="2807208"/>
            <a:ext cx="5779008" cy="324612"/>
          </a:xfrm>
          <a:prstGeom prst="rect">
            <a:avLst/>
          </a:prstGeom>
          <a:noFill/>
          <a:ln/>
        </p:spPr>
        <p:txBody>
          <a:bodyPr wrap="square" lIns="0" tIns="0" rIns="0" bIns="0" rtlCol="0" anchor="ctr"/>
          <a:lstStyle/>
          <a:p>
            <a:pPr indent="0" marL="0">
              <a:buNone/>
            </a:pPr>
            <a:r>
              <a:rPr lang="en-US" sz="2300" dirty="0">
                <a:solidFill>
                  <a:srgbClr val="8796AD"/>
                </a:solidFill>
                <a:latin typeface="Courier New" pitchFamily="34" charset="0"/>
                <a:ea typeface="Courier New" pitchFamily="34" charset="-122"/>
                <a:cs typeface="Courier New" pitchFamily="34" charset="-120"/>
              </a:rPr>
              <a:t>// Completion at the cursor:</a:t>
            </a:r>
            <a:endParaRPr lang="en-US" sz="2300" dirty="0"/>
          </a:p>
        </p:txBody>
      </p:sp>
      <p:sp>
        <p:nvSpPr>
          <p:cNvPr id="15" name="Text 12"/>
          <p:cNvSpPr txBox="1"/>
          <p:nvPr/>
        </p:nvSpPr>
        <p:spPr>
          <a:xfrm>
            <a:off x="1179576" y="3131820"/>
            <a:ext cx="5779008" cy="324612"/>
          </a:xfrm>
          <a:prstGeom prst="rect">
            <a:avLst/>
          </a:prstGeom>
          <a:noFill/>
          <a:ln/>
        </p:spPr>
        <p:txBody>
          <a:bodyPr wrap="square" lIns="0" tIns="0" rIns="0" bIns="0" rtlCol="0" anchor="ctr"/>
          <a:lstStyle/>
          <a:p>
            <a:pPr indent="0" marL="0">
              <a:buNone/>
            </a:pPr>
            <a:r>
              <a:rPr lang="en-US" sz="2300" dirty="0">
                <a:solidFill>
                  <a:srgbClr val="F8FAFC"/>
                </a:solidFill>
                <a:latin typeface="Courier New" pitchFamily="34" charset="0"/>
                <a:ea typeface="Courier New" pitchFamily="34" charset="-122"/>
                <a:cs typeface="Courier New" pitchFamily="34" charset="-120"/>
              </a:rPr>
              <a:t>admin   : </a:t>
            </a:r>
            <a:pPr indent="0" marL="0">
              <a:buNone/>
            </a:pPr>
            <a:r>
              <a:rPr lang="en-US" sz="2300" dirty="0">
                <a:solidFill>
                  <a:srgbClr val="7B6FF0"/>
                </a:solidFill>
                <a:latin typeface="Courier New" pitchFamily="34" charset="0"/>
                <a:ea typeface="Courier New" pitchFamily="34" charset="-122"/>
                <a:cs typeface="Courier New" pitchFamily="34" charset="-120"/>
              </a:rPr>
              <a:t>port</a:t>
            </a:r>
            <a:endParaRPr lang="en-US" sz="2300" dirty="0"/>
          </a:p>
        </p:txBody>
      </p:sp>
      <p:sp>
        <p:nvSpPr>
          <p:cNvPr id="16" name="Shape 13"/>
          <p:cNvSpPr/>
          <p:nvPr/>
        </p:nvSpPr>
        <p:spPr>
          <a:xfrm>
            <a:off x="960120" y="4133088"/>
            <a:ext cx="6217920" cy="1444752"/>
          </a:xfrm>
          <a:prstGeom prst="roundRect">
            <a:avLst>
              <a:gd name="adj" fmla="val 7595"/>
            </a:avLst>
          </a:prstGeom>
          <a:solidFill>
            <a:srgbClr val="060A19"/>
          </a:solidFill>
          <a:ln w="7620">
            <a:solidFill>
              <a:srgbClr val="283449"/>
            </a:solidFill>
            <a:prstDash val="solid"/>
          </a:ln>
        </p:spPr>
      </p:sp>
      <p:sp>
        <p:nvSpPr>
          <p:cNvPr id="17" name="Text 14"/>
          <p:cNvSpPr txBox="1"/>
          <p:nvPr/>
        </p:nvSpPr>
        <p:spPr>
          <a:xfrm>
            <a:off x="1179576" y="4297680"/>
            <a:ext cx="5779008" cy="365760"/>
          </a:xfrm>
          <a:prstGeom prst="rect">
            <a:avLst/>
          </a:prstGeom>
          <a:noFill/>
          <a:ln/>
        </p:spPr>
        <p:txBody>
          <a:bodyPr wrap="square" lIns="0" tIns="0" rIns="0" bIns="0" rtlCol="0" anchor="ctr"/>
          <a:lstStyle/>
          <a:p>
            <a:pPr indent="0" marL="0">
              <a:buNone/>
            </a:pPr>
            <a:r>
              <a:rPr lang="en-US" sz="2300" dirty="0">
                <a:solidFill>
                  <a:srgbClr val="7B6FF0"/>
                </a:solidFill>
                <a:latin typeface="Courier New" pitchFamily="34" charset="0"/>
                <a:ea typeface="Courier New" pitchFamily="34" charset="-122"/>
                <a:cs typeface="Courier New" pitchFamily="34" charset="-120"/>
              </a:rPr>
              <a:t>int</a:t>
            </a:r>
            <a:pPr indent="0" marL="0">
              <a:buNone/>
            </a:pPr>
            <a:r>
              <a:rPr lang="en-US" sz="2300" dirty="0">
                <a:solidFill>
                  <a:srgbClr val="F8FAFC"/>
                </a:solidFill>
                <a:latin typeface="Courier New" pitchFamily="34" charset="0"/>
                <a:ea typeface="Courier New" pitchFamily="34" charset="-122"/>
                <a:cs typeface="Courier New" pitchFamily="34" charset="-120"/>
              </a:rPr>
              <a:t> broken = true;</a:t>
            </a:r>
            <a:endParaRPr lang="en-US" sz="2300" dirty="0"/>
          </a:p>
        </p:txBody>
      </p:sp>
      <p:sp>
        <p:nvSpPr>
          <p:cNvPr id="18" name="Text 15"/>
          <p:cNvSpPr txBox="1"/>
          <p:nvPr/>
        </p:nvSpPr>
        <p:spPr>
          <a:xfrm>
            <a:off x="1179576" y="4663440"/>
            <a:ext cx="5779008" cy="365760"/>
          </a:xfrm>
          <a:prstGeom prst="rect">
            <a:avLst/>
          </a:prstGeom>
          <a:noFill/>
          <a:ln/>
        </p:spPr>
        <p:txBody>
          <a:bodyPr wrap="square" lIns="0" tIns="0" rIns="0" bIns="0" rtlCol="0" anchor="ctr"/>
          <a:lstStyle/>
          <a:p>
            <a:pPr indent="0" marL="0">
              <a:buNone/>
            </a:pPr>
            <a:r>
              <a:rPr lang="en-US" sz="2300" dirty="0">
                <a:solidFill>
                  <a:srgbClr val="F8FAFC"/>
                </a:solidFill>
                <a:latin typeface="Courier New" pitchFamily="34" charset="0"/>
                <a:ea typeface="Courier New" pitchFamily="34" charset="-122"/>
                <a:cs typeface="Courier New" pitchFamily="34" charset="-120"/>
              </a:rPr>
              <a:t>             ^</a:t>
            </a:r>
            <a:endParaRPr lang="en-US" sz="2300" dirty="0"/>
          </a:p>
        </p:txBody>
      </p:sp>
      <p:sp>
        <p:nvSpPr>
          <p:cNvPr id="19" name="Text 16"/>
          <p:cNvSpPr txBox="1"/>
          <p:nvPr/>
        </p:nvSpPr>
        <p:spPr>
          <a:xfrm>
            <a:off x="1179576" y="5029200"/>
            <a:ext cx="5779008" cy="365760"/>
          </a:xfrm>
          <a:prstGeom prst="rect">
            <a:avLst/>
          </a:prstGeom>
          <a:noFill/>
          <a:ln/>
        </p:spPr>
        <p:txBody>
          <a:bodyPr wrap="square" lIns="0" tIns="0" rIns="0" bIns="0" rtlCol="0" anchor="ctr"/>
          <a:lstStyle/>
          <a:p>
            <a:pPr indent="0" marL="0">
              <a:buNone/>
            </a:pPr>
            <a:r>
              <a:rPr lang="en-US" sz="2300" dirty="0">
                <a:solidFill>
                  <a:srgbClr val="FF4E58"/>
                </a:solidFill>
                <a:latin typeface="Courier New" pitchFamily="34" charset="0"/>
                <a:ea typeface="Courier New" pitchFamily="34" charset="-122"/>
                <a:cs typeface="Courier New" pitchFamily="34" charset="-120"/>
              </a:rPr>
              <a:t>E_TYPE</a:t>
            </a:r>
            <a:endParaRPr lang="en-US" sz="2300" dirty="0"/>
          </a:p>
        </p:txBody>
      </p:sp>
      <p:sp>
        <p:nvSpPr>
          <p:cNvPr id="20" name="Shape 17"/>
          <p:cNvSpPr/>
          <p:nvPr/>
        </p:nvSpPr>
        <p:spPr>
          <a:xfrm>
            <a:off x="7818120" y="1938528"/>
            <a:ext cx="530352" cy="530352"/>
          </a:xfrm>
          <a:prstGeom prst="ellipse">
            <a:avLst/>
          </a:prstGeom>
          <a:solidFill>
            <a:srgbClr val="10BCD8"/>
          </a:solidFill>
          <a:ln w="12700">
            <a:solidFill>
              <a:srgbClr val="10BCD8">
                <a:alpha val="0"/>
              </a:srgbClr>
            </a:solidFill>
            <a:prstDash val="solid"/>
          </a:ln>
        </p:spPr>
      </p:sp>
      <p:pic>
        <p:nvPicPr>
          <p:cNvPr id="21" name="Image 1" descr="preencoded.png">    </p:cNvPr>
          <p:cNvPicPr>
            <a:picLocks noChangeAspect="1"/>
          </p:cNvPicPr>
          <p:nvPr/>
        </p:nvPicPr>
        <p:blipFill>
          <a:blip r:embed="rId2"/>
          <a:stretch>
            <a:fillRect/>
          </a:stretch>
        </p:blipFill>
        <p:spPr>
          <a:xfrm>
            <a:off x="7940101" y="2060509"/>
            <a:ext cx="286390" cy="286390"/>
          </a:xfrm>
          <a:prstGeom prst="rect">
            <a:avLst/>
          </a:prstGeom>
        </p:spPr>
      </p:pic>
      <p:sp>
        <p:nvSpPr>
          <p:cNvPr id="22" name="Text 18"/>
          <p:cNvSpPr txBox="1"/>
          <p:nvPr/>
        </p:nvSpPr>
        <p:spPr>
          <a:xfrm>
            <a:off x="8549640" y="1920240"/>
            <a:ext cx="2880360" cy="384048"/>
          </a:xfrm>
          <a:prstGeom prst="rect">
            <a:avLst/>
          </a:prstGeom>
          <a:noFill/>
          <a:ln/>
        </p:spPr>
        <p:txBody>
          <a:bodyPr wrap="square" lIns="0" tIns="0" rIns="0" bIns="0"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Sugestões tipadas</a:t>
            </a:r>
            <a:endParaRPr lang="en-US" sz="2100" dirty="0"/>
          </a:p>
        </p:txBody>
      </p:sp>
      <p:sp>
        <p:nvSpPr>
          <p:cNvPr id="23" name="Text 19"/>
          <p:cNvSpPr txBox="1"/>
          <p:nvPr/>
        </p:nvSpPr>
        <p:spPr>
          <a:xfrm>
            <a:off x="8549640" y="2368296"/>
            <a:ext cx="2880360" cy="758952"/>
          </a:xfrm>
          <a:prstGeom prst="rect">
            <a:avLst/>
          </a:prstGeom>
          <a:noFill/>
          <a:ln/>
        </p:spPr>
        <p:txBody>
          <a:bodyPr wrap="square" lIns="0" tIns="0" rIns="0" bIns="0" rtlCol="0" anchor="t"/>
          <a:lstStyle/>
          <a:p>
            <a:pPr indent="0" marL="0">
              <a:buNone/>
            </a:pPr>
            <a:r>
              <a:rPr lang="en-US" sz="1800" dirty="0">
                <a:solidFill>
                  <a:srgbClr val="CBD5E1"/>
                </a:solidFill>
                <a:latin typeface="Calibri" pitchFamily="34" charset="0"/>
                <a:ea typeface="Calibri" pitchFamily="34" charset="-122"/>
                <a:cs typeface="Calibri" pitchFamily="34" charset="-120"/>
              </a:rPr>
              <a:t>Nomes visíveis e palavras-chave.</a:t>
            </a:r>
            <a:endParaRPr lang="en-US" sz="1800" dirty="0"/>
          </a:p>
        </p:txBody>
      </p:sp>
      <p:sp>
        <p:nvSpPr>
          <p:cNvPr id="24" name="Shape 20"/>
          <p:cNvSpPr/>
          <p:nvPr/>
        </p:nvSpPr>
        <p:spPr>
          <a:xfrm>
            <a:off x="7818120" y="3364992"/>
            <a:ext cx="530352" cy="530352"/>
          </a:xfrm>
          <a:prstGeom prst="ellipse">
            <a:avLst/>
          </a:prstGeom>
          <a:solidFill>
            <a:srgbClr val="7B6FF0"/>
          </a:solidFill>
          <a:ln w="12700">
            <a:solidFill>
              <a:srgbClr val="7B6FF0">
                <a:alpha val="0"/>
              </a:srgbClr>
            </a:solidFill>
            <a:prstDash val="solid"/>
          </a:ln>
        </p:spPr>
      </p:sp>
      <p:pic>
        <p:nvPicPr>
          <p:cNvPr id="25" name="Image 2" descr="preencoded.png">    </p:cNvPr>
          <p:cNvPicPr>
            <a:picLocks noChangeAspect="1"/>
          </p:cNvPicPr>
          <p:nvPr/>
        </p:nvPicPr>
        <p:blipFill>
          <a:blip r:embed="rId3"/>
          <a:stretch>
            <a:fillRect/>
          </a:stretch>
        </p:blipFill>
        <p:spPr>
          <a:xfrm>
            <a:off x="7940101" y="3486973"/>
            <a:ext cx="286390" cy="286390"/>
          </a:xfrm>
          <a:prstGeom prst="rect">
            <a:avLst/>
          </a:prstGeom>
        </p:spPr>
      </p:pic>
      <p:sp>
        <p:nvSpPr>
          <p:cNvPr id="26" name="Text 21"/>
          <p:cNvSpPr txBox="1"/>
          <p:nvPr/>
        </p:nvSpPr>
        <p:spPr>
          <a:xfrm>
            <a:off x="8549640" y="3346704"/>
            <a:ext cx="2880360" cy="384048"/>
          </a:xfrm>
          <a:prstGeom prst="rect">
            <a:avLst/>
          </a:prstGeom>
          <a:noFill/>
          <a:ln/>
        </p:spPr>
        <p:txBody>
          <a:bodyPr wrap="square" lIns="0" tIns="0" rIns="0" bIns="0"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Navegação</a:t>
            </a:r>
            <a:endParaRPr lang="en-US" sz="2100" dirty="0"/>
          </a:p>
        </p:txBody>
      </p:sp>
      <p:sp>
        <p:nvSpPr>
          <p:cNvPr id="27" name="Text 22"/>
          <p:cNvSpPr txBox="1"/>
          <p:nvPr/>
        </p:nvSpPr>
        <p:spPr>
          <a:xfrm>
            <a:off x="8549640" y="3794760"/>
            <a:ext cx="2880360" cy="758952"/>
          </a:xfrm>
          <a:prstGeom prst="rect">
            <a:avLst/>
          </a:prstGeom>
          <a:noFill/>
          <a:ln/>
        </p:spPr>
        <p:txBody>
          <a:bodyPr wrap="square" lIns="0" tIns="0" rIns="0" bIns="0" rtlCol="0" anchor="t"/>
          <a:lstStyle/>
          <a:p>
            <a:pPr indent="0" marL="0">
              <a:buNone/>
            </a:pPr>
            <a:r>
              <a:rPr lang="en-US" sz="1800" dirty="0">
                <a:solidFill>
                  <a:srgbClr val="CBD5E1"/>
                </a:solidFill>
                <a:latin typeface="Calibri" pitchFamily="34" charset="0"/>
                <a:ea typeface="Calibri" pitchFamily="34" charset="-122"/>
                <a:cs typeface="Calibri" pitchFamily="34" charset="-120"/>
              </a:rPr>
              <a:t>Hover e ida à declaração.</a:t>
            </a:r>
            <a:endParaRPr lang="en-US" sz="1800" dirty="0"/>
          </a:p>
        </p:txBody>
      </p:sp>
      <p:sp>
        <p:nvSpPr>
          <p:cNvPr id="28" name="Shape 23"/>
          <p:cNvSpPr/>
          <p:nvPr/>
        </p:nvSpPr>
        <p:spPr>
          <a:xfrm>
            <a:off x="7818120" y="4782312"/>
            <a:ext cx="530352" cy="530352"/>
          </a:xfrm>
          <a:prstGeom prst="ellipse">
            <a:avLst/>
          </a:prstGeom>
          <a:solidFill>
            <a:srgbClr val="10BCD8"/>
          </a:solidFill>
          <a:ln w="12700">
            <a:solidFill>
              <a:srgbClr val="10BCD8">
                <a:alpha val="0"/>
              </a:srgbClr>
            </a:solidFill>
            <a:prstDash val="solid"/>
          </a:ln>
        </p:spPr>
      </p:sp>
      <p:pic>
        <p:nvPicPr>
          <p:cNvPr id="29" name="Image 3" descr="preencoded.png">    </p:cNvPr>
          <p:cNvPicPr>
            <a:picLocks noChangeAspect="1"/>
          </p:cNvPicPr>
          <p:nvPr/>
        </p:nvPicPr>
        <p:blipFill>
          <a:blip r:embed="rId4"/>
          <a:stretch>
            <a:fillRect/>
          </a:stretch>
        </p:blipFill>
        <p:spPr>
          <a:xfrm>
            <a:off x="7940101" y="4904293"/>
            <a:ext cx="286390" cy="286390"/>
          </a:xfrm>
          <a:prstGeom prst="rect">
            <a:avLst/>
          </a:prstGeom>
        </p:spPr>
      </p:pic>
      <p:sp>
        <p:nvSpPr>
          <p:cNvPr id="30" name="Text 24"/>
          <p:cNvSpPr txBox="1"/>
          <p:nvPr/>
        </p:nvSpPr>
        <p:spPr>
          <a:xfrm>
            <a:off x="8549640" y="4764024"/>
            <a:ext cx="2880360" cy="384048"/>
          </a:xfrm>
          <a:prstGeom prst="rect">
            <a:avLst/>
          </a:prstGeom>
          <a:noFill/>
          <a:ln/>
        </p:spPr>
        <p:txBody>
          <a:bodyPr wrap="square" lIns="0" tIns="0" rIns="0" bIns="0"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Diagnóstico</a:t>
            </a:r>
            <a:endParaRPr lang="en-US" sz="2100" dirty="0"/>
          </a:p>
        </p:txBody>
      </p:sp>
      <p:sp>
        <p:nvSpPr>
          <p:cNvPr id="31" name="Text 25"/>
          <p:cNvSpPr txBox="1"/>
          <p:nvPr/>
        </p:nvSpPr>
        <p:spPr>
          <a:xfrm>
            <a:off x="8549640" y="5212080"/>
            <a:ext cx="2880360" cy="758952"/>
          </a:xfrm>
          <a:prstGeom prst="rect">
            <a:avLst/>
          </a:prstGeom>
          <a:noFill/>
          <a:ln/>
        </p:spPr>
        <p:txBody>
          <a:bodyPr wrap="square" lIns="0" tIns="0" rIns="0" bIns="0" rtlCol="0" anchor="t"/>
          <a:lstStyle/>
          <a:p>
            <a:pPr indent="0" marL="0">
              <a:buNone/>
            </a:pPr>
            <a:r>
              <a:rPr lang="en-US" sz="1800" dirty="0">
                <a:solidFill>
                  <a:srgbClr val="CBD5E1"/>
                </a:solidFill>
                <a:latin typeface="Calibri" pitchFamily="34" charset="0"/>
                <a:ea typeface="Calibri" pitchFamily="34" charset="-122"/>
                <a:cs typeface="Calibri" pitchFamily="34" charset="-120"/>
              </a:rPr>
              <a:t>Arquivo, linha e coluna, sem executar rede.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324"/>
        </a:solidFill>
      </p:bgPr>
    </p:bg>
    <p:spTree>
      <p:nvGrpSpPr>
        <p:cNvPr id="1" name=""/>
        <p:cNvGrpSpPr/>
        <p:nvPr/>
      </p:nvGrpSpPr>
      <p:grpSpPr>
        <a:xfrm>
          <a:off x="0" y="0"/>
          <a:ext cx="0" cy="0"/>
          <a:chOff x="0" y="0"/>
          <a:chExt cx="0" cy="0"/>
        </a:xfrm>
      </p:grpSpPr>
      <p:sp>
        <p:nvSpPr>
          <p:cNvPr id="2" name="Shape 0"/>
          <p:cNvSpPr/>
          <p:nvPr/>
        </p:nvSpPr>
        <p:spPr>
          <a:xfrm>
            <a:off x="-1024128" y="-1005840"/>
            <a:ext cx="3456432" cy="3364992"/>
          </a:xfrm>
          <a:prstGeom prst="ellipse">
            <a:avLst/>
          </a:prstGeom>
          <a:solidFill>
            <a:srgbClr val="122B3F"/>
          </a:solidFill>
          <a:ln w="12700">
            <a:solidFill>
              <a:srgbClr val="333333">
                <a:alpha val="0"/>
              </a:srgbClr>
            </a:solidFill>
            <a:prstDash val="solid"/>
          </a:ln>
        </p:spPr>
      </p:sp>
      <p:sp>
        <p:nvSpPr>
          <p:cNvPr id="3" name="Shape 1"/>
          <p:cNvSpPr/>
          <p:nvPr/>
        </p:nvSpPr>
        <p:spPr>
          <a:xfrm>
            <a:off x="8686800" y="4709160"/>
            <a:ext cx="4663440" cy="3310128"/>
          </a:xfrm>
          <a:prstGeom prst="ellipse">
            <a:avLst/>
          </a:prstGeom>
          <a:solidFill>
            <a:srgbClr val="1D1D40"/>
          </a:solidFill>
          <a:ln w="12700">
            <a:solidFill>
              <a:srgbClr val="333333">
                <a:alpha val="0"/>
              </a:srgbClr>
            </a:solidFill>
            <a:prstDash val="solid"/>
          </a:ln>
        </p:spPr>
      </p:sp>
      <p:sp>
        <p:nvSpPr>
          <p:cNvPr id="4" name="Text 2"/>
          <p:cNvSpPr txBox="1"/>
          <p:nvPr/>
        </p:nvSpPr>
        <p:spPr>
          <a:xfrm>
            <a:off x="594360" y="292608"/>
            <a:ext cx="10469880" cy="530352"/>
          </a:xfrm>
          <a:prstGeom prst="rect">
            <a:avLst/>
          </a:prstGeom>
          <a:noFill/>
          <a:ln/>
        </p:spPr>
        <p:txBody>
          <a:bodyPr wrap="square" lIns="0" tIns="0" rIns="0" bIns="0" rtlCol="0" anchor="ctr"/>
          <a:lstStyle/>
          <a:p>
            <a:pPr algn="ctr" indent="0" marL="0">
              <a:buNone/>
            </a:pPr>
            <a:r>
              <a:rPr lang="en-US" sz="2900" b="1" dirty="0">
                <a:solidFill>
                  <a:srgbClr val="F8FAFC"/>
                </a:solidFill>
                <a:latin typeface="Arial" pitchFamily="34" charset="0"/>
                <a:ea typeface="Arial" pitchFamily="34" charset="-122"/>
                <a:cs typeface="Arial" pitchFamily="34" charset="-120"/>
              </a:rPr>
              <a:t>Laboratório </a:t>
            </a:r>
            <a:pPr algn="ctr" indent="0" marL="0">
              <a:buNone/>
            </a:pPr>
            <a:r>
              <a:rPr lang="en-US" sz="2900" b="1" dirty="0">
                <a:solidFill>
                  <a:srgbClr val="10BCD8"/>
                </a:solidFill>
                <a:latin typeface="Arial" pitchFamily="34" charset="0"/>
                <a:ea typeface="Arial" pitchFamily="34" charset="-122"/>
                <a:cs typeface="Arial" pitchFamily="34" charset="-120"/>
              </a:rPr>
              <a:t>Linux</a:t>
            </a:r>
            <a:endParaRPr lang="en-US" sz="2900" dirty="0"/>
          </a:p>
        </p:txBody>
      </p:sp>
      <p:sp>
        <p:nvSpPr>
          <p:cNvPr id="5" name="Shape 3"/>
          <p:cNvSpPr/>
          <p:nvPr/>
        </p:nvSpPr>
        <p:spPr>
          <a:xfrm>
            <a:off x="10991088" y="310896"/>
            <a:ext cx="621792" cy="621792"/>
          </a:xfrm>
          <a:prstGeom prst="ellipse">
            <a:avLst/>
          </a:prstGeom>
          <a:solidFill>
            <a:srgbClr val="7B6FF0"/>
          </a:solidFill>
          <a:ln w="12700">
            <a:solidFill>
              <a:srgbClr val="7B6FF0">
                <a:alpha val="0"/>
              </a:srgbClr>
            </a:solidFill>
            <a:prstDash val="solid"/>
          </a:ln>
        </p:spPr>
      </p:sp>
      <p:pic>
        <p:nvPicPr>
          <p:cNvPr id="6" name="Image 0" descr="preencoded.png">    </p:cNvPr>
          <p:cNvPicPr>
            <a:picLocks noChangeAspect="1"/>
          </p:cNvPicPr>
          <p:nvPr/>
        </p:nvPicPr>
        <p:blipFill>
          <a:blip r:embed="rId1"/>
          <a:stretch>
            <a:fillRect/>
          </a:stretch>
        </p:blipFill>
        <p:spPr>
          <a:xfrm>
            <a:off x="11134100" y="453908"/>
            <a:ext cx="335768" cy="335768"/>
          </a:xfrm>
          <a:prstGeom prst="rect">
            <a:avLst/>
          </a:prstGeom>
        </p:spPr>
      </p:pic>
      <p:sp>
        <p:nvSpPr>
          <p:cNvPr id="7" name="Text 4"/>
          <p:cNvSpPr txBox="1"/>
          <p:nvPr/>
        </p:nvSpPr>
        <p:spPr>
          <a:xfrm>
            <a:off x="685800" y="987552"/>
            <a:ext cx="10789920" cy="384048"/>
          </a:xfrm>
          <a:prstGeom prst="rect">
            <a:avLst/>
          </a:prstGeom>
          <a:noFill/>
          <a:ln/>
        </p:spPr>
        <p:txBody>
          <a:bodyPr wrap="square" lIns="0" tIns="0" rIns="0" bIns="0" rtlCol="0" anchor="ctr"/>
          <a:lstStyle/>
          <a:p>
            <a:pPr algn="ctr" indent="0" marL="0">
              <a:buNone/>
            </a:pPr>
            <a:r>
              <a:rPr lang="en-US" sz="1800" dirty="0">
                <a:solidFill>
                  <a:srgbClr val="CBD5E1"/>
                </a:solidFill>
                <a:latin typeface="Calibri" pitchFamily="34" charset="0"/>
                <a:ea typeface="Calibri" pitchFamily="34" charset="-122"/>
                <a:cs typeface="Calibri" pitchFamily="34" charset="-120"/>
              </a:rPr>
              <a:t>Três containers em rede interna, sem publicar portas no computador</a:t>
            </a:r>
            <a:endParaRPr lang="en-US" sz="1800" dirty="0"/>
          </a:p>
        </p:txBody>
      </p:sp>
      <p:sp>
        <p:nvSpPr>
          <p:cNvPr id="8" name="Text 5"/>
          <p:cNvSpPr txBox="1"/>
          <p:nvPr/>
        </p:nvSpPr>
        <p:spPr>
          <a:xfrm>
            <a:off x="502920" y="6556248"/>
            <a:ext cx="7772400" cy="164592"/>
          </a:xfrm>
          <a:prstGeom prst="rect">
            <a:avLst/>
          </a:prstGeom>
          <a:noFill/>
          <a:ln/>
        </p:spPr>
        <p:txBody>
          <a:bodyPr wrap="square" lIns="0" tIns="0" rIns="0" bIns="0" rtlCol="0" anchor="ctr"/>
          <a:lstStyle/>
          <a:p>
            <a:pPr indent="0" marL="0">
              <a:buNone/>
            </a:pPr>
            <a:r>
              <a:rPr lang="en-US" sz="850" dirty="0">
                <a:solidFill>
                  <a:srgbClr val="8796AD"/>
                </a:solidFill>
                <a:latin typeface="Calibri" pitchFamily="34" charset="0"/>
                <a:ea typeface="Calibri" pitchFamily="34" charset="-122"/>
                <a:cs typeface="Calibri" pitchFamily="34" charset="-120"/>
              </a:rPr>
              <a:t>NetSec  ·  Redes + Segurança + Automação</a:t>
            </a:r>
            <a:endParaRPr lang="en-US" sz="850" dirty="0"/>
          </a:p>
        </p:txBody>
      </p:sp>
      <p:sp>
        <p:nvSpPr>
          <p:cNvPr id="9" name="Text 6"/>
          <p:cNvSpPr txBox="1"/>
          <p:nvPr/>
        </p:nvSpPr>
        <p:spPr>
          <a:xfrm>
            <a:off x="11292840" y="6547104"/>
            <a:ext cx="320040" cy="182880"/>
          </a:xfrm>
          <a:prstGeom prst="rect">
            <a:avLst/>
          </a:prstGeom>
          <a:noFill/>
          <a:ln/>
        </p:spPr>
        <p:txBody>
          <a:bodyPr wrap="square" lIns="0" tIns="0" rIns="0" bIns="0" rtlCol="0" anchor="ctr"/>
          <a:lstStyle/>
          <a:p>
            <a:pPr algn="r" indent="0" marL="0">
              <a:buNone/>
            </a:pPr>
            <a:r>
              <a:rPr lang="en-US" sz="850" dirty="0">
                <a:solidFill>
                  <a:srgbClr val="8796AD"/>
                </a:solidFill>
                <a:latin typeface="Calibri" pitchFamily="34" charset="0"/>
                <a:ea typeface="Calibri" pitchFamily="34" charset="-122"/>
                <a:cs typeface="Calibri" pitchFamily="34" charset="-120"/>
              </a:rPr>
              <a:t>13</a:t>
            </a:r>
            <a:endParaRPr lang="en-US" sz="850" dirty="0"/>
          </a:p>
        </p:txBody>
      </p:sp>
      <p:sp>
        <p:nvSpPr>
          <p:cNvPr id="10" name="Shape 7"/>
          <p:cNvSpPr/>
          <p:nvPr/>
        </p:nvSpPr>
        <p:spPr>
          <a:xfrm>
            <a:off x="731520" y="1965960"/>
            <a:ext cx="2788920" cy="2953512"/>
          </a:xfrm>
          <a:prstGeom prst="roundRect">
            <a:avLst>
              <a:gd name="adj" fmla="val 3934"/>
            </a:avLst>
          </a:prstGeom>
          <a:solidFill>
            <a:srgbClr val="0F1C30"/>
          </a:solidFill>
          <a:ln w="7620">
            <a:solidFill>
              <a:srgbClr val="283449"/>
            </a:solidFill>
            <a:prstDash val="solid"/>
          </a:ln>
        </p:spPr>
      </p:sp>
      <p:sp>
        <p:nvSpPr>
          <p:cNvPr id="11" name="Shape 8"/>
          <p:cNvSpPr/>
          <p:nvPr/>
        </p:nvSpPr>
        <p:spPr>
          <a:xfrm>
            <a:off x="1828800" y="2304288"/>
            <a:ext cx="603504" cy="603504"/>
          </a:xfrm>
          <a:prstGeom prst="ellipse">
            <a:avLst/>
          </a:prstGeom>
          <a:solidFill>
            <a:srgbClr val="10BCD8"/>
          </a:solidFill>
          <a:ln w="12700">
            <a:solidFill>
              <a:srgbClr val="10BCD8">
                <a:alpha val="0"/>
              </a:srgbClr>
            </a:solidFill>
            <a:prstDash val="solid"/>
          </a:ln>
        </p:spPr>
      </p:sp>
      <p:pic>
        <p:nvPicPr>
          <p:cNvPr id="12" name="Image 1" descr="preencoded.png">    </p:cNvPr>
          <p:cNvPicPr>
            <a:picLocks noChangeAspect="1"/>
          </p:cNvPicPr>
          <p:nvPr/>
        </p:nvPicPr>
        <p:blipFill>
          <a:blip r:embed="rId2"/>
          <a:stretch>
            <a:fillRect/>
          </a:stretch>
        </p:blipFill>
        <p:spPr>
          <a:xfrm>
            <a:off x="1967606" y="2443094"/>
            <a:ext cx="325892" cy="325892"/>
          </a:xfrm>
          <a:prstGeom prst="rect">
            <a:avLst/>
          </a:prstGeom>
        </p:spPr>
      </p:pic>
      <p:sp>
        <p:nvSpPr>
          <p:cNvPr id="13" name="Text 9"/>
          <p:cNvSpPr txBox="1"/>
          <p:nvPr/>
        </p:nvSpPr>
        <p:spPr>
          <a:xfrm>
            <a:off x="1005840" y="3154680"/>
            <a:ext cx="2240280" cy="411480"/>
          </a:xfrm>
          <a:prstGeom prst="rect">
            <a:avLst/>
          </a:prstGeom>
          <a:noFill/>
          <a:ln/>
        </p:spPr>
        <p:txBody>
          <a:bodyPr wrap="square" lIns="0" tIns="0" rIns="0" bIns="0" rtlCol="0" anchor="ctr"/>
          <a:lstStyle/>
          <a:p>
            <a:pPr algn="ctr" indent="0" marL="0">
              <a:buNone/>
            </a:pPr>
            <a:r>
              <a:rPr lang="en-US" sz="2500" b="1" dirty="0">
                <a:solidFill>
                  <a:srgbClr val="F8FAFC"/>
                </a:solidFill>
                <a:latin typeface="Calibri" pitchFamily="34" charset="0"/>
                <a:ea typeface="Calibri" pitchFamily="34" charset="-122"/>
                <a:cs typeface="Calibri" pitchFamily="34" charset="-120"/>
              </a:rPr>
              <a:t>probe</a:t>
            </a:r>
            <a:endParaRPr lang="en-US" sz="2500" dirty="0"/>
          </a:p>
        </p:txBody>
      </p:sp>
      <p:sp>
        <p:nvSpPr>
          <p:cNvPr id="14" name="Text 10"/>
          <p:cNvSpPr txBox="1"/>
          <p:nvPr/>
        </p:nvSpPr>
        <p:spPr>
          <a:xfrm>
            <a:off x="932688" y="3776472"/>
            <a:ext cx="2377440" cy="457200"/>
          </a:xfrm>
          <a:prstGeom prst="rect">
            <a:avLst/>
          </a:prstGeom>
          <a:noFill/>
          <a:ln/>
        </p:spPr>
        <p:txBody>
          <a:bodyPr wrap="square" lIns="0" tIns="0" rIns="0" bIns="0" rtlCol="0" anchor="ctr"/>
          <a:lstStyle/>
          <a:p>
            <a:pPr algn="ctr" indent="0" marL="0">
              <a:buNone/>
            </a:pPr>
            <a:r>
              <a:rPr lang="en-US" sz="2100" dirty="0">
                <a:solidFill>
                  <a:srgbClr val="CBD5E1"/>
                </a:solidFill>
                <a:latin typeface="Courier New" pitchFamily="34" charset="0"/>
                <a:ea typeface="Courier New" pitchFamily="34" charset="-122"/>
                <a:cs typeface="Courier New" pitchFamily="34" charset="-120"/>
              </a:rPr>
              <a:t>172.30.249.2</a:t>
            </a:r>
            <a:endParaRPr lang="en-US" sz="2100" dirty="0"/>
          </a:p>
        </p:txBody>
      </p:sp>
      <p:sp>
        <p:nvSpPr>
          <p:cNvPr id="15" name="Shape 11"/>
          <p:cNvSpPr/>
          <p:nvPr/>
        </p:nvSpPr>
        <p:spPr>
          <a:xfrm>
            <a:off x="6903720" y="1810512"/>
            <a:ext cx="4544568" cy="1810512"/>
          </a:xfrm>
          <a:prstGeom prst="roundRect">
            <a:avLst>
              <a:gd name="adj" fmla="val 6061"/>
            </a:avLst>
          </a:prstGeom>
          <a:solidFill>
            <a:srgbClr val="1E293B"/>
          </a:solidFill>
          <a:ln w="7620">
            <a:solidFill>
              <a:srgbClr val="283449"/>
            </a:solidFill>
            <a:prstDash val="solid"/>
          </a:ln>
        </p:spPr>
      </p:sp>
      <p:sp>
        <p:nvSpPr>
          <p:cNvPr id="16" name="Shape 12"/>
          <p:cNvSpPr/>
          <p:nvPr/>
        </p:nvSpPr>
        <p:spPr>
          <a:xfrm>
            <a:off x="7196328" y="2103120"/>
            <a:ext cx="585216" cy="585216"/>
          </a:xfrm>
          <a:prstGeom prst="ellipse">
            <a:avLst/>
          </a:prstGeom>
          <a:solidFill>
            <a:srgbClr val="10BCD8"/>
          </a:solidFill>
          <a:ln w="12700">
            <a:solidFill>
              <a:srgbClr val="10BCD8">
                <a:alpha val="0"/>
              </a:srgbClr>
            </a:solidFill>
            <a:prstDash val="solid"/>
          </a:ln>
        </p:spPr>
      </p:sp>
      <p:pic>
        <p:nvPicPr>
          <p:cNvPr id="17" name="Image 2" descr="preencoded.png">    </p:cNvPr>
          <p:cNvPicPr>
            <a:picLocks noChangeAspect="1"/>
          </p:cNvPicPr>
          <p:nvPr/>
        </p:nvPicPr>
        <p:blipFill>
          <a:blip r:embed="rId3"/>
          <a:stretch>
            <a:fillRect/>
          </a:stretch>
        </p:blipFill>
        <p:spPr>
          <a:xfrm>
            <a:off x="7330928" y="2237720"/>
            <a:ext cx="316017" cy="316017"/>
          </a:xfrm>
          <a:prstGeom prst="rect">
            <a:avLst/>
          </a:prstGeom>
        </p:spPr>
      </p:pic>
      <p:sp>
        <p:nvSpPr>
          <p:cNvPr id="18" name="Text 13"/>
          <p:cNvSpPr txBox="1"/>
          <p:nvPr/>
        </p:nvSpPr>
        <p:spPr>
          <a:xfrm>
            <a:off x="8019288" y="2084832"/>
            <a:ext cx="2926080" cy="365760"/>
          </a:xfrm>
          <a:prstGeom prst="rect">
            <a:avLst/>
          </a:prstGeom>
          <a:noFill/>
          <a:ln/>
        </p:spPr>
        <p:txBody>
          <a:bodyPr wrap="square" lIns="0" tIns="0" rIns="0" bIns="0" rtlCol="0" anchor="ctr"/>
          <a:lstStyle/>
          <a:p>
            <a:pPr indent="0" marL="0">
              <a:buNone/>
            </a:pPr>
            <a:r>
              <a:rPr lang="en-US" sz="2400" b="1" dirty="0">
                <a:solidFill>
                  <a:srgbClr val="F8FAFC"/>
                </a:solidFill>
                <a:latin typeface="Calibri" pitchFamily="34" charset="0"/>
                <a:ea typeface="Calibri" pitchFamily="34" charset="-122"/>
                <a:cs typeface="Calibri" pitchFamily="34" charset="-120"/>
              </a:rPr>
              <a:t>web01</a:t>
            </a:r>
            <a:endParaRPr lang="en-US" sz="2400" dirty="0"/>
          </a:p>
        </p:txBody>
      </p:sp>
      <p:sp>
        <p:nvSpPr>
          <p:cNvPr id="19" name="Text 14"/>
          <p:cNvSpPr txBox="1"/>
          <p:nvPr/>
        </p:nvSpPr>
        <p:spPr>
          <a:xfrm>
            <a:off x="8019288" y="2624328"/>
            <a:ext cx="2971800" cy="365760"/>
          </a:xfrm>
          <a:prstGeom prst="rect">
            <a:avLst/>
          </a:prstGeom>
          <a:noFill/>
          <a:ln/>
        </p:spPr>
        <p:txBody>
          <a:bodyPr wrap="square" lIns="0" tIns="0" rIns="0" bIns="0" rtlCol="0" anchor="ctr"/>
          <a:lstStyle/>
          <a:p>
            <a:pPr indent="0" marL="0">
              <a:buNone/>
            </a:pPr>
            <a:r>
              <a:rPr lang="en-US" sz="2100" dirty="0">
                <a:solidFill>
                  <a:srgbClr val="CBD5E1"/>
                </a:solidFill>
                <a:latin typeface="Courier New" pitchFamily="34" charset="0"/>
                <a:ea typeface="Courier New" pitchFamily="34" charset="-122"/>
                <a:cs typeface="Courier New" pitchFamily="34" charset="-120"/>
              </a:rPr>
              <a:t>172.30.249.10</a:t>
            </a:r>
            <a:endParaRPr lang="en-US" sz="2100" dirty="0"/>
          </a:p>
        </p:txBody>
      </p:sp>
      <p:sp>
        <p:nvSpPr>
          <p:cNvPr id="20" name="Text 15"/>
          <p:cNvSpPr txBox="1"/>
          <p:nvPr/>
        </p:nvSpPr>
        <p:spPr>
          <a:xfrm>
            <a:off x="7205472" y="3182112"/>
            <a:ext cx="3977640" cy="246888"/>
          </a:xfrm>
          <a:prstGeom prst="rect">
            <a:avLst/>
          </a:prstGeom>
          <a:noFill/>
          <a:ln/>
        </p:spPr>
        <p:txBody>
          <a:bodyPr wrap="square" lIns="0" tIns="0" rIns="0" bIns="0" rtlCol="0" anchor="ctr"/>
          <a:lstStyle/>
          <a:p>
            <a:pPr indent="0" marL="0">
              <a:buNone/>
            </a:pPr>
            <a:r>
              <a:rPr lang="en-US" sz="1550" dirty="0">
                <a:solidFill>
                  <a:srgbClr val="8796AD"/>
                </a:solidFill>
                <a:latin typeface="Calibri" pitchFamily="34" charset="0"/>
                <a:ea typeface="Calibri" pitchFamily="34" charset="-122"/>
                <a:cs typeface="Calibri" pitchFamily="34" charset="-120"/>
              </a:rPr>
              <a:t>SSH 22, HTTP 80, fixture TCP 23</a:t>
            </a:r>
            <a:endParaRPr lang="en-US" sz="1550" dirty="0"/>
          </a:p>
        </p:txBody>
      </p:sp>
      <p:sp>
        <p:nvSpPr>
          <p:cNvPr id="21" name="Shape 16"/>
          <p:cNvSpPr/>
          <p:nvPr/>
        </p:nvSpPr>
        <p:spPr>
          <a:xfrm>
            <a:off x="6903720" y="4032504"/>
            <a:ext cx="4544568" cy="1810512"/>
          </a:xfrm>
          <a:prstGeom prst="roundRect">
            <a:avLst>
              <a:gd name="adj" fmla="val 6061"/>
            </a:avLst>
          </a:prstGeom>
          <a:solidFill>
            <a:srgbClr val="1E293B"/>
          </a:solidFill>
          <a:ln w="7620">
            <a:solidFill>
              <a:srgbClr val="283449"/>
            </a:solidFill>
            <a:prstDash val="solid"/>
          </a:ln>
        </p:spPr>
      </p:sp>
      <p:sp>
        <p:nvSpPr>
          <p:cNvPr id="22" name="Shape 17"/>
          <p:cNvSpPr/>
          <p:nvPr/>
        </p:nvSpPr>
        <p:spPr>
          <a:xfrm>
            <a:off x="7196328" y="4325112"/>
            <a:ext cx="585216" cy="585216"/>
          </a:xfrm>
          <a:prstGeom prst="ellipse">
            <a:avLst/>
          </a:prstGeom>
          <a:solidFill>
            <a:srgbClr val="7B6FF0"/>
          </a:solidFill>
          <a:ln w="12700">
            <a:solidFill>
              <a:srgbClr val="7B6FF0">
                <a:alpha val="0"/>
              </a:srgbClr>
            </a:solidFill>
            <a:prstDash val="solid"/>
          </a:ln>
        </p:spPr>
      </p:sp>
      <p:pic>
        <p:nvPicPr>
          <p:cNvPr id="23" name="Image 3" descr="preencoded.png">    </p:cNvPr>
          <p:cNvPicPr>
            <a:picLocks noChangeAspect="1"/>
          </p:cNvPicPr>
          <p:nvPr/>
        </p:nvPicPr>
        <p:blipFill>
          <a:blip r:embed="rId4"/>
          <a:stretch>
            <a:fillRect/>
          </a:stretch>
        </p:blipFill>
        <p:spPr>
          <a:xfrm>
            <a:off x="7330928" y="4459712"/>
            <a:ext cx="316017" cy="316017"/>
          </a:xfrm>
          <a:prstGeom prst="rect">
            <a:avLst/>
          </a:prstGeom>
        </p:spPr>
      </p:pic>
      <p:sp>
        <p:nvSpPr>
          <p:cNvPr id="24" name="Text 18"/>
          <p:cNvSpPr txBox="1"/>
          <p:nvPr/>
        </p:nvSpPr>
        <p:spPr>
          <a:xfrm>
            <a:off x="8019288" y="4306824"/>
            <a:ext cx="2926080" cy="365760"/>
          </a:xfrm>
          <a:prstGeom prst="rect">
            <a:avLst/>
          </a:prstGeom>
          <a:noFill/>
          <a:ln/>
        </p:spPr>
        <p:txBody>
          <a:bodyPr wrap="square" lIns="0" tIns="0" rIns="0" bIns="0" rtlCol="0" anchor="ctr"/>
          <a:lstStyle/>
          <a:p>
            <a:pPr indent="0" marL="0">
              <a:buNone/>
            </a:pPr>
            <a:r>
              <a:rPr lang="en-US" sz="2400" b="1" dirty="0">
                <a:solidFill>
                  <a:srgbClr val="F8FAFC"/>
                </a:solidFill>
                <a:latin typeface="Calibri" pitchFamily="34" charset="0"/>
                <a:ea typeface="Calibri" pitchFamily="34" charset="-122"/>
                <a:cs typeface="Calibri" pitchFamily="34" charset="-120"/>
              </a:rPr>
              <a:t>web02</a:t>
            </a:r>
            <a:endParaRPr lang="en-US" sz="2400" dirty="0"/>
          </a:p>
        </p:txBody>
      </p:sp>
      <p:sp>
        <p:nvSpPr>
          <p:cNvPr id="25" name="Text 19"/>
          <p:cNvSpPr txBox="1"/>
          <p:nvPr/>
        </p:nvSpPr>
        <p:spPr>
          <a:xfrm>
            <a:off x="8019288" y="4846320"/>
            <a:ext cx="2971800" cy="365760"/>
          </a:xfrm>
          <a:prstGeom prst="rect">
            <a:avLst/>
          </a:prstGeom>
          <a:noFill/>
          <a:ln/>
        </p:spPr>
        <p:txBody>
          <a:bodyPr wrap="square" lIns="0" tIns="0" rIns="0" bIns="0" rtlCol="0" anchor="ctr"/>
          <a:lstStyle/>
          <a:p>
            <a:pPr indent="0" marL="0">
              <a:buNone/>
            </a:pPr>
            <a:r>
              <a:rPr lang="en-US" sz="2100" dirty="0">
                <a:solidFill>
                  <a:srgbClr val="CBD5E1"/>
                </a:solidFill>
                <a:latin typeface="Courier New" pitchFamily="34" charset="0"/>
                <a:ea typeface="Courier New" pitchFamily="34" charset="-122"/>
                <a:cs typeface="Courier New" pitchFamily="34" charset="-120"/>
              </a:rPr>
              <a:t>172.30.249.11</a:t>
            </a:r>
            <a:endParaRPr lang="en-US" sz="2100" dirty="0"/>
          </a:p>
        </p:txBody>
      </p:sp>
      <p:sp>
        <p:nvSpPr>
          <p:cNvPr id="26" name="Text 20"/>
          <p:cNvSpPr txBox="1"/>
          <p:nvPr/>
        </p:nvSpPr>
        <p:spPr>
          <a:xfrm>
            <a:off x="7205472" y="5404104"/>
            <a:ext cx="3977640" cy="246888"/>
          </a:xfrm>
          <a:prstGeom prst="rect">
            <a:avLst/>
          </a:prstGeom>
          <a:noFill/>
          <a:ln/>
        </p:spPr>
        <p:txBody>
          <a:bodyPr wrap="square" lIns="0" tIns="0" rIns="0" bIns="0" rtlCol="0" anchor="ctr"/>
          <a:lstStyle/>
          <a:p>
            <a:pPr indent="0" marL="0">
              <a:buNone/>
            </a:pPr>
            <a:r>
              <a:rPr lang="en-US" sz="1550" dirty="0">
                <a:solidFill>
                  <a:srgbClr val="8796AD"/>
                </a:solidFill>
                <a:latin typeface="Calibri" pitchFamily="34" charset="0"/>
                <a:ea typeface="Calibri" pitchFamily="34" charset="-122"/>
                <a:cs typeface="Calibri" pitchFamily="34" charset="-120"/>
              </a:rPr>
              <a:t>SSH 22, HTTP 80, fixture TCP 23</a:t>
            </a:r>
            <a:endParaRPr lang="en-US" sz="1550" dirty="0"/>
          </a:p>
        </p:txBody>
      </p:sp>
      <p:sp>
        <p:nvSpPr>
          <p:cNvPr id="27" name="Shape 21"/>
          <p:cNvSpPr/>
          <p:nvPr/>
        </p:nvSpPr>
        <p:spPr>
          <a:xfrm>
            <a:off x="3547872" y="3044952"/>
            <a:ext cx="3108960" cy="-347472"/>
          </a:xfrm>
          <a:prstGeom prst="line">
            <a:avLst/>
          </a:prstGeom>
          <a:noFill/>
          <a:ln w="27940">
            <a:solidFill>
              <a:srgbClr val="10BCD8"/>
            </a:solidFill>
            <a:prstDash val="solid"/>
            <a:headEnd type="none"/>
            <a:tailEnd type="triangle"/>
          </a:ln>
        </p:spPr>
      </p:sp>
      <p:sp>
        <p:nvSpPr>
          <p:cNvPr id="28" name="Shape 22"/>
          <p:cNvSpPr/>
          <p:nvPr/>
        </p:nvSpPr>
        <p:spPr>
          <a:xfrm>
            <a:off x="3547872" y="4005072"/>
            <a:ext cx="3108960" cy="914400"/>
          </a:xfrm>
          <a:prstGeom prst="line">
            <a:avLst/>
          </a:prstGeom>
          <a:noFill/>
          <a:ln w="27940">
            <a:solidFill>
              <a:srgbClr val="7B6FF0"/>
            </a:solidFill>
            <a:prstDash val="solid"/>
            <a:headEnd type="none"/>
            <a:tailEnd type="triangle"/>
          </a:ln>
        </p:spPr>
      </p:sp>
      <p:sp>
        <p:nvSpPr>
          <p:cNvPr id="29" name="Text 23"/>
          <p:cNvSpPr txBox="1"/>
          <p:nvPr/>
        </p:nvSpPr>
        <p:spPr>
          <a:xfrm>
            <a:off x="3977640" y="3429000"/>
            <a:ext cx="2468880" cy="365760"/>
          </a:xfrm>
          <a:prstGeom prst="rect">
            <a:avLst/>
          </a:prstGeom>
          <a:noFill/>
          <a:ln/>
        </p:spPr>
        <p:txBody>
          <a:bodyPr wrap="square" lIns="0" tIns="0" rIns="0" bIns="0" rtlCol="0" anchor="ctr"/>
          <a:lstStyle/>
          <a:p>
            <a:pPr algn="ctr" indent="0" marL="0">
              <a:buNone/>
            </a:pPr>
            <a:r>
              <a:rPr lang="en-US" sz="2100" dirty="0">
                <a:solidFill>
                  <a:srgbClr val="F8FAFC"/>
                </a:solidFill>
                <a:latin typeface="Calibri" pitchFamily="34" charset="0"/>
                <a:ea typeface="Calibri" pitchFamily="34" charset="-122"/>
                <a:cs typeface="Calibri" pitchFamily="34" charset="-120"/>
              </a:rPr>
              <a:t>Sondas reais</a:t>
            </a:r>
            <a:endParaRPr lang="en-US" sz="2100" dirty="0"/>
          </a:p>
        </p:txBody>
      </p:sp>
      <p:sp>
        <p:nvSpPr>
          <p:cNvPr id="30" name="Text 24"/>
          <p:cNvSpPr txBox="1"/>
          <p:nvPr/>
        </p:nvSpPr>
        <p:spPr>
          <a:xfrm>
            <a:off x="868680" y="6089904"/>
            <a:ext cx="10698480" cy="329184"/>
          </a:xfrm>
          <a:prstGeom prst="rect">
            <a:avLst/>
          </a:prstGeom>
          <a:noFill/>
          <a:ln/>
        </p:spPr>
        <p:txBody>
          <a:bodyPr wrap="square" lIns="0" tIns="0" rIns="0" bIns="0" rtlCol="0" anchor="ctr"/>
          <a:lstStyle/>
          <a:p>
            <a:pPr algn="ctr" indent="0" marL="0">
              <a:buNone/>
            </a:pPr>
            <a:r>
              <a:rPr lang="en-US" sz="1800" dirty="0">
                <a:solidFill>
                  <a:srgbClr val="CBD5E1"/>
                </a:solidFill>
                <a:latin typeface="Calibri" pitchFamily="34" charset="0"/>
                <a:ea typeface="Calibri" pitchFamily="34" charset="-122"/>
                <a:cs typeface="Calibri" pitchFamily="34" charset="-120"/>
              </a:rPr>
              <a:t>NET_ADMIN apenas nos alvos. nftables filtra dentro dos containers.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324"/>
        </a:solidFill>
      </p:bgPr>
    </p:bg>
    <p:spTree>
      <p:nvGrpSpPr>
        <p:cNvPr id="1" name=""/>
        <p:cNvGrpSpPr/>
        <p:nvPr/>
      </p:nvGrpSpPr>
      <p:grpSpPr>
        <a:xfrm>
          <a:off x="0" y="0"/>
          <a:ext cx="0" cy="0"/>
          <a:chOff x="0" y="0"/>
          <a:chExt cx="0" cy="0"/>
        </a:xfrm>
      </p:grpSpPr>
      <p:sp>
        <p:nvSpPr>
          <p:cNvPr id="2" name="Shape 0"/>
          <p:cNvSpPr/>
          <p:nvPr/>
        </p:nvSpPr>
        <p:spPr>
          <a:xfrm>
            <a:off x="-1024128" y="-1005840"/>
            <a:ext cx="3456432" cy="3364992"/>
          </a:xfrm>
          <a:prstGeom prst="ellipse">
            <a:avLst/>
          </a:prstGeom>
          <a:solidFill>
            <a:srgbClr val="122B3F"/>
          </a:solidFill>
          <a:ln w="12700">
            <a:solidFill>
              <a:srgbClr val="333333">
                <a:alpha val="0"/>
              </a:srgbClr>
            </a:solidFill>
            <a:prstDash val="solid"/>
          </a:ln>
        </p:spPr>
      </p:sp>
      <p:sp>
        <p:nvSpPr>
          <p:cNvPr id="3" name="Shape 1"/>
          <p:cNvSpPr/>
          <p:nvPr/>
        </p:nvSpPr>
        <p:spPr>
          <a:xfrm>
            <a:off x="8686800" y="4709160"/>
            <a:ext cx="4663440" cy="3310128"/>
          </a:xfrm>
          <a:prstGeom prst="ellipse">
            <a:avLst/>
          </a:prstGeom>
          <a:solidFill>
            <a:srgbClr val="1D1D40"/>
          </a:solidFill>
          <a:ln w="12700">
            <a:solidFill>
              <a:srgbClr val="333333">
                <a:alpha val="0"/>
              </a:srgbClr>
            </a:solidFill>
            <a:prstDash val="solid"/>
          </a:ln>
        </p:spPr>
      </p:sp>
      <p:sp>
        <p:nvSpPr>
          <p:cNvPr id="4" name="Text 2"/>
          <p:cNvSpPr txBox="1"/>
          <p:nvPr/>
        </p:nvSpPr>
        <p:spPr>
          <a:xfrm>
            <a:off x="594360" y="292608"/>
            <a:ext cx="10469880" cy="530352"/>
          </a:xfrm>
          <a:prstGeom prst="rect">
            <a:avLst/>
          </a:prstGeom>
          <a:noFill/>
          <a:ln/>
        </p:spPr>
        <p:txBody>
          <a:bodyPr wrap="square" lIns="0" tIns="0" rIns="0" bIns="0" rtlCol="0" anchor="ctr"/>
          <a:lstStyle/>
          <a:p>
            <a:pPr algn="ctr" indent="0" marL="0">
              <a:buNone/>
            </a:pPr>
            <a:r>
              <a:rPr lang="en-US" sz="2900" b="1" dirty="0">
                <a:solidFill>
                  <a:srgbClr val="F8FAFC"/>
                </a:solidFill>
                <a:latin typeface="Arial" pitchFamily="34" charset="0"/>
                <a:ea typeface="Arial" pitchFamily="34" charset="-122"/>
                <a:cs typeface="Arial" pitchFamily="34" charset="-120"/>
              </a:rPr>
              <a:t>Demonstração </a:t>
            </a:r>
            <a:pPr algn="ctr" indent="0" marL="0">
              <a:buNone/>
            </a:pPr>
            <a:r>
              <a:rPr lang="en-US" sz="2900" b="1" dirty="0">
                <a:solidFill>
                  <a:srgbClr val="10BCD8"/>
                </a:solidFill>
                <a:latin typeface="Arial" pitchFamily="34" charset="0"/>
                <a:ea typeface="Arial" pitchFamily="34" charset="-122"/>
                <a:cs typeface="Arial" pitchFamily="34" charset="-120"/>
              </a:rPr>
              <a:t>ao vivo</a:t>
            </a:r>
            <a:endParaRPr lang="en-US" sz="2900" dirty="0"/>
          </a:p>
        </p:txBody>
      </p:sp>
      <p:sp>
        <p:nvSpPr>
          <p:cNvPr id="5" name="Shape 3"/>
          <p:cNvSpPr/>
          <p:nvPr/>
        </p:nvSpPr>
        <p:spPr>
          <a:xfrm>
            <a:off x="10991088" y="310896"/>
            <a:ext cx="621792" cy="621792"/>
          </a:xfrm>
          <a:prstGeom prst="ellipse">
            <a:avLst/>
          </a:prstGeom>
          <a:solidFill>
            <a:srgbClr val="7B6FF0"/>
          </a:solidFill>
          <a:ln w="12700">
            <a:solidFill>
              <a:srgbClr val="7B6FF0">
                <a:alpha val="0"/>
              </a:srgbClr>
            </a:solidFill>
            <a:prstDash val="solid"/>
          </a:ln>
        </p:spPr>
      </p:sp>
      <p:pic>
        <p:nvPicPr>
          <p:cNvPr id="6" name="Image 0" descr="preencoded.png">    </p:cNvPr>
          <p:cNvPicPr>
            <a:picLocks noChangeAspect="1"/>
          </p:cNvPicPr>
          <p:nvPr/>
        </p:nvPicPr>
        <p:blipFill>
          <a:blip r:embed="rId1"/>
          <a:stretch>
            <a:fillRect/>
          </a:stretch>
        </p:blipFill>
        <p:spPr>
          <a:xfrm>
            <a:off x="11134100" y="453908"/>
            <a:ext cx="335768" cy="335768"/>
          </a:xfrm>
          <a:prstGeom prst="rect">
            <a:avLst/>
          </a:prstGeom>
        </p:spPr>
      </p:pic>
      <p:sp>
        <p:nvSpPr>
          <p:cNvPr id="7" name="Text 4"/>
          <p:cNvSpPr txBox="1"/>
          <p:nvPr/>
        </p:nvSpPr>
        <p:spPr>
          <a:xfrm>
            <a:off x="685800" y="987552"/>
            <a:ext cx="10789920" cy="384048"/>
          </a:xfrm>
          <a:prstGeom prst="rect">
            <a:avLst/>
          </a:prstGeom>
          <a:noFill/>
          <a:ln/>
        </p:spPr>
        <p:txBody>
          <a:bodyPr wrap="square" lIns="0" tIns="0" rIns="0" bIns="0" rtlCol="0" anchor="ctr"/>
          <a:lstStyle/>
          <a:p>
            <a:pPr algn="ctr" indent="0" marL="0">
              <a:buNone/>
            </a:pPr>
            <a:r>
              <a:rPr lang="en-US" sz="1800" dirty="0">
                <a:solidFill>
                  <a:srgbClr val="CBD5E1"/>
                </a:solidFill>
                <a:latin typeface="Calibri" pitchFamily="34" charset="0"/>
                <a:ea typeface="Calibri" pitchFamily="34" charset="-122"/>
                <a:cs typeface="Calibri" pitchFamily="34" charset="-120"/>
              </a:rPr>
              <a:t>Comandos curtos para acompanhar o código, o erro e o comportamento da rede</a:t>
            </a:r>
            <a:endParaRPr lang="en-US" sz="1800" dirty="0"/>
          </a:p>
        </p:txBody>
      </p:sp>
      <p:sp>
        <p:nvSpPr>
          <p:cNvPr id="8" name="Text 5"/>
          <p:cNvSpPr txBox="1"/>
          <p:nvPr/>
        </p:nvSpPr>
        <p:spPr>
          <a:xfrm>
            <a:off x="502920" y="6556248"/>
            <a:ext cx="7772400" cy="164592"/>
          </a:xfrm>
          <a:prstGeom prst="rect">
            <a:avLst/>
          </a:prstGeom>
          <a:noFill/>
          <a:ln/>
        </p:spPr>
        <p:txBody>
          <a:bodyPr wrap="square" lIns="0" tIns="0" rIns="0" bIns="0" rtlCol="0" anchor="ctr"/>
          <a:lstStyle/>
          <a:p>
            <a:pPr indent="0" marL="0">
              <a:buNone/>
            </a:pPr>
            <a:r>
              <a:rPr lang="en-US" sz="850" dirty="0">
                <a:solidFill>
                  <a:srgbClr val="8796AD"/>
                </a:solidFill>
                <a:latin typeface="Calibri" pitchFamily="34" charset="0"/>
                <a:ea typeface="Calibri" pitchFamily="34" charset="-122"/>
                <a:cs typeface="Calibri" pitchFamily="34" charset="-120"/>
              </a:rPr>
              <a:t>NetSec  ·  Redes + Segurança + Automação</a:t>
            </a:r>
            <a:endParaRPr lang="en-US" sz="850" dirty="0"/>
          </a:p>
        </p:txBody>
      </p:sp>
      <p:sp>
        <p:nvSpPr>
          <p:cNvPr id="9" name="Text 6"/>
          <p:cNvSpPr txBox="1"/>
          <p:nvPr/>
        </p:nvSpPr>
        <p:spPr>
          <a:xfrm>
            <a:off x="11292840" y="6547104"/>
            <a:ext cx="320040" cy="182880"/>
          </a:xfrm>
          <a:prstGeom prst="rect">
            <a:avLst/>
          </a:prstGeom>
          <a:noFill/>
          <a:ln/>
        </p:spPr>
        <p:txBody>
          <a:bodyPr wrap="square" lIns="0" tIns="0" rIns="0" bIns="0" rtlCol="0" anchor="ctr"/>
          <a:lstStyle/>
          <a:p>
            <a:pPr algn="r" indent="0" marL="0">
              <a:buNone/>
            </a:pPr>
            <a:r>
              <a:rPr lang="en-US" sz="850" dirty="0">
                <a:solidFill>
                  <a:srgbClr val="8796AD"/>
                </a:solidFill>
                <a:latin typeface="Calibri" pitchFamily="34" charset="0"/>
                <a:ea typeface="Calibri" pitchFamily="34" charset="-122"/>
                <a:cs typeface="Calibri" pitchFamily="34" charset="-120"/>
              </a:rPr>
              <a:t>14</a:t>
            </a:r>
            <a:endParaRPr lang="en-US" sz="850" dirty="0"/>
          </a:p>
        </p:txBody>
      </p:sp>
      <p:sp>
        <p:nvSpPr>
          <p:cNvPr id="10" name="Shape 7"/>
          <p:cNvSpPr/>
          <p:nvPr/>
        </p:nvSpPr>
        <p:spPr>
          <a:xfrm>
            <a:off x="731520" y="1847088"/>
            <a:ext cx="502920" cy="502920"/>
          </a:xfrm>
          <a:prstGeom prst="ellipse">
            <a:avLst/>
          </a:prstGeom>
          <a:solidFill>
            <a:srgbClr val="10BCD8"/>
          </a:solidFill>
          <a:ln w="12700">
            <a:solidFill>
              <a:srgbClr val="10BCD8">
                <a:alpha val="0"/>
              </a:srgbClr>
            </a:solidFill>
            <a:prstDash val="solid"/>
          </a:ln>
        </p:spPr>
      </p:sp>
      <p:pic>
        <p:nvPicPr>
          <p:cNvPr id="11" name="Image 1" descr="preencoded.png">    </p:cNvPr>
          <p:cNvPicPr>
            <a:picLocks noChangeAspect="1"/>
          </p:cNvPicPr>
          <p:nvPr/>
        </p:nvPicPr>
        <p:blipFill>
          <a:blip r:embed="rId2"/>
          <a:stretch>
            <a:fillRect/>
          </a:stretch>
        </p:blipFill>
        <p:spPr>
          <a:xfrm>
            <a:off x="847192" y="1962760"/>
            <a:ext cx="271577" cy="271577"/>
          </a:xfrm>
          <a:prstGeom prst="rect">
            <a:avLst/>
          </a:prstGeom>
        </p:spPr>
      </p:pic>
      <p:sp>
        <p:nvSpPr>
          <p:cNvPr id="12" name="Text 8"/>
          <p:cNvSpPr txBox="1"/>
          <p:nvPr/>
        </p:nvSpPr>
        <p:spPr>
          <a:xfrm>
            <a:off x="1444752" y="1828800"/>
            <a:ext cx="2770632" cy="502920"/>
          </a:xfrm>
          <a:prstGeom prst="rect">
            <a:avLst/>
          </a:prstGeom>
          <a:noFill/>
          <a:ln/>
        </p:spPr>
        <p:txBody>
          <a:bodyPr wrap="square" lIns="0" tIns="0" rIns="0" bIns="0"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1. Compilar</a:t>
            </a:r>
            <a:endParaRPr lang="en-US" sz="2100" dirty="0"/>
          </a:p>
        </p:txBody>
      </p:sp>
      <p:sp>
        <p:nvSpPr>
          <p:cNvPr id="13" name="Shape 9"/>
          <p:cNvSpPr/>
          <p:nvPr/>
        </p:nvSpPr>
        <p:spPr>
          <a:xfrm>
            <a:off x="4389120" y="1664208"/>
            <a:ext cx="7132320" cy="859536"/>
          </a:xfrm>
          <a:prstGeom prst="roundRect">
            <a:avLst>
              <a:gd name="adj" fmla="val 12766"/>
            </a:avLst>
          </a:prstGeom>
          <a:solidFill>
            <a:srgbClr val="060A19"/>
          </a:solidFill>
          <a:ln w="7620">
            <a:solidFill>
              <a:srgbClr val="283449"/>
            </a:solidFill>
            <a:prstDash val="solid"/>
          </a:ln>
        </p:spPr>
      </p:sp>
      <p:sp>
        <p:nvSpPr>
          <p:cNvPr id="14" name="Text 10"/>
          <p:cNvSpPr txBox="1"/>
          <p:nvPr/>
        </p:nvSpPr>
        <p:spPr>
          <a:xfrm>
            <a:off x="4608576" y="1828800"/>
            <a:ext cx="6693408" cy="512064"/>
          </a:xfrm>
          <a:prstGeom prst="rect">
            <a:avLst/>
          </a:prstGeom>
          <a:noFill/>
          <a:ln/>
        </p:spPr>
        <p:txBody>
          <a:bodyPr wrap="square" lIns="0" tIns="0" rIns="0" bIns="0" rtlCol="0" anchor="ctr"/>
          <a:lstStyle/>
          <a:p>
            <a:pPr indent="0" marL="0">
              <a:buNone/>
            </a:pPr>
            <a:r>
              <a:rPr lang="en-US" sz="1520" dirty="0">
                <a:solidFill>
                  <a:srgbClr val="F8FAFC"/>
                </a:solidFill>
                <a:latin typeface="Courier New" pitchFamily="34" charset="0"/>
                <a:ea typeface="Courier New" pitchFamily="34" charset="-122"/>
                <a:cs typeface="Courier New" pitchFamily="34" charset="-120"/>
              </a:rPr>
              <a:t>poetry run netsec </a:t>
            </a:r>
            <a:pPr indent="0" marL="0">
              <a:buNone/>
            </a:pPr>
            <a:r>
              <a:rPr lang="en-US" sz="1520" dirty="0">
                <a:solidFill>
                  <a:srgbClr val="7B6FF0"/>
                </a:solidFill>
                <a:latin typeface="Courier New" pitchFamily="34" charset="0"/>
                <a:ea typeface="Courier New" pitchFamily="34" charset="-122"/>
                <a:cs typeface="Courier New" pitchFamily="34" charset="-120"/>
              </a:rPr>
              <a:t>check</a:t>
            </a:r>
            <a:pPr indent="0" marL="0">
              <a:buNone/>
            </a:pPr>
            <a:r>
              <a:rPr lang="en-US" sz="1520" dirty="0">
                <a:solidFill>
                  <a:srgbClr val="F8FAFC"/>
                </a:solidFill>
                <a:latin typeface="Courier New" pitchFamily="34" charset="0"/>
                <a:ea typeface="Courier New" pitchFamily="34" charset="-122"/>
                <a:cs typeface="Courier New" pitchFamily="34" charset="-120"/>
              </a:rPr>
              <a:t> examples/02_policy.netsec</a:t>
            </a:r>
            <a:endParaRPr lang="en-US" sz="1520" dirty="0"/>
          </a:p>
        </p:txBody>
      </p:sp>
      <p:sp>
        <p:nvSpPr>
          <p:cNvPr id="15" name="Shape 11"/>
          <p:cNvSpPr/>
          <p:nvPr/>
        </p:nvSpPr>
        <p:spPr>
          <a:xfrm>
            <a:off x="731520" y="2971800"/>
            <a:ext cx="502920" cy="502920"/>
          </a:xfrm>
          <a:prstGeom prst="ellipse">
            <a:avLst/>
          </a:prstGeom>
          <a:solidFill>
            <a:srgbClr val="7B6FF0"/>
          </a:solidFill>
          <a:ln w="12700">
            <a:solidFill>
              <a:srgbClr val="7B6FF0">
                <a:alpha val="0"/>
              </a:srgbClr>
            </a:solidFill>
            <a:prstDash val="solid"/>
          </a:ln>
        </p:spPr>
      </p:sp>
      <p:pic>
        <p:nvPicPr>
          <p:cNvPr id="16" name="Image 2" descr="preencoded.png">    </p:cNvPr>
          <p:cNvPicPr>
            <a:picLocks noChangeAspect="1"/>
          </p:cNvPicPr>
          <p:nvPr/>
        </p:nvPicPr>
        <p:blipFill>
          <a:blip r:embed="rId3"/>
          <a:stretch>
            <a:fillRect/>
          </a:stretch>
        </p:blipFill>
        <p:spPr>
          <a:xfrm>
            <a:off x="847192" y="3087472"/>
            <a:ext cx="271577" cy="271577"/>
          </a:xfrm>
          <a:prstGeom prst="rect">
            <a:avLst/>
          </a:prstGeom>
        </p:spPr>
      </p:pic>
      <p:sp>
        <p:nvSpPr>
          <p:cNvPr id="17" name="Text 12"/>
          <p:cNvSpPr txBox="1"/>
          <p:nvPr/>
        </p:nvSpPr>
        <p:spPr>
          <a:xfrm>
            <a:off x="1444752" y="2953512"/>
            <a:ext cx="2770632" cy="502920"/>
          </a:xfrm>
          <a:prstGeom prst="rect">
            <a:avLst/>
          </a:prstGeom>
          <a:noFill/>
          <a:ln/>
        </p:spPr>
        <p:txBody>
          <a:bodyPr wrap="square" lIns="0" tIns="0" rIns="0" bIns="0"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2. Simular</a:t>
            </a:r>
            <a:endParaRPr lang="en-US" sz="2100" dirty="0"/>
          </a:p>
        </p:txBody>
      </p:sp>
      <p:sp>
        <p:nvSpPr>
          <p:cNvPr id="18" name="Shape 13"/>
          <p:cNvSpPr/>
          <p:nvPr/>
        </p:nvSpPr>
        <p:spPr>
          <a:xfrm>
            <a:off x="4389120" y="2788920"/>
            <a:ext cx="7132320" cy="859536"/>
          </a:xfrm>
          <a:prstGeom prst="roundRect">
            <a:avLst>
              <a:gd name="adj" fmla="val 12766"/>
            </a:avLst>
          </a:prstGeom>
          <a:solidFill>
            <a:srgbClr val="060A19"/>
          </a:solidFill>
          <a:ln w="7620">
            <a:solidFill>
              <a:srgbClr val="283449"/>
            </a:solidFill>
            <a:prstDash val="solid"/>
          </a:ln>
        </p:spPr>
      </p:sp>
      <p:sp>
        <p:nvSpPr>
          <p:cNvPr id="19" name="Text 14"/>
          <p:cNvSpPr txBox="1"/>
          <p:nvPr/>
        </p:nvSpPr>
        <p:spPr>
          <a:xfrm>
            <a:off x="4608576" y="2953512"/>
            <a:ext cx="6693408" cy="256032"/>
          </a:xfrm>
          <a:prstGeom prst="rect">
            <a:avLst/>
          </a:prstGeom>
          <a:noFill/>
          <a:ln/>
        </p:spPr>
        <p:txBody>
          <a:bodyPr wrap="square" lIns="0" tIns="0" rIns="0" bIns="0" rtlCol="0" anchor="ctr"/>
          <a:lstStyle/>
          <a:p>
            <a:pPr indent="0" marL="0">
              <a:buNone/>
            </a:pPr>
            <a:r>
              <a:rPr lang="en-US" sz="1520" dirty="0">
                <a:solidFill>
                  <a:srgbClr val="F8FAFC"/>
                </a:solidFill>
                <a:latin typeface="Courier New" pitchFamily="34" charset="0"/>
                <a:ea typeface="Courier New" pitchFamily="34" charset="-122"/>
                <a:cs typeface="Courier New" pitchFamily="34" charset="-120"/>
              </a:rPr>
              <a:t>poetry run netsec run examples/02_policy.netsec</a:t>
            </a:r>
            <a:endParaRPr lang="en-US" sz="1520" dirty="0"/>
          </a:p>
        </p:txBody>
      </p:sp>
      <p:sp>
        <p:nvSpPr>
          <p:cNvPr id="20" name="Text 15"/>
          <p:cNvSpPr txBox="1"/>
          <p:nvPr/>
        </p:nvSpPr>
        <p:spPr>
          <a:xfrm>
            <a:off x="4608576" y="3209544"/>
            <a:ext cx="6693408" cy="256032"/>
          </a:xfrm>
          <a:prstGeom prst="rect">
            <a:avLst/>
          </a:prstGeom>
          <a:noFill/>
          <a:ln/>
        </p:spPr>
        <p:txBody>
          <a:bodyPr wrap="square" lIns="0" tIns="0" rIns="0" bIns="0" rtlCol="0" anchor="ctr"/>
          <a:lstStyle/>
          <a:p>
            <a:pPr indent="0" marL="0">
              <a:buNone/>
            </a:pPr>
            <a:r>
              <a:rPr lang="en-US" sz="1520" dirty="0">
                <a:solidFill>
                  <a:srgbClr val="F8FAFC"/>
                </a:solidFill>
                <a:latin typeface="Courier New" pitchFamily="34" charset="0"/>
                <a:ea typeface="Courier New" pitchFamily="34" charset="-122"/>
                <a:cs typeface="Courier New" pitchFamily="34" charset="-120"/>
              </a:rPr>
              <a:t>  --scenario examples/scenario.json</a:t>
            </a:r>
            <a:endParaRPr lang="en-US" sz="1520" dirty="0"/>
          </a:p>
        </p:txBody>
      </p:sp>
      <p:sp>
        <p:nvSpPr>
          <p:cNvPr id="21" name="Shape 16"/>
          <p:cNvSpPr/>
          <p:nvPr/>
        </p:nvSpPr>
        <p:spPr>
          <a:xfrm>
            <a:off x="731520" y="4096512"/>
            <a:ext cx="502920" cy="502920"/>
          </a:xfrm>
          <a:prstGeom prst="ellipse">
            <a:avLst/>
          </a:prstGeom>
          <a:solidFill>
            <a:srgbClr val="10BCD8"/>
          </a:solidFill>
          <a:ln w="12700">
            <a:solidFill>
              <a:srgbClr val="10BCD8">
                <a:alpha val="0"/>
              </a:srgbClr>
            </a:solidFill>
            <a:prstDash val="solid"/>
          </a:ln>
        </p:spPr>
      </p:sp>
      <p:pic>
        <p:nvPicPr>
          <p:cNvPr id="22" name="Image 3" descr="preencoded.png">    </p:cNvPr>
          <p:cNvPicPr>
            <a:picLocks noChangeAspect="1"/>
          </p:cNvPicPr>
          <p:nvPr/>
        </p:nvPicPr>
        <p:blipFill>
          <a:blip r:embed="rId4"/>
          <a:stretch>
            <a:fillRect/>
          </a:stretch>
        </p:blipFill>
        <p:spPr>
          <a:xfrm>
            <a:off x="847192" y="4212184"/>
            <a:ext cx="271577" cy="271577"/>
          </a:xfrm>
          <a:prstGeom prst="rect">
            <a:avLst/>
          </a:prstGeom>
        </p:spPr>
      </p:pic>
      <p:sp>
        <p:nvSpPr>
          <p:cNvPr id="23" name="Text 17"/>
          <p:cNvSpPr txBox="1"/>
          <p:nvPr/>
        </p:nvSpPr>
        <p:spPr>
          <a:xfrm>
            <a:off x="1444752" y="4078224"/>
            <a:ext cx="2770632" cy="502920"/>
          </a:xfrm>
          <a:prstGeom prst="rect">
            <a:avLst/>
          </a:prstGeom>
          <a:noFill/>
          <a:ln/>
        </p:spPr>
        <p:txBody>
          <a:bodyPr wrap="square" lIns="0" tIns="0" rIns="0" bIns="0"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3. Rejeitar conflito</a:t>
            </a:r>
            <a:endParaRPr lang="en-US" sz="2100" dirty="0"/>
          </a:p>
        </p:txBody>
      </p:sp>
      <p:sp>
        <p:nvSpPr>
          <p:cNvPr id="24" name="Shape 18"/>
          <p:cNvSpPr/>
          <p:nvPr/>
        </p:nvSpPr>
        <p:spPr>
          <a:xfrm>
            <a:off x="4389120" y="3913632"/>
            <a:ext cx="7132320" cy="859536"/>
          </a:xfrm>
          <a:prstGeom prst="roundRect">
            <a:avLst>
              <a:gd name="adj" fmla="val 12766"/>
            </a:avLst>
          </a:prstGeom>
          <a:solidFill>
            <a:srgbClr val="060A19"/>
          </a:solidFill>
          <a:ln w="7620">
            <a:solidFill>
              <a:srgbClr val="283449"/>
            </a:solidFill>
            <a:prstDash val="solid"/>
          </a:ln>
        </p:spPr>
      </p:sp>
      <p:sp>
        <p:nvSpPr>
          <p:cNvPr id="25" name="Text 19"/>
          <p:cNvSpPr txBox="1"/>
          <p:nvPr/>
        </p:nvSpPr>
        <p:spPr>
          <a:xfrm>
            <a:off x="4608576" y="4078224"/>
            <a:ext cx="6693408" cy="512064"/>
          </a:xfrm>
          <a:prstGeom prst="rect">
            <a:avLst/>
          </a:prstGeom>
          <a:noFill/>
          <a:ln/>
        </p:spPr>
        <p:txBody>
          <a:bodyPr wrap="square" lIns="0" tIns="0" rIns="0" bIns="0" rtlCol="0" anchor="ctr"/>
          <a:lstStyle/>
          <a:p>
            <a:pPr indent="0" marL="0">
              <a:buNone/>
            </a:pPr>
            <a:r>
              <a:rPr lang="en-US" sz="1520" dirty="0">
                <a:solidFill>
                  <a:srgbClr val="F8FAFC"/>
                </a:solidFill>
                <a:latin typeface="Courier New" pitchFamily="34" charset="0"/>
                <a:ea typeface="Courier New" pitchFamily="34" charset="-122"/>
                <a:cs typeface="Courier New" pitchFamily="34" charset="-120"/>
              </a:rPr>
              <a:t>poetry run netsec </a:t>
            </a:r>
            <a:pPr indent="0" marL="0">
              <a:buNone/>
            </a:pPr>
            <a:r>
              <a:rPr lang="en-US" sz="1520" dirty="0">
                <a:solidFill>
                  <a:srgbClr val="7B6FF0"/>
                </a:solidFill>
                <a:latin typeface="Courier New" pitchFamily="34" charset="0"/>
                <a:ea typeface="Courier New" pitchFamily="34" charset="-122"/>
                <a:cs typeface="Courier New" pitchFamily="34" charset="-120"/>
              </a:rPr>
              <a:t>check</a:t>
            </a:r>
            <a:pPr indent="0" marL="0">
              <a:buNone/>
            </a:pPr>
            <a:r>
              <a:rPr lang="en-US" sz="1520" dirty="0">
                <a:solidFill>
                  <a:srgbClr val="F8FAFC"/>
                </a:solidFill>
                <a:latin typeface="Courier New" pitchFamily="34" charset="0"/>
                <a:ea typeface="Courier New" pitchFamily="34" charset="-122"/>
                <a:cs typeface="Courier New" pitchFamily="34" charset="-120"/>
              </a:rPr>
              <a:t> examples/04_rejected.netsec</a:t>
            </a:r>
            <a:endParaRPr lang="en-US" sz="1520" dirty="0"/>
          </a:p>
        </p:txBody>
      </p:sp>
      <p:sp>
        <p:nvSpPr>
          <p:cNvPr id="26" name="Shape 20"/>
          <p:cNvSpPr/>
          <p:nvPr/>
        </p:nvSpPr>
        <p:spPr>
          <a:xfrm>
            <a:off x="731520" y="5221224"/>
            <a:ext cx="502920" cy="502920"/>
          </a:xfrm>
          <a:prstGeom prst="ellipse">
            <a:avLst/>
          </a:prstGeom>
          <a:solidFill>
            <a:srgbClr val="7B6FF0"/>
          </a:solidFill>
          <a:ln w="12700">
            <a:solidFill>
              <a:srgbClr val="7B6FF0">
                <a:alpha val="0"/>
              </a:srgbClr>
            </a:solidFill>
            <a:prstDash val="solid"/>
          </a:ln>
        </p:spPr>
      </p:sp>
      <p:pic>
        <p:nvPicPr>
          <p:cNvPr id="27" name="Image 4" descr="preencoded.png">    </p:cNvPr>
          <p:cNvPicPr>
            <a:picLocks noChangeAspect="1"/>
          </p:cNvPicPr>
          <p:nvPr/>
        </p:nvPicPr>
        <p:blipFill>
          <a:blip r:embed="rId5"/>
          <a:stretch>
            <a:fillRect/>
          </a:stretch>
        </p:blipFill>
        <p:spPr>
          <a:xfrm>
            <a:off x="847192" y="5336896"/>
            <a:ext cx="271577" cy="271577"/>
          </a:xfrm>
          <a:prstGeom prst="rect">
            <a:avLst/>
          </a:prstGeom>
        </p:spPr>
      </p:pic>
      <p:sp>
        <p:nvSpPr>
          <p:cNvPr id="28" name="Text 21"/>
          <p:cNvSpPr txBox="1"/>
          <p:nvPr/>
        </p:nvSpPr>
        <p:spPr>
          <a:xfrm>
            <a:off x="1444752" y="5202936"/>
            <a:ext cx="2770632" cy="502920"/>
          </a:xfrm>
          <a:prstGeom prst="rect">
            <a:avLst/>
          </a:prstGeom>
          <a:noFill/>
          <a:ln/>
        </p:spPr>
        <p:txBody>
          <a:bodyPr wrap="square" lIns="0" tIns="0" rIns="0" bIns="0"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4. Testar firewall real</a:t>
            </a:r>
            <a:endParaRPr lang="en-US" sz="2100" dirty="0"/>
          </a:p>
        </p:txBody>
      </p:sp>
      <p:sp>
        <p:nvSpPr>
          <p:cNvPr id="29" name="Shape 22"/>
          <p:cNvSpPr/>
          <p:nvPr/>
        </p:nvSpPr>
        <p:spPr>
          <a:xfrm>
            <a:off x="4389120" y="5038344"/>
            <a:ext cx="7132320" cy="859536"/>
          </a:xfrm>
          <a:prstGeom prst="roundRect">
            <a:avLst>
              <a:gd name="adj" fmla="val 12766"/>
            </a:avLst>
          </a:prstGeom>
          <a:solidFill>
            <a:srgbClr val="060A19"/>
          </a:solidFill>
          <a:ln w="7620">
            <a:solidFill>
              <a:srgbClr val="283449"/>
            </a:solidFill>
            <a:prstDash val="solid"/>
          </a:ln>
        </p:spPr>
      </p:sp>
      <p:sp>
        <p:nvSpPr>
          <p:cNvPr id="30" name="Text 23"/>
          <p:cNvSpPr txBox="1"/>
          <p:nvPr/>
        </p:nvSpPr>
        <p:spPr>
          <a:xfrm>
            <a:off x="4608576" y="5202936"/>
            <a:ext cx="6693408" cy="512064"/>
          </a:xfrm>
          <a:prstGeom prst="rect">
            <a:avLst/>
          </a:prstGeom>
          <a:noFill/>
          <a:ln/>
        </p:spPr>
        <p:txBody>
          <a:bodyPr wrap="square" lIns="0" tIns="0" rIns="0" bIns="0" rtlCol="0" anchor="ctr"/>
          <a:lstStyle/>
          <a:p>
            <a:pPr indent="0" marL="0">
              <a:buNone/>
            </a:pPr>
            <a:r>
              <a:rPr lang="en-US" sz="1520" dirty="0">
                <a:solidFill>
                  <a:srgbClr val="F8FAFC"/>
                </a:solidFill>
                <a:latin typeface="Courier New" pitchFamily="34" charset="0"/>
                <a:ea typeface="Courier New" pitchFamily="34" charset="-122"/>
                <a:cs typeface="Courier New" pitchFamily="34" charset="-120"/>
              </a:rPr>
              <a:t>poetry run netsec lab-test</a:t>
            </a:r>
            <a:endParaRPr lang="en-US" sz="15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324"/>
        </a:solidFill>
      </p:bgPr>
    </p:bg>
    <p:spTree>
      <p:nvGrpSpPr>
        <p:cNvPr id="1" name=""/>
        <p:cNvGrpSpPr/>
        <p:nvPr/>
      </p:nvGrpSpPr>
      <p:grpSpPr>
        <a:xfrm>
          <a:off x="0" y="0"/>
          <a:ext cx="0" cy="0"/>
          <a:chOff x="0" y="0"/>
          <a:chExt cx="0" cy="0"/>
        </a:xfrm>
      </p:grpSpPr>
      <p:sp>
        <p:nvSpPr>
          <p:cNvPr id="2" name="Shape 0"/>
          <p:cNvSpPr/>
          <p:nvPr/>
        </p:nvSpPr>
        <p:spPr>
          <a:xfrm>
            <a:off x="-1024128" y="-1005840"/>
            <a:ext cx="3456432" cy="3364992"/>
          </a:xfrm>
          <a:prstGeom prst="ellipse">
            <a:avLst/>
          </a:prstGeom>
          <a:solidFill>
            <a:srgbClr val="122B3F"/>
          </a:solidFill>
          <a:ln w="12700">
            <a:solidFill>
              <a:srgbClr val="333333">
                <a:alpha val="0"/>
              </a:srgbClr>
            </a:solidFill>
            <a:prstDash val="solid"/>
          </a:ln>
        </p:spPr>
      </p:sp>
      <p:sp>
        <p:nvSpPr>
          <p:cNvPr id="3" name="Shape 1"/>
          <p:cNvSpPr/>
          <p:nvPr/>
        </p:nvSpPr>
        <p:spPr>
          <a:xfrm>
            <a:off x="8686800" y="4709160"/>
            <a:ext cx="4663440" cy="3310128"/>
          </a:xfrm>
          <a:prstGeom prst="ellipse">
            <a:avLst/>
          </a:prstGeom>
          <a:solidFill>
            <a:srgbClr val="1D1D40"/>
          </a:solidFill>
          <a:ln w="12700">
            <a:solidFill>
              <a:srgbClr val="333333">
                <a:alpha val="0"/>
              </a:srgbClr>
            </a:solidFill>
            <a:prstDash val="solid"/>
          </a:ln>
        </p:spPr>
      </p:sp>
      <p:sp>
        <p:nvSpPr>
          <p:cNvPr id="4" name="Text 2"/>
          <p:cNvSpPr txBox="1"/>
          <p:nvPr/>
        </p:nvSpPr>
        <p:spPr>
          <a:xfrm>
            <a:off x="594360" y="292608"/>
            <a:ext cx="10469880" cy="530352"/>
          </a:xfrm>
          <a:prstGeom prst="rect">
            <a:avLst/>
          </a:prstGeom>
          <a:noFill/>
          <a:ln/>
        </p:spPr>
        <p:txBody>
          <a:bodyPr wrap="square" lIns="0" tIns="0" rIns="0" bIns="0" rtlCol="0" anchor="ctr"/>
          <a:lstStyle/>
          <a:p>
            <a:pPr algn="ctr" indent="0" marL="0">
              <a:buNone/>
            </a:pPr>
            <a:r>
              <a:rPr lang="en-US" sz="2900" b="1" dirty="0">
                <a:solidFill>
                  <a:srgbClr val="F8FAFC"/>
                </a:solidFill>
                <a:latin typeface="Arial" pitchFamily="34" charset="0"/>
                <a:ea typeface="Arial" pitchFamily="34" charset="-122"/>
                <a:cs typeface="Arial" pitchFamily="34" charset="-120"/>
              </a:rPr>
              <a:t>Resultados da </a:t>
            </a:r>
            <a:pPr algn="ctr" indent="0" marL="0">
              <a:buNone/>
            </a:pPr>
            <a:r>
              <a:rPr lang="en-US" sz="2900" b="1" dirty="0">
                <a:solidFill>
                  <a:srgbClr val="10BCD8"/>
                </a:solidFill>
                <a:latin typeface="Arial" pitchFamily="34" charset="0"/>
                <a:ea typeface="Arial" pitchFamily="34" charset="-122"/>
                <a:cs typeface="Arial" pitchFamily="34" charset="-120"/>
              </a:rPr>
              <a:t>rede</a:t>
            </a:r>
            <a:endParaRPr lang="en-US" sz="2900" dirty="0"/>
          </a:p>
        </p:txBody>
      </p:sp>
      <p:sp>
        <p:nvSpPr>
          <p:cNvPr id="5" name="Shape 3"/>
          <p:cNvSpPr/>
          <p:nvPr/>
        </p:nvSpPr>
        <p:spPr>
          <a:xfrm>
            <a:off x="10991088" y="310896"/>
            <a:ext cx="621792" cy="621792"/>
          </a:xfrm>
          <a:prstGeom prst="ellipse">
            <a:avLst/>
          </a:prstGeom>
          <a:solidFill>
            <a:srgbClr val="7B6FF0"/>
          </a:solidFill>
          <a:ln w="12700">
            <a:solidFill>
              <a:srgbClr val="7B6FF0">
                <a:alpha val="0"/>
              </a:srgbClr>
            </a:solidFill>
            <a:prstDash val="solid"/>
          </a:ln>
        </p:spPr>
      </p:sp>
      <p:pic>
        <p:nvPicPr>
          <p:cNvPr id="6" name="Image 0" descr="preencoded.png">    </p:cNvPr>
          <p:cNvPicPr>
            <a:picLocks noChangeAspect="1"/>
          </p:cNvPicPr>
          <p:nvPr/>
        </p:nvPicPr>
        <p:blipFill>
          <a:blip r:embed="rId1"/>
          <a:stretch>
            <a:fillRect/>
          </a:stretch>
        </p:blipFill>
        <p:spPr>
          <a:xfrm>
            <a:off x="11134100" y="453908"/>
            <a:ext cx="335768" cy="335768"/>
          </a:xfrm>
          <a:prstGeom prst="rect">
            <a:avLst/>
          </a:prstGeom>
        </p:spPr>
      </p:pic>
      <p:sp>
        <p:nvSpPr>
          <p:cNvPr id="7" name="Text 4"/>
          <p:cNvSpPr txBox="1"/>
          <p:nvPr/>
        </p:nvSpPr>
        <p:spPr>
          <a:xfrm>
            <a:off x="685800" y="987552"/>
            <a:ext cx="10789920" cy="384048"/>
          </a:xfrm>
          <a:prstGeom prst="rect">
            <a:avLst/>
          </a:prstGeom>
          <a:noFill/>
          <a:ln/>
        </p:spPr>
        <p:txBody>
          <a:bodyPr wrap="square" lIns="0" tIns="0" rIns="0" bIns="0" rtlCol="0" anchor="ctr"/>
          <a:lstStyle/>
          <a:p>
            <a:pPr algn="ctr" indent="0" marL="0">
              <a:buNone/>
            </a:pPr>
            <a:r>
              <a:rPr lang="en-US" sz="1800" dirty="0">
                <a:solidFill>
                  <a:srgbClr val="CBD5E1"/>
                </a:solidFill>
                <a:latin typeface="Calibri" pitchFamily="34" charset="0"/>
                <a:ea typeface="Calibri" pitchFamily="34" charset="-122"/>
                <a:cs typeface="Calibri" pitchFamily="34" charset="-120"/>
              </a:rPr>
              <a:t>Validação real em dois alvos Linux, executada em 18/09/2026</a:t>
            </a:r>
            <a:endParaRPr lang="en-US" sz="1800" dirty="0"/>
          </a:p>
        </p:txBody>
      </p:sp>
      <p:sp>
        <p:nvSpPr>
          <p:cNvPr id="8" name="Text 5"/>
          <p:cNvSpPr txBox="1"/>
          <p:nvPr/>
        </p:nvSpPr>
        <p:spPr>
          <a:xfrm>
            <a:off x="502920" y="6556248"/>
            <a:ext cx="7772400" cy="164592"/>
          </a:xfrm>
          <a:prstGeom prst="rect">
            <a:avLst/>
          </a:prstGeom>
          <a:noFill/>
          <a:ln/>
        </p:spPr>
        <p:txBody>
          <a:bodyPr wrap="square" lIns="0" tIns="0" rIns="0" bIns="0" rtlCol="0" anchor="ctr"/>
          <a:lstStyle/>
          <a:p>
            <a:pPr indent="0" marL="0">
              <a:buNone/>
            </a:pPr>
            <a:r>
              <a:rPr lang="en-US" sz="850" dirty="0">
                <a:solidFill>
                  <a:srgbClr val="8796AD"/>
                </a:solidFill>
                <a:latin typeface="Calibri" pitchFamily="34" charset="0"/>
                <a:ea typeface="Calibri" pitchFamily="34" charset="-122"/>
                <a:cs typeface="Calibri" pitchFamily="34" charset="-120"/>
              </a:rPr>
              <a:t>NetSec  ·  Redes + Segurança + Automação</a:t>
            </a:r>
            <a:endParaRPr lang="en-US" sz="850" dirty="0"/>
          </a:p>
        </p:txBody>
      </p:sp>
      <p:sp>
        <p:nvSpPr>
          <p:cNvPr id="9" name="Text 6"/>
          <p:cNvSpPr txBox="1"/>
          <p:nvPr/>
        </p:nvSpPr>
        <p:spPr>
          <a:xfrm>
            <a:off x="11292840" y="6547104"/>
            <a:ext cx="320040" cy="182880"/>
          </a:xfrm>
          <a:prstGeom prst="rect">
            <a:avLst/>
          </a:prstGeom>
          <a:noFill/>
          <a:ln/>
        </p:spPr>
        <p:txBody>
          <a:bodyPr wrap="square" lIns="0" tIns="0" rIns="0" bIns="0" rtlCol="0" anchor="ctr"/>
          <a:lstStyle/>
          <a:p>
            <a:pPr algn="r" indent="0" marL="0">
              <a:buNone/>
            </a:pPr>
            <a:r>
              <a:rPr lang="en-US" sz="850" dirty="0">
                <a:solidFill>
                  <a:srgbClr val="8796AD"/>
                </a:solidFill>
                <a:latin typeface="Calibri" pitchFamily="34" charset="0"/>
                <a:ea typeface="Calibri" pitchFamily="34" charset="-122"/>
                <a:cs typeface="Calibri" pitchFamily="34" charset="-120"/>
              </a:rPr>
              <a:t>15</a:t>
            </a:r>
            <a:endParaRPr lang="en-US" sz="8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85800" y="1755648"/>
          <a:ext cx="10835640" cy="914400"/>
        </p:xfrm>
        <a:graphic>
          <a:graphicData uri="http://schemas.openxmlformats.org/drawingml/2006/table">
            <a:tbl>
              <a:tblPr/>
              <a:tblGrid>
                <a:gridCol w="2743200"/>
                <a:gridCol w="3657600"/>
                <a:gridCol w="4434840"/>
              </a:tblGrid>
              <a:tr h="630936">
                <a:tc>
                  <a:txBody>
                    <a:bodyPr/>
                    <a:lstStyle/>
                    <a:p>
                      <a:pPr indent="0" marL="0">
                        <a:buNone/>
                      </a:pPr>
                      <a:r>
                        <a:rPr lang="en-US" sz="1900" b="1" dirty="0">
                          <a:solidFill>
                            <a:srgbClr val="10BCD8"/>
                          </a:solidFill>
                          <a:latin typeface="Calibri" pitchFamily="34" charset="0"/>
                          <a:ea typeface="Calibri" pitchFamily="34" charset="-122"/>
                          <a:cs typeface="Calibri" pitchFamily="34" charset="-120"/>
                        </a:rPr>
                        <a:t>Observação</a:t>
                      </a:r>
                      <a:endParaRPr lang="en-US" sz="19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c>
                  <a:txBody>
                    <a:bodyPr/>
                    <a:lstStyle/>
                    <a:p>
                      <a:pPr indent="0" marL="0">
                        <a:buNone/>
                      </a:pPr>
                      <a:r>
                        <a:rPr lang="en-US" sz="1900" b="1" dirty="0">
                          <a:solidFill>
                            <a:srgbClr val="10BCD8"/>
                          </a:solidFill>
                          <a:latin typeface="Calibri" pitchFamily="34" charset="0"/>
                          <a:ea typeface="Calibri" pitchFamily="34" charset="-122"/>
                          <a:cs typeface="Calibri" pitchFamily="34" charset="-120"/>
                        </a:rPr>
                        <a:t>Antes</a:t>
                      </a:r>
                      <a:endParaRPr lang="en-US" sz="19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c>
                  <a:txBody>
                    <a:bodyPr/>
                    <a:lstStyle/>
                    <a:p>
                      <a:pPr indent="0" marL="0">
                        <a:buNone/>
                      </a:pPr>
                      <a:r>
                        <a:rPr lang="en-US" sz="1900" b="1" dirty="0">
                          <a:solidFill>
                            <a:srgbClr val="10BCD8"/>
                          </a:solidFill>
                          <a:latin typeface="Calibri" pitchFamily="34" charset="0"/>
                          <a:ea typeface="Calibri" pitchFamily="34" charset="-122"/>
                          <a:cs typeface="Calibri" pitchFamily="34" charset="-120"/>
                        </a:rPr>
                        <a:t>Após a política</a:t>
                      </a:r>
                      <a:endParaRPr lang="en-US" sz="19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r>
              <a:tr h="630936">
                <a:tc>
                  <a:txBody>
                    <a:bodyPr/>
                    <a:lstStyle/>
                    <a:p>
                      <a:pPr indent="0" marL="0">
                        <a:buNone/>
                      </a:pPr>
                      <a:r>
                        <a:rPr lang="en-US" sz="1900" dirty="0">
                          <a:solidFill>
                            <a:srgbClr val="F8FAFC"/>
                          </a:solidFill>
                          <a:latin typeface="Calibri" pitchFamily="34" charset="0"/>
                          <a:ea typeface="Calibri" pitchFamily="34" charset="-122"/>
                          <a:cs typeface="Calibri" pitchFamily="34" charset="-120"/>
                        </a:rPr>
                        <a:t>TCP/23</a:t>
                      </a:r>
                      <a:endParaRPr lang="en-US" sz="19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1E293B"/>
                    </a:solidFill>
                  </a:tcPr>
                </a:tc>
                <a:tc>
                  <a:txBody>
                    <a:bodyPr/>
                    <a:lstStyle/>
                    <a:p>
                      <a:pPr indent="0" marL="0">
                        <a:buNone/>
                      </a:pPr>
                      <a:r>
                        <a:rPr lang="en-US" sz="1900" dirty="0">
                          <a:solidFill>
                            <a:srgbClr val="F8FAFC"/>
                          </a:solidFill>
                          <a:latin typeface="Calibri" pitchFamily="34" charset="0"/>
                          <a:ea typeface="Calibri" pitchFamily="34" charset="-122"/>
                          <a:cs typeface="Calibri" pitchFamily="34" charset="-120"/>
                        </a:rPr>
                        <a:t>Conexão aceita</a:t>
                      </a:r>
                      <a:endParaRPr lang="en-US" sz="19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1E293B"/>
                    </a:solidFill>
                  </a:tcPr>
                </a:tc>
                <a:tc>
                  <a:txBody>
                    <a:bodyPr/>
                    <a:lstStyle/>
                    <a:p>
                      <a:pPr indent="0" marL="0">
                        <a:buNone/>
                      </a:pPr>
                      <a:r>
                        <a:rPr lang="en-US" sz="1900" dirty="0">
                          <a:solidFill>
                            <a:srgbClr val="F8FAFC"/>
                          </a:solidFill>
                          <a:latin typeface="Calibri" pitchFamily="34" charset="0"/>
                          <a:ea typeface="Calibri" pitchFamily="34" charset="-122"/>
                          <a:cs typeface="Calibri" pitchFamily="34" charset="-120"/>
                        </a:rPr>
                        <a:t>Timeout em ambos os hosts</a:t>
                      </a:r>
                      <a:endParaRPr lang="en-US" sz="19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1E293B"/>
                    </a:solidFill>
                  </a:tcPr>
                </a:tc>
              </a:tr>
              <a:tr h="630936">
                <a:tc>
                  <a:txBody>
                    <a:bodyPr/>
                    <a:lstStyle/>
                    <a:p>
                      <a:pPr indent="0" marL="0">
                        <a:buNone/>
                      </a:pPr>
                      <a:r>
                        <a:rPr lang="en-US" sz="1900" dirty="0">
                          <a:solidFill>
                            <a:srgbClr val="F8FAFC"/>
                          </a:solidFill>
                          <a:latin typeface="Calibri" pitchFamily="34" charset="0"/>
                          <a:ea typeface="Calibri" pitchFamily="34" charset="-122"/>
                          <a:cs typeface="Calibri" pitchFamily="34" charset="-120"/>
                        </a:rPr>
                        <a:t>SSH / TCP 22</a:t>
                      </a:r>
                      <a:endParaRPr lang="en-US" sz="19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c>
                  <a:txBody>
                    <a:bodyPr/>
                    <a:lstStyle/>
                    <a:p>
                      <a:pPr indent="0" marL="0">
                        <a:buNone/>
                      </a:pPr>
                      <a:r>
                        <a:rPr lang="en-US" sz="1900" dirty="0">
                          <a:solidFill>
                            <a:srgbClr val="F8FAFC"/>
                          </a:solidFill>
                          <a:latin typeface="Calibri" pitchFamily="34" charset="0"/>
                          <a:ea typeface="Calibri" pitchFamily="34" charset="-122"/>
                          <a:cs typeface="Calibri" pitchFamily="34" charset="-120"/>
                        </a:rPr>
                        <a:t>Identificação SSH recebida</a:t>
                      </a:r>
                      <a:endParaRPr lang="en-US" sz="19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c>
                  <a:txBody>
                    <a:bodyPr/>
                    <a:lstStyle/>
                    <a:p>
                      <a:pPr indent="0" marL="0">
                        <a:buNone/>
                      </a:pPr>
                      <a:r>
                        <a:rPr lang="en-US" sz="1900" dirty="0">
                          <a:solidFill>
                            <a:srgbClr val="F8FAFC"/>
                          </a:solidFill>
                          <a:latin typeface="Calibri" pitchFamily="34" charset="0"/>
                          <a:ea typeface="Calibri" pitchFamily="34" charset="-122"/>
                          <a:cs typeface="Calibri" pitchFamily="34" charset="-120"/>
                        </a:rPr>
                        <a:t>Continua acessível</a:t>
                      </a:r>
                      <a:endParaRPr lang="en-US" sz="19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r>
              <a:tr h="630936">
                <a:tc>
                  <a:txBody>
                    <a:bodyPr/>
                    <a:lstStyle/>
                    <a:p>
                      <a:pPr indent="0" marL="0">
                        <a:buNone/>
                      </a:pPr>
                      <a:r>
                        <a:rPr lang="en-US" sz="1900" dirty="0">
                          <a:solidFill>
                            <a:srgbClr val="F8FAFC"/>
                          </a:solidFill>
                          <a:latin typeface="Calibri" pitchFamily="34" charset="0"/>
                          <a:ea typeface="Calibri" pitchFamily="34" charset="-122"/>
                          <a:cs typeface="Calibri" pitchFamily="34" charset="-120"/>
                        </a:rPr>
                        <a:t>HTTP / TCP 80</a:t>
                      </a:r>
                      <a:endParaRPr lang="en-US" sz="19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1E293B"/>
                    </a:solidFill>
                  </a:tcPr>
                </a:tc>
                <a:tc>
                  <a:txBody>
                    <a:bodyPr/>
                    <a:lstStyle/>
                    <a:p>
                      <a:pPr indent="0" marL="0">
                        <a:buNone/>
                      </a:pPr>
                      <a:r>
                        <a:rPr lang="en-US" sz="1900" dirty="0">
                          <a:solidFill>
                            <a:srgbClr val="F8FAFC"/>
                          </a:solidFill>
                          <a:latin typeface="Calibri" pitchFamily="34" charset="0"/>
                          <a:ea typeface="Calibri" pitchFamily="34" charset="-122"/>
                          <a:cs typeface="Calibri" pitchFamily="34" charset="-120"/>
                        </a:rPr>
                        <a:t>Resposta HTTP válida</a:t>
                      </a:r>
                      <a:endParaRPr lang="en-US" sz="19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1E293B"/>
                    </a:solidFill>
                  </a:tcPr>
                </a:tc>
                <a:tc>
                  <a:txBody>
                    <a:bodyPr/>
                    <a:lstStyle/>
                    <a:p>
                      <a:pPr indent="0" marL="0">
                        <a:buNone/>
                      </a:pPr>
                      <a:r>
                        <a:rPr lang="en-US" sz="1900" dirty="0">
                          <a:solidFill>
                            <a:srgbClr val="F8FAFC"/>
                          </a:solidFill>
                          <a:latin typeface="Calibri" pitchFamily="34" charset="0"/>
                          <a:ea typeface="Calibri" pitchFamily="34" charset="-122"/>
                          <a:cs typeface="Calibri" pitchFamily="34" charset="-120"/>
                        </a:rPr>
                        <a:t>Continua acessível</a:t>
                      </a:r>
                      <a:endParaRPr lang="en-US" sz="19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1E293B"/>
                    </a:solidFill>
                  </a:tcPr>
                </a:tc>
              </a:tr>
              <a:tr h="630936">
                <a:tc>
                  <a:txBody>
                    <a:bodyPr/>
                    <a:lstStyle/>
                    <a:p>
                      <a:pPr indent="0" marL="0">
                        <a:buNone/>
                      </a:pPr>
                      <a:r>
                        <a:rPr lang="en-US" sz="1900" dirty="0">
                          <a:solidFill>
                            <a:srgbClr val="F8FAFC"/>
                          </a:solidFill>
                          <a:latin typeface="Calibri" pitchFamily="34" charset="0"/>
                          <a:ea typeface="Calibri" pitchFamily="34" charset="-122"/>
                          <a:cs typeface="Calibri" pitchFamily="34" charset="-120"/>
                        </a:rPr>
                        <a:t>Mesma regra novamente</a:t>
                      </a:r>
                      <a:endParaRPr lang="en-US" sz="19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c>
                  <a:txBody>
                    <a:bodyPr/>
                    <a:lstStyle/>
                    <a:p>
                      <a:pPr indent="0" marL="0">
                        <a:buNone/>
                      </a:pPr>
                      <a:r>
                        <a:rPr lang="en-US" sz="1900" dirty="0">
                          <a:solidFill>
                            <a:srgbClr val="F8FAFC"/>
                          </a:solidFill>
                          <a:latin typeface="Calibri" pitchFamily="34" charset="0"/>
                          <a:ea typeface="Calibri" pitchFamily="34" charset="-122"/>
                          <a:cs typeface="Calibri" pitchFamily="34" charset="-120"/>
                        </a:rPr>
                        <a:t>Primeira aplicação: applied</a:t>
                      </a:r>
                      <a:endParaRPr lang="en-US" sz="19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c>
                  <a:txBody>
                    <a:bodyPr/>
                    <a:lstStyle/>
                    <a:p>
                      <a:pPr indent="0" marL="0">
                        <a:buNone/>
                      </a:pPr>
                      <a:r>
                        <a:rPr lang="en-US" sz="1900" dirty="0">
                          <a:solidFill>
                            <a:srgbClr val="F8FAFC"/>
                          </a:solidFill>
                          <a:latin typeface="Calibri" pitchFamily="34" charset="0"/>
                          <a:ea typeface="Calibri" pitchFamily="34" charset="-122"/>
                          <a:cs typeface="Calibri" pitchFamily="34" charset="-120"/>
                        </a:rPr>
                        <a:t>Reaplicação: unchanged</a:t>
                      </a:r>
                      <a:endParaRPr lang="en-US" sz="19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r>
            </a:tbl>
          </a:graphicData>
        </a:graphic>
      </p:graphicFrame>
      <p:sp>
        <p:nvSpPr>
          <p:cNvPr id="11" name="Shape 7"/>
          <p:cNvSpPr/>
          <p:nvPr/>
        </p:nvSpPr>
        <p:spPr>
          <a:xfrm>
            <a:off x="932688" y="5166360"/>
            <a:ext cx="530352" cy="530352"/>
          </a:xfrm>
          <a:prstGeom prst="ellipse">
            <a:avLst/>
          </a:prstGeom>
          <a:solidFill>
            <a:srgbClr val="10BCD8"/>
          </a:solidFill>
          <a:ln w="12700">
            <a:solidFill>
              <a:srgbClr val="10BCD8">
                <a:alpha val="0"/>
              </a:srgbClr>
            </a:solidFill>
            <a:prstDash val="solid"/>
          </a:ln>
        </p:spPr>
      </p:sp>
      <p:pic>
        <p:nvPicPr>
          <p:cNvPr id="12" name="Image 1" descr="preencoded.png">    </p:cNvPr>
          <p:cNvPicPr>
            <a:picLocks noChangeAspect="1"/>
          </p:cNvPicPr>
          <p:nvPr/>
        </p:nvPicPr>
        <p:blipFill>
          <a:blip r:embed="rId2"/>
          <a:stretch>
            <a:fillRect/>
          </a:stretch>
        </p:blipFill>
        <p:spPr>
          <a:xfrm>
            <a:off x="1054669" y="5288341"/>
            <a:ext cx="286390" cy="286390"/>
          </a:xfrm>
          <a:prstGeom prst="rect">
            <a:avLst/>
          </a:prstGeom>
        </p:spPr>
      </p:pic>
      <p:sp>
        <p:nvSpPr>
          <p:cNvPr id="13" name="Text 8"/>
          <p:cNvSpPr txBox="1"/>
          <p:nvPr/>
        </p:nvSpPr>
        <p:spPr>
          <a:xfrm>
            <a:off x="1664208" y="5148072"/>
            <a:ext cx="4343400" cy="384048"/>
          </a:xfrm>
          <a:prstGeom prst="rect">
            <a:avLst/>
          </a:prstGeom>
          <a:noFill/>
          <a:ln/>
        </p:spPr>
        <p:txBody>
          <a:bodyPr wrap="square" lIns="0" tIns="0" rIns="0" bIns="0"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Bloqueio observado</a:t>
            </a:r>
            <a:endParaRPr lang="en-US" sz="2100" dirty="0"/>
          </a:p>
        </p:txBody>
      </p:sp>
      <p:sp>
        <p:nvSpPr>
          <p:cNvPr id="14" name="Text 9"/>
          <p:cNvSpPr txBox="1"/>
          <p:nvPr/>
        </p:nvSpPr>
        <p:spPr>
          <a:xfrm>
            <a:off x="1664208" y="5596128"/>
            <a:ext cx="4343400" cy="758952"/>
          </a:xfrm>
          <a:prstGeom prst="rect">
            <a:avLst/>
          </a:prstGeom>
          <a:noFill/>
          <a:ln/>
        </p:spPr>
        <p:txBody>
          <a:bodyPr wrap="square" lIns="0" tIns="0" rIns="0" bIns="0" rtlCol="0" anchor="t"/>
          <a:lstStyle/>
          <a:p>
            <a:pPr indent="0" marL="0">
              <a:buNone/>
            </a:pPr>
            <a:r>
              <a:rPr lang="en-US" sz="1800" dirty="0">
                <a:solidFill>
                  <a:srgbClr val="CBD5E1"/>
                </a:solidFill>
                <a:latin typeface="Calibri" pitchFamily="34" charset="0"/>
                <a:ea typeface="Calibri" pitchFamily="34" charset="-122"/>
                <a:cs typeface="Calibri" pitchFamily="34" charset="-120"/>
              </a:rPr>
              <a:t>A regra deny impede novas conexões à porta 23.</a:t>
            </a:r>
            <a:endParaRPr lang="en-US" sz="1800" dirty="0"/>
          </a:p>
        </p:txBody>
      </p:sp>
      <p:sp>
        <p:nvSpPr>
          <p:cNvPr id="15" name="Shape 10"/>
          <p:cNvSpPr/>
          <p:nvPr/>
        </p:nvSpPr>
        <p:spPr>
          <a:xfrm>
            <a:off x="6345936" y="5166360"/>
            <a:ext cx="530352" cy="530352"/>
          </a:xfrm>
          <a:prstGeom prst="ellipse">
            <a:avLst/>
          </a:prstGeom>
          <a:solidFill>
            <a:srgbClr val="7B6FF0"/>
          </a:solidFill>
          <a:ln w="12700">
            <a:solidFill>
              <a:srgbClr val="7B6FF0">
                <a:alpha val="0"/>
              </a:srgbClr>
            </a:solidFill>
            <a:prstDash val="solid"/>
          </a:ln>
        </p:spPr>
      </p:sp>
      <p:pic>
        <p:nvPicPr>
          <p:cNvPr id="16" name="Image 2" descr="preencoded.png">    </p:cNvPr>
          <p:cNvPicPr>
            <a:picLocks noChangeAspect="1"/>
          </p:cNvPicPr>
          <p:nvPr/>
        </p:nvPicPr>
        <p:blipFill>
          <a:blip r:embed="rId3"/>
          <a:stretch>
            <a:fillRect/>
          </a:stretch>
        </p:blipFill>
        <p:spPr>
          <a:xfrm>
            <a:off x="6467917" y="5288341"/>
            <a:ext cx="286390" cy="286390"/>
          </a:xfrm>
          <a:prstGeom prst="rect">
            <a:avLst/>
          </a:prstGeom>
        </p:spPr>
      </p:pic>
      <p:sp>
        <p:nvSpPr>
          <p:cNvPr id="17" name="Text 11"/>
          <p:cNvSpPr txBox="1"/>
          <p:nvPr/>
        </p:nvSpPr>
        <p:spPr>
          <a:xfrm>
            <a:off x="7077456" y="5148072"/>
            <a:ext cx="4069080" cy="384048"/>
          </a:xfrm>
          <a:prstGeom prst="rect">
            <a:avLst/>
          </a:prstGeom>
          <a:noFill/>
          <a:ln/>
        </p:spPr>
        <p:txBody>
          <a:bodyPr wrap="square" lIns="0" tIns="0" rIns="0" bIns="0"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Idempotência</a:t>
            </a:r>
            <a:endParaRPr lang="en-US" sz="2100" dirty="0"/>
          </a:p>
        </p:txBody>
      </p:sp>
      <p:sp>
        <p:nvSpPr>
          <p:cNvPr id="18" name="Text 12"/>
          <p:cNvSpPr txBox="1"/>
          <p:nvPr/>
        </p:nvSpPr>
        <p:spPr>
          <a:xfrm>
            <a:off x="7077456" y="5596128"/>
            <a:ext cx="4069080" cy="758952"/>
          </a:xfrm>
          <a:prstGeom prst="rect">
            <a:avLst/>
          </a:prstGeom>
          <a:noFill/>
          <a:ln/>
        </p:spPr>
        <p:txBody>
          <a:bodyPr wrap="square" lIns="0" tIns="0" rIns="0" bIns="0" rtlCol="0" anchor="t"/>
          <a:lstStyle/>
          <a:p>
            <a:pPr indent="0" marL="0">
              <a:buNone/>
            </a:pPr>
            <a:r>
              <a:rPr lang="en-US" sz="1800" dirty="0">
                <a:solidFill>
                  <a:srgbClr val="CBD5E1"/>
                </a:solidFill>
                <a:latin typeface="Calibri" pitchFamily="34" charset="0"/>
                <a:ea typeface="Calibri" pitchFamily="34" charset="-122"/>
                <a:cs typeface="Calibri" pitchFamily="34" charset="-120"/>
              </a:rPr>
              <a:t>Reaplicar a mesma política não duplica a regra.</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324"/>
        </a:solidFill>
      </p:bgPr>
    </p:bg>
    <p:spTree>
      <p:nvGrpSpPr>
        <p:cNvPr id="1" name=""/>
        <p:cNvGrpSpPr/>
        <p:nvPr/>
      </p:nvGrpSpPr>
      <p:grpSpPr>
        <a:xfrm>
          <a:off x="0" y="0"/>
          <a:ext cx="0" cy="0"/>
          <a:chOff x="0" y="0"/>
          <a:chExt cx="0" cy="0"/>
        </a:xfrm>
      </p:grpSpPr>
      <p:sp>
        <p:nvSpPr>
          <p:cNvPr id="2" name="Shape 0"/>
          <p:cNvSpPr/>
          <p:nvPr/>
        </p:nvSpPr>
        <p:spPr>
          <a:xfrm>
            <a:off x="-1024128" y="-1005840"/>
            <a:ext cx="3456432" cy="3364992"/>
          </a:xfrm>
          <a:prstGeom prst="ellipse">
            <a:avLst/>
          </a:prstGeom>
          <a:solidFill>
            <a:srgbClr val="122B3F"/>
          </a:solidFill>
          <a:ln w="12700">
            <a:solidFill>
              <a:srgbClr val="333333">
                <a:alpha val="0"/>
              </a:srgbClr>
            </a:solidFill>
            <a:prstDash val="solid"/>
          </a:ln>
        </p:spPr>
      </p:sp>
      <p:sp>
        <p:nvSpPr>
          <p:cNvPr id="3" name="Shape 1"/>
          <p:cNvSpPr/>
          <p:nvPr/>
        </p:nvSpPr>
        <p:spPr>
          <a:xfrm>
            <a:off x="8686800" y="4709160"/>
            <a:ext cx="4663440" cy="3310128"/>
          </a:xfrm>
          <a:prstGeom prst="ellipse">
            <a:avLst/>
          </a:prstGeom>
          <a:solidFill>
            <a:srgbClr val="1D1D40"/>
          </a:solidFill>
          <a:ln w="12700">
            <a:solidFill>
              <a:srgbClr val="333333">
                <a:alpha val="0"/>
              </a:srgbClr>
            </a:solidFill>
            <a:prstDash val="solid"/>
          </a:ln>
        </p:spPr>
      </p:sp>
      <p:sp>
        <p:nvSpPr>
          <p:cNvPr id="4" name="Text 2"/>
          <p:cNvSpPr txBox="1"/>
          <p:nvPr/>
        </p:nvSpPr>
        <p:spPr>
          <a:xfrm>
            <a:off x="594360" y="292608"/>
            <a:ext cx="10469880" cy="530352"/>
          </a:xfrm>
          <a:prstGeom prst="rect">
            <a:avLst/>
          </a:prstGeom>
          <a:noFill/>
          <a:ln/>
        </p:spPr>
        <p:txBody>
          <a:bodyPr wrap="square" lIns="0" tIns="0" rIns="0" bIns="0" rtlCol="0" anchor="ctr"/>
          <a:lstStyle/>
          <a:p>
            <a:pPr algn="ctr" indent="0" marL="0">
              <a:buNone/>
            </a:pPr>
            <a:r>
              <a:rPr lang="en-US" sz="2900" b="1" dirty="0">
                <a:solidFill>
                  <a:srgbClr val="F8FAFC"/>
                </a:solidFill>
                <a:latin typeface="Arial" pitchFamily="34" charset="0"/>
                <a:ea typeface="Arial" pitchFamily="34" charset="-122"/>
                <a:cs typeface="Arial" pitchFamily="34" charset="-120"/>
              </a:rPr>
              <a:t>Avaliação </a:t>
            </a:r>
            <a:pPr algn="ctr" indent="0" marL="0">
              <a:buNone/>
            </a:pPr>
            <a:r>
              <a:rPr lang="en-US" sz="2900" b="1" dirty="0">
                <a:solidFill>
                  <a:srgbClr val="10BCD8"/>
                </a:solidFill>
                <a:latin typeface="Arial" pitchFamily="34" charset="0"/>
                <a:ea typeface="Arial" pitchFamily="34" charset="-122"/>
                <a:cs typeface="Arial" pitchFamily="34" charset="-120"/>
              </a:rPr>
              <a:t>semântica</a:t>
            </a:r>
            <a:endParaRPr lang="en-US" sz="2900" dirty="0"/>
          </a:p>
        </p:txBody>
      </p:sp>
      <p:sp>
        <p:nvSpPr>
          <p:cNvPr id="5" name="Shape 3"/>
          <p:cNvSpPr/>
          <p:nvPr/>
        </p:nvSpPr>
        <p:spPr>
          <a:xfrm>
            <a:off x="10991088" y="310896"/>
            <a:ext cx="621792" cy="621792"/>
          </a:xfrm>
          <a:prstGeom prst="ellipse">
            <a:avLst/>
          </a:prstGeom>
          <a:solidFill>
            <a:srgbClr val="7B6FF0"/>
          </a:solidFill>
          <a:ln w="12700">
            <a:solidFill>
              <a:srgbClr val="7B6FF0">
                <a:alpha val="0"/>
              </a:srgbClr>
            </a:solidFill>
            <a:prstDash val="solid"/>
          </a:ln>
        </p:spPr>
      </p:sp>
      <p:pic>
        <p:nvPicPr>
          <p:cNvPr id="6" name="Image 0" descr="preencoded.png">    </p:cNvPr>
          <p:cNvPicPr>
            <a:picLocks noChangeAspect="1"/>
          </p:cNvPicPr>
          <p:nvPr/>
        </p:nvPicPr>
        <p:blipFill>
          <a:blip r:embed="rId1"/>
          <a:stretch>
            <a:fillRect/>
          </a:stretch>
        </p:blipFill>
        <p:spPr>
          <a:xfrm>
            <a:off x="11134100" y="453908"/>
            <a:ext cx="335768" cy="335768"/>
          </a:xfrm>
          <a:prstGeom prst="rect">
            <a:avLst/>
          </a:prstGeom>
        </p:spPr>
      </p:pic>
      <p:sp>
        <p:nvSpPr>
          <p:cNvPr id="7" name="Text 4"/>
          <p:cNvSpPr txBox="1"/>
          <p:nvPr/>
        </p:nvSpPr>
        <p:spPr>
          <a:xfrm>
            <a:off x="685800" y="987552"/>
            <a:ext cx="10789920" cy="384048"/>
          </a:xfrm>
          <a:prstGeom prst="rect">
            <a:avLst/>
          </a:prstGeom>
          <a:noFill/>
          <a:ln/>
        </p:spPr>
        <p:txBody>
          <a:bodyPr wrap="square" lIns="0" tIns="0" rIns="0" bIns="0" rtlCol="0" anchor="ctr"/>
          <a:lstStyle/>
          <a:p>
            <a:pPr algn="ctr" indent="0" marL="0">
              <a:buNone/>
            </a:pPr>
            <a:r>
              <a:rPr lang="en-US" sz="1800" dirty="0">
                <a:solidFill>
                  <a:srgbClr val="CBD5E1"/>
                </a:solidFill>
                <a:latin typeface="Calibri" pitchFamily="34" charset="0"/>
                <a:ea typeface="Calibri" pitchFamily="34" charset="-122"/>
                <a:cs typeface="Calibri" pitchFamily="34" charset="-120"/>
              </a:rPr>
              <a:t>Eixo B: 25 erros deliberados e 10 controles válidos</a:t>
            </a:r>
            <a:endParaRPr lang="en-US" sz="1800" dirty="0"/>
          </a:p>
        </p:txBody>
      </p:sp>
      <p:sp>
        <p:nvSpPr>
          <p:cNvPr id="8" name="Text 5"/>
          <p:cNvSpPr txBox="1"/>
          <p:nvPr/>
        </p:nvSpPr>
        <p:spPr>
          <a:xfrm>
            <a:off x="502920" y="6556248"/>
            <a:ext cx="7772400" cy="164592"/>
          </a:xfrm>
          <a:prstGeom prst="rect">
            <a:avLst/>
          </a:prstGeom>
          <a:noFill/>
          <a:ln/>
        </p:spPr>
        <p:txBody>
          <a:bodyPr wrap="square" lIns="0" tIns="0" rIns="0" bIns="0" rtlCol="0" anchor="ctr"/>
          <a:lstStyle/>
          <a:p>
            <a:pPr indent="0" marL="0">
              <a:buNone/>
            </a:pPr>
            <a:r>
              <a:rPr lang="en-US" sz="850" dirty="0">
                <a:solidFill>
                  <a:srgbClr val="8796AD"/>
                </a:solidFill>
                <a:latin typeface="Calibri" pitchFamily="34" charset="0"/>
                <a:ea typeface="Calibri" pitchFamily="34" charset="-122"/>
                <a:cs typeface="Calibri" pitchFamily="34" charset="-120"/>
              </a:rPr>
              <a:t>NetSec  ·  Redes + Segurança + Automação</a:t>
            </a:r>
            <a:endParaRPr lang="en-US" sz="850" dirty="0"/>
          </a:p>
        </p:txBody>
      </p:sp>
      <p:sp>
        <p:nvSpPr>
          <p:cNvPr id="9" name="Text 6"/>
          <p:cNvSpPr txBox="1"/>
          <p:nvPr/>
        </p:nvSpPr>
        <p:spPr>
          <a:xfrm>
            <a:off x="11292840" y="6547104"/>
            <a:ext cx="320040" cy="182880"/>
          </a:xfrm>
          <a:prstGeom prst="rect">
            <a:avLst/>
          </a:prstGeom>
          <a:noFill/>
          <a:ln/>
        </p:spPr>
        <p:txBody>
          <a:bodyPr wrap="square" lIns="0" tIns="0" rIns="0" bIns="0" rtlCol="0" anchor="ctr"/>
          <a:lstStyle/>
          <a:p>
            <a:pPr algn="r" indent="0" marL="0">
              <a:buNone/>
            </a:pPr>
            <a:r>
              <a:rPr lang="en-US" sz="850" dirty="0">
                <a:solidFill>
                  <a:srgbClr val="8796AD"/>
                </a:solidFill>
                <a:latin typeface="Calibri" pitchFamily="34" charset="0"/>
                <a:ea typeface="Calibri" pitchFamily="34" charset="-122"/>
                <a:cs typeface="Calibri" pitchFamily="34" charset="-120"/>
              </a:rPr>
              <a:t>16</a:t>
            </a:r>
            <a:endParaRPr lang="en-US" sz="850" dirty="0"/>
          </a:p>
        </p:txBody>
      </p:sp>
      <p:graphicFrame>
        <p:nvGraphicFramePr>
          <p:cNvPr id="10" name="Chart 0" descr=""/>
          <p:cNvGraphicFramePr/>
          <p:nvPr/>
        </p:nvGraphicFramePr>
        <p:xfrm>
          <a:off x="822960" y="1719072"/>
          <a:ext cx="7022592" cy="3931920"/>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8229600" y="1965960"/>
            <a:ext cx="2880360" cy="3310128"/>
          </a:xfrm>
          <a:prstGeom prst="roundRect">
            <a:avLst>
              <a:gd name="adj" fmla="val 3810"/>
            </a:avLst>
          </a:prstGeom>
          <a:solidFill>
            <a:srgbClr val="0F1C30"/>
          </a:solidFill>
          <a:ln w="7620">
            <a:solidFill>
              <a:srgbClr val="283449"/>
            </a:solidFill>
            <a:prstDash val="solid"/>
          </a:ln>
        </p:spPr>
      </p:sp>
      <p:sp>
        <p:nvSpPr>
          <p:cNvPr id="12" name="Text 8"/>
          <p:cNvSpPr txBox="1"/>
          <p:nvPr/>
        </p:nvSpPr>
        <p:spPr>
          <a:xfrm>
            <a:off x="8503920" y="2240280"/>
            <a:ext cx="2331720" cy="868680"/>
          </a:xfrm>
          <a:prstGeom prst="rect">
            <a:avLst/>
          </a:prstGeom>
          <a:noFill/>
          <a:ln/>
        </p:spPr>
        <p:txBody>
          <a:bodyPr wrap="square" lIns="0" tIns="0" rIns="0" bIns="0" rtlCol="0" anchor="ctr"/>
          <a:lstStyle/>
          <a:p>
            <a:pPr algn="ctr" indent="0" marL="0">
              <a:buNone/>
            </a:pPr>
            <a:r>
              <a:rPr lang="en-US" sz="6000" b="1" dirty="0">
                <a:solidFill>
                  <a:srgbClr val="4ADE80"/>
                </a:solidFill>
                <a:latin typeface="Calibri" pitchFamily="34" charset="0"/>
                <a:ea typeface="Calibri" pitchFamily="34" charset="-122"/>
                <a:cs typeface="Calibri" pitchFamily="34" charset="-120"/>
              </a:rPr>
              <a:t>0</a:t>
            </a:r>
            <a:endParaRPr lang="en-US" sz="6000" dirty="0"/>
          </a:p>
        </p:txBody>
      </p:sp>
      <p:sp>
        <p:nvSpPr>
          <p:cNvPr id="13" name="Text 9"/>
          <p:cNvSpPr txBox="1"/>
          <p:nvPr/>
        </p:nvSpPr>
        <p:spPr>
          <a:xfrm>
            <a:off x="8549640" y="3246120"/>
            <a:ext cx="2240280" cy="914400"/>
          </a:xfrm>
          <a:prstGeom prst="rect">
            <a:avLst/>
          </a:prstGeom>
          <a:noFill/>
          <a:ln/>
        </p:spPr>
        <p:txBody>
          <a:bodyPr wrap="square" lIns="0" tIns="0" rIns="0" bIns="0" rtlCol="0" anchor="ctr"/>
          <a:lstStyle/>
          <a:p>
            <a:pPr algn="ctr" indent="0" marL="0">
              <a:buNone/>
            </a:pPr>
            <a:r>
              <a:rPr lang="en-US" sz="2100" dirty="0">
                <a:solidFill>
                  <a:srgbClr val="F8FAFC"/>
                </a:solidFill>
                <a:latin typeface="Calibri" pitchFamily="34" charset="0"/>
                <a:ea typeface="Calibri" pitchFamily="34" charset="-122"/>
                <a:cs typeface="Calibri" pitchFamily="34" charset="-120"/>
              </a:rPr>
              <a:t>falsos positivos</a:t>
            </a:r>
            <a:endParaRPr lang="en-US" sz="2100" dirty="0"/>
          </a:p>
          <a:p>
            <a:pPr algn="ctr" indent="0" marL="0">
              <a:buNone/>
            </a:pPr>
            <a:r>
              <a:rPr lang="en-US" sz="2100" dirty="0">
                <a:solidFill>
                  <a:srgbClr val="F8FAFC"/>
                </a:solidFill>
                <a:latin typeface="Calibri" pitchFamily="34" charset="0"/>
                <a:ea typeface="Calibri" pitchFamily="34" charset="-122"/>
                <a:cs typeface="Calibri" pitchFamily="34" charset="-120"/>
              </a:rPr>
              <a:t>e erros que escaparam</a:t>
            </a:r>
            <a:endParaRPr lang="en-US" sz="2100" dirty="0"/>
          </a:p>
        </p:txBody>
      </p:sp>
      <p:sp>
        <p:nvSpPr>
          <p:cNvPr id="14" name="Text 10"/>
          <p:cNvSpPr txBox="1"/>
          <p:nvPr/>
        </p:nvSpPr>
        <p:spPr>
          <a:xfrm>
            <a:off x="8549640" y="4517136"/>
            <a:ext cx="2240280" cy="411480"/>
          </a:xfrm>
          <a:prstGeom prst="rect">
            <a:avLst/>
          </a:prstGeom>
          <a:noFill/>
          <a:ln/>
        </p:spPr>
        <p:txBody>
          <a:bodyPr wrap="square" lIns="0" tIns="0" rIns="0" bIns="0" rtlCol="0" anchor="ctr"/>
          <a:lstStyle/>
          <a:p>
            <a:pPr algn="ctr" indent="0" marL="0">
              <a:buNone/>
            </a:pPr>
            <a:r>
              <a:rPr lang="en-US" sz="1600" dirty="0">
                <a:solidFill>
                  <a:srgbClr val="8796AD"/>
                </a:solidFill>
                <a:latin typeface="Calibri" pitchFamily="34" charset="0"/>
                <a:ea typeface="Calibri" pitchFamily="34" charset="-122"/>
                <a:cs typeface="Calibri" pitchFamily="34" charset="-120"/>
              </a:rPr>
              <a:t>Neste corpus preparado</a:t>
            </a:r>
            <a:endParaRPr lang="en-US" sz="1600" dirty="0"/>
          </a:p>
        </p:txBody>
      </p:sp>
      <p:sp>
        <p:nvSpPr>
          <p:cNvPr id="15" name="Text 11"/>
          <p:cNvSpPr txBox="1"/>
          <p:nvPr/>
        </p:nvSpPr>
        <p:spPr>
          <a:xfrm>
            <a:off x="868680" y="5925312"/>
            <a:ext cx="10698480" cy="457200"/>
          </a:xfrm>
          <a:prstGeom prst="rect">
            <a:avLst/>
          </a:prstGeom>
          <a:noFill/>
          <a:ln/>
        </p:spPr>
        <p:txBody>
          <a:bodyPr wrap="square" lIns="0" tIns="0" rIns="0" bIns="0" rtlCol="0" anchor="ctr"/>
          <a:lstStyle/>
          <a:p>
            <a:pPr algn="ctr" indent="0" marL="0">
              <a:buNone/>
            </a:pPr>
            <a:r>
              <a:rPr lang="en-US" sz="1850" dirty="0">
                <a:solidFill>
                  <a:srgbClr val="CBD5E1"/>
                </a:solidFill>
                <a:latin typeface="Calibri" pitchFamily="34" charset="0"/>
                <a:ea typeface="Calibri" pitchFamily="34" charset="-122"/>
                <a:cs typeface="Calibri" pitchFamily="34" charset="-120"/>
              </a:rPr>
              <a:t>Os casos inválidos passam pelo parser. Acertar este conjunto não prova completude.</a:t>
            </a:r>
            <a:endParaRPr lang="en-US" sz="1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324"/>
        </a:solidFill>
      </p:bgPr>
    </p:bg>
    <p:spTree>
      <p:nvGrpSpPr>
        <p:cNvPr id="1" name=""/>
        <p:cNvGrpSpPr/>
        <p:nvPr/>
      </p:nvGrpSpPr>
      <p:grpSpPr>
        <a:xfrm>
          <a:off x="0" y="0"/>
          <a:ext cx="0" cy="0"/>
          <a:chOff x="0" y="0"/>
          <a:chExt cx="0" cy="0"/>
        </a:xfrm>
      </p:grpSpPr>
      <p:sp>
        <p:nvSpPr>
          <p:cNvPr id="2" name="Shape 0"/>
          <p:cNvSpPr/>
          <p:nvPr/>
        </p:nvSpPr>
        <p:spPr>
          <a:xfrm>
            <a:off x="-1024128" y="-1005840"/>
            <a:ext cx="3456432" cy="3364992"/>
          </a:xfrm>
          <a:prstGeom prst="ellipse">
            <a:avLst/>
          </a:prstGeom>
          <a:solidFill>
            <a:srgbClr val="122B3F"/>
          </a:solidFill>
          <a:ln w="12700">
            <a:solidFill>
              <a:srgbClr val="333333">
                <a:alpha val="0"/>
              </a:srgbClr>
            </a:solidFill>
            <a:prstDash val="solid"/>
          </a:ln>
        </p:spPr>
      </p:sp>
      <p:sp>
        <p:nvSpPr>
          <p:cNvPr id="3" name="Shape 1"/>
          <p:cNvSpPr/>
          <p:nvPr/>
        </p:nvSpPr>
        <p:spPr>
          <a:xfrm>
            <a:off x="8686800" y="4709160"/>
            <a:ext cx="4663440" cy="3310128"/>
          </a:xfrm>
          <a:prstGeom prst="ellipse">
            <a:avLst/>
          </a:prstGeom>
          <a:solidFill>
            <a:srgbClr val="1D1D40"/>
          </a:solidFill>
          <a:ln w="12700">
            <a:solidFill>
              <a:srgbClr val="333333">
                <a:alpha val="0"/>
              </a:srgbClr>
            </a:solidFill>
            <a:prstDash val="solid"/>
          </a:ln>
        </p:spPr>
      </p:sp>
      <p:sp>
        <p:nvSpPr>
          <p:cNvPr id="4" name="Text 2"/>
          <p:cNvSpPr txBox="1"/>
          <p:nvPr/>
        </p:nvSpPr>
        <p:spPr>
          <a:xfrm>
            <a:off x="594360" y="292608"/>
            <a:ext cx="10469880" cy="530352"/>
          </a:xfrm>
          <a:prstGeom prst="rect">
            <a:avLst/>
          </a:prstGeom>
          <a:noFill/>
          <a:ln/>
        </p:spPr>
        <p:txBody>
          <a:bodyPr wrap="square" lIns="0" tIns="0" rIns="0" bIns="0" rtlCol="0" anchor="ctr"/>
          <a:lstStyle/>
          <a:p>
            <a:pPr algn="ctr" indent="0" marL="0">
              <a:buNone/>
            </a:pPr>
            <a:r>
              <a:rPr lang="en-US" sz="2900" b="1" dirty="0">
                <a:solidFill>
                  <a:srgbClr val="F8FAFC"/>
                </a:solidFill>
                <a:latin typeface="Arial" pitchFamily="34" charset="0"/>
                <a:ea typeface="Arial" pitchFamily="34" charset="-122"/>
                <a:cs typeface="Arial" pitchFamily="34" charset="-120"/>
              </a:rPr>
              <a:t>Qualidade e </a:t>
            </a:r>
            <a:pPr algn="ctr" indent="0" marL="0">
              <a:buNone/>
            </a:pPr>
            <a:r>
              <a:rPr lang="en-US" sz="2900" b="1" dirty="0">
                <a:solidFill>
                  <a:srgbClr val="10BCD8"/>
                </a:solidFill>
                <a:latin typeface="Arial" pitchFamily="34" charset="0"/>
                <a:ea typeface="Arial" pitchFamily="34" charset="-122"/>
                <a:cs typeface="Arial" pitchFamily="34" charset="-120"/>
              </a:rPr>
              <a:t>tecnologias</a:t>
            </a:r>
            <a:endParaRPr lang="en-US" sz="2900" dirty="0"/>
          </a:p>
        </p:txBody>
      </p:sp>
      <p:sp>
        <p:nvSpPr>
          <p:cNvPr id="5" name="Shape 3"/>
          <p:cNvSpPr/>
          <p:nvPr/>
        </p:nvSpPr>
        <p:spPr>
          <a:xfrm>
            <a:off x="10991088" y="310896"/>
            <a:ext cx="621792" cy="621792"/>
          </a:xfrm>
          <a:prstGeom prst="ellipse">
            <a:avLst/>
          </a:prstGeom>
          <a:solidFill>
            <a:srgbClr val="7B6FF0"/>
          </a:solidFill>
          <a:ln w="12700">
            <a:solidFill>
              <a:srgbClr val="7B6FF0">
                <a:alpha val="0"/>
              </a:srgbClr>
            </a:solidFill>
            <a:prstDash val="solid"/>
          </a:ln>
        </p:spPr>
      </p:sp>
      <p:pic>
        <p:nvPicPr>
          <p:cNvPr id="6" name="Image 0" descr="preencoded.png">    </p:cNvPr>
          <p:cNvPicPr>
            <a:picLocks noChangeAspect="1"/>
          </p:cNvPicPr>
          <p:nvPr/>
        </p:nvPicPr>
        <p:blipFill>
          <a:blip r:embed="rId1"/>
          <a:stretch>
            <a:fillRect/>
          </a:stretch>
        </p:blipFill>
        <p:spPr>
          <a:xfrm>
            <a:off x="11134100" y="453908"/>
            <a:ext cx="335768" cy="335768"/>
          </a:xfrm>
          <a:prstGeom prst="rect">
            <a:avLst/>
          </a:prstGeom>
        </p:spPr>
      </p:pic>
      <p:sp>
        <p:nvSpPr>
          <p:cNvPr id="7" name="Text 4"/>
          <p:cNvSpPr txBox="1"/>
          <p:nvPr/>
        </p:nvSpPr>
        <p:spPr>
          <a:xfrm>
            <a:off x="685800" y="987552"/>
            <a:ext cx="10789920" cy="384048"/>
          </a:xfrm>
          <a:prstGeom prst="rect">
            <a:avLst/>
          </a:prstGeom>
          <a:noFill/>
          <a:ln/>
        </p:spPr>
        <p:txBody>
          <a:bodyPr wrap="square" lIns="0" tIns="0" rIns="0" bIns="0" rtlCol="0" anchor="ctr"/>
          <a:lstStyle/>
          <a:p>
            <a:pPr algn="ctr" indent="0" marL="0">
              <a:buNone/>
            </a:pPr>
            <a:r>
              <a:rPr lang="en-US" sz="1800" dirty="0">
                <a:solidFill>
                  <a:srgbClr val="CBD5E1"/>
                </a:solidFill>
                <a:latin typeface="Calibri" pitchFamily="34" charset="0"/>
                <a:ea typeface="Calibri" pitchFamily="34" charset="-122"/>
                <a:cs typeface="Calibri" pitchFamily="34" charset="-120"/>
              </a:rPr>
              <a:t>Resultados do portão de validação do marco acadêmico</a:t>
            </a:r>
            <a:endParaRPr lang="en-US" sz="1800" dirty="0"/>
          </a:p>
        </p:txBody>
      </p:sp>
      <p:sp>
        <p:nvSpPr>
          <p:cNvPr id="8" name="Text 5"/>
          <p:cNvSpPr txBox="1"/>
          <p:nvPr/>
        </p:nvSpPr>
        <p:spPr>
          <a:xfrm>
            <a:off x="502920" y="6556248"/>
            <a:ext cx="7772400" cy="164592"/>
          </a:xfrm>
          <a:prstGeom prst="rect">
            <a:avLst/>
          </a:prstGeom>
          <a:noFill/>
          <a:ln/>
        </p:spPr>
        <p:txBody>
          <a:bodyPr wrap="square" lIns="0" tIns="0" rIns="0" bIns="0" rtlCol="0" anchor="ctr"/>
          <a:lstStyle/>
          <a:p>
            <a:pPr indent="0" marL="0">
              <a:buNone/>
            </a:pPr>
            <a:r>
              <a:rPr lang="en-US" sz="850" dirty="0">
                <a:solidFill>
                  <a:srgbClr val="8796AD"/>
                </a:solidFill>
                <a:latin typeface="Calibri" pitchFamily="34" charset="0"/>
                <a:ea typeface="Calibri" pitchFamily="34" charset="-122"/>
                <a:cs typeface="Calibri" pitchFamily="34" charset="-120"/>
              </a:rPr>
              <a:t>NetSec  ·  Redes + Segurança + Automação</a:t>
            </a:r>
            <a:endParaRPr lang="en-US" sz="850" dirty="0"/>
          </a:p>
        </p:txBody>
      </p:sp>
      <p:sp>
        <p:nvSpPr>
          <p:cNvPr id="9" name="Text 6"/>
          <p:cNvSpPr txBox="1"/>
          <p:nvPr/>
        </p:nvSpPr>
        <p:spPr>
          <a:xfrm>
            <a:off x="11292840" y="6547104"/>
            <a:ext cx="320040" cy="182880"/>
          </a:xfrm>
          <a:prstGeom prst="rect">
            <a:avLst/>
          </a:prstGeom>
          <a:noFill/>
          <a:ln/>
        </p:spPr>
        <p:txBody>
          <a:bodyPr wrap="square" lIns="0" tIns="0" rIns="0" bIns="0" rtlCol="0" anchor="ctr"/>
          <a:lstStyle/>
          <a:p>
            <a:pPr algn="r" indent="0" marL="0">
              <a:buNone/>
            </a:pPr>
            <a:r>
              <a:rPr lang="en-US" sz="850" dirty="0">
                <a:solidFill>
                  <a:srgbClr val="8796AD"/>
                </a:solidFill>
                <a:latin typeface="Calibri" pitchFamily="34" charset="0"/>
                <a:ea typeface="Calibri" pitchFamily="34" charset="-122"/>
                <a:cs typeface="Calibri" pitchFamily="34" charset="-120"/>
              </a:rPr>
              <a:t>17</a:t>
            </a:r>
            <a:endParaRPr lang="en-US" sz="850" dirty="0"/>
          </a:p>
        </p:txBody>
      </p:sp>
      <p:sp>
        <p:nvSpPr>
          <p:cNvPr id="10" name="Shape 7"/>
          <p:cNvSpPr/>
          <p:nvPr/>
        </p:nvSpPr>
        <p:spPr>
          <a:xfrm>
            <a:off x="713232" y="1700784"/>
            <a:ext cx="3246120" cy="1856232"/>
          </a:xfrm>
          <a:prstGeom prst="roundRect">
            <a:avLst>
              <a:gd name="adj" fmla="val 5911"/>
            </a:avLst>
          </a:prstGeom>
          <a:solidFill>
            <a:srgbClr val="1E293B"/>
          </a:solidFill>
          <a:ln w="7620">
            <a:solidFill>
              <a:srgbClr val="283449"/>
            </a:solidFill>
            <a:prstDash val="solid"/>
          </a:ln>
        </p:spPr>
      </p:sp>
      <p:sp>
        <p:nvSpPr>
          <p:cNvPr id="11" name="Text 8"/>
          <p:cNvSpPr txBox="1"/>
          <p:nvPr/>
        </p:nvSpPr>
        <p:spPr>
          <a:xfrm>
            <a:off x="850392" y="1947672"/>
            <a:ext cx="2971800" cy="731520"/>
          </a:xfrm>
          <a:prstGeom prst="rect">
            <a:avLst/>
          </a:prstGeom>
          <a:noFill/>
          <a:ln/>
        </p:spPr>
        <p:txBody>
          <a:bodyPr wrap="square" lIns="0" tIns="0" rIns="0" bIns="0" rtlCol="0" anchor="ctr"/>
          <a:lstStyle/>
          <a:p>
            <a:pPr algn="ctr" indent="0" marL="0">
              <a:buNone/>
            </a:pPr>
            <a:r>
              <a:rPr lang="en-US" sz="5000" b="1" dirty="0">
                <a:solidFill>
                  <a:srgbClr val="10BCD8"/>
                </a:solidFill>
                <a:latin typeface="Calibri" pitchFamily="34" charset="0"/>
                <a:ea typeface="Calibri" pitchFamily="34" charset="-122"/>
                <a:cs typeface="Calibri" pitchFamily="34" charset="-120"/>
              </a:rPr>
              <a:t>61</a:t>
            </a:r>
            <a:endParaRPr lang="en-US" sz="5000" dirty="0"/>
          </a:p>
        </p:txBody>
      </p:sp>
      <p:sp>
        <p:nvSpPr>
          <p:cNvPr id="12" name="Text 9"/>
          <p:cNvSpPr txBox="1"/>
          <p:nvPr/>
        </p:nvSpPr>
        <p:spPr>
          <a:xfrm>
            <a:off x="850392" y="2862072"/>
            <a:ext cx="2971800" cy="393192"/>
          </a:xfrm>
          <a:prstGeom prst="rect">
            <a:avLst/>
          </a:prstGeom>
          <a:noFill/>
          <a:ln/>
        </p:spPr>
        <p:txBody>
          <a:bodyPr wrap="square" lIns="0" tIns="0" rIns="0" bIns="0" rtlCol="0" anchor="ctr"/>
          <a:lstStyle/>
          <a:p>
            <a:pPr algn="ctr" indent="0" marL="0">
              <a:buNone/>
            </a:pPr>
            <a:r>
              <a:rPr lang="en-US" sz="2200" dirty="0">
                <a:solidFill>
                  <a:srgbClr val="F8FAFC"/>
                </a:solidFill>
                <a:latin typeface="Calibri" pitchFamily="34" charset="0"/>
                <a:ea typeface="Calibri" pitchFamily="34" charset="-122"/>
                <a:cs typeface="Calibri" pitchFamily="34" charset="-120"/>
              </a:rPr>
              <a:t>testes Python</a:t>
            </a:r>
            <a:endParaRPr lang="en-US" sz="2200" dirty="0"/>
          </a:p>
        </p:txBody>
      </p:sp>
      <p:sp>
        <p:nvSpPr>
          <p:cNvPr id="13" name="Shape 10"/>
          <p:cNvSpPr/>
          <p:nvPr/>
        </p:nvSpPr>
        <p:spPr>
          <a:xfrm>
            <a:off x="4480560" y="1700784"/>
            <a:ext cx="3246120" cy="1856232"/>
          </a:xfrm>
          <a:prstGeom prst="roundRect">
            <a:avLst>
              <a:gd name="adj" fmla="val 5911"/>
            </a:avLst>
          </a:prstGeom>
          <a:solidFill>
            <a:srgbClr val="1E293B"/>
          </a:solidFill>
          <a:ln w="7620">
            <a:solidFill>
              <a:srgbClr val="283449"/>
            </a:solidFill>
            <a:prstDash val="solid"/>
          </a:ln>
        </p:spPr>
      </p:sp>
      <p:sp>
        <p:nvSpPr>
          <p:cNvPr id="14" name="Text 11"/>
          <p:cNvSpPr txBox="1"/>
          <p:nvPr/>
        </p:nvSpPr>
        <p:spPr>
          <a:xfrm>
            <a:off x="4617720" y="1947672"/>
            <a:ext cx="2971800" cy="731520"/>
          </a:xfrm>
          <a:prstGeom prst="rect">
            <a:avLst/>
          </a:prstGeom>
          <a:noFill/>
          <a:ln/>
        </p:spPr>
        <p:txBody>
          <a:bodyPr wrap="square" lIns="0" tIns="0" rIns="0" bIns="0" rtlCol="0" anchor="ctr"/>
          <a:lstStyle/>
          <a:p>
            <a:pPr algn="ctr" indent="0" marL="0">
              <a:buNone/>
            </a:pPr>
            <a:r>
              <a:rPr lang="en-US" sz="5000" b="1" dirty="0">
                <a:solidFill>
                  <a:srgbClr val="7B6FF0"/>
                </a:solidFill>
                <a:latin typeface="Calibri" pitchFamily="34" charset="0"/>
                <a:ea typeface="Calibri" pitchFamily="34" charset="-122"/>
                <a:cs typeface="Calibri" pitchFamily="34" charset="-120"/>
              </a:rPr>
              <a:t>4</a:t>
            </a:r>
            <a:endParaRPr lang="en-US" sz="5000" dirty="0"/>
          </a:p>
        </p:txBody>
      </p:sp>
      <p:sp>
        <p:nvSpPr>
          <p:cNvPr id="15" name="Text 12"/>
          <p:cNvSpPr txBox="1"/>
          <p:nvPr/>
        </p:nvSpPr>
        <p:spPr>
          <a:xfrm>
            <a:off x="4617720" y="2862072"/>
            <a:ext cx="2971800" cy="393192"/>
          </a:xfrm>
          <a:prstGeom prst="rect">
            <a:avLst/>
          </a:prstGeom>
          <a:noFill/>
          <a:ln/>
        </p:spPr>
        <p:txBody>
          <a:bodyPr wrap="square" lIns="0" tIns="0" rIns="0" bIns="0" rtlCol="0" anchor="ctr"/>
          <a:lstStyle/>
          <a:p>
            <a:pPr algn="ctr" indent="0" marL="0">
              <a:buNone/>
            </a:pPr>
            <a:r>
              <a:rPr lang="en-US" sz="2200" dirty="0">
                <a:solidFill>
                  <a:srgbClr val="F8FAFC"/>
                </a:solidFill>
                <a:latin typeface="Calibri" pitchFamily="34" charset="0"/>
                <a:ea typeface="Calibri" pitchFamily="34" charset="-122"/>
                <a:cs typeface="Calibri" pitchFamily="34" charset="-120"/>
              </a:rPr>
              <a:t>testes Node</a:t>
            </a:r>
            <a:endParaRPr lang="en-US" sz="2200" dirty="0"/>
          </a:p>
        </p:txBody>
      </p:sp>
      <p:sp>
        <p:nvSpPr>
          <p:cNvPr id="16" name="Shape 13"/>
          <p:cNvSpPr/>
          <p:nvPr/>
        </p:nvSpPr>
        <p:spPr>
          <a:xfrm>
            <a:off x="8247888" y="1700784"/>
            <a:ext cx="3246120" cy="1856232"/>
          </a:xfrm>
          <a:prstGeom prst="roundRect">
            <a:avLst>
              <a:gd name="adj" fmla="val 5911"/>
            </a:avLst>
          </a:prstGeom>
          <a:solidFill>
            <a:srgbClr val="1E293B"/>
          </a:solidFill>
          <a:ln w="7620">
            <a:solidFill>
              <a:srgbClr val="283449"/>
            </a:solidFill>
            <a:prstDash val="solid"/>
          </a:ln>
        </p:spPr>
      </p:sp>
      <p:sp>
        <p:nvSpPr>
          <p:cNvPr id="17" name="Text 14"/>
          <p:cNvSpPr txBox="1"/>
          <p:nvPr/>
        </p:nvSpPr>
        <p:spPr>
          <a:xfrm>
            <a:off x="8385048" y="1947672"/>
            <a:ext cx="2971800" cy="731520"/>
          </a:xfrm>
          <a:prstGeom prst="rect">
            <a:avLst/>
          </a:prstGeom>
          <a:noFill/>
          <a:ln/>
        </p:spPr>
        <p:txBody>
          <a:bodyPr wrap="square" lIns="0" tIns="0" rIns="0" bIns="0" rtlCol="0" anchor="ctr"/>
          <a:lstStyle/>
          <a:p>
            <a:pPr algn="ctr" indent="0" marL="0">
              <a:buNone/>
            </a:pPr>
            <a:r>
              <a:rPr lang="en-US" sz="5000" b="1" dirty="0">
                <a:solidFill>
                  <a:srgbClr val="10BCD8"/>
                </a:solidFill>
                <a:latin typeface="Calibri" pitchFamily="34" charset="0"/>
                <a:ea typeface="Calibri" pitchFamily="34" charset="-122"/>
                <a:cs typeface="Calibri" pitchFamily="34" charset="-120"/>
              </a:rPr>
              <a:t>84%</a:t>
            </a:r>
            <a:endParaRPr lang="en-US" sz="5000" dirty="0"/>
          </a:p>
        </p:txBody>
      </p:sp>
      <p:sp>
        <p:nvSpPr>
          <p:cNvPr id="18" name="Text 15"/>
          <p:cNvSpPr txBox="1"/>
          <p:nvPr/>
        </p:nvSpPr>
        <p:spPr>
          <a:xfrm>
            <a:off x="8385048" y="2862072"/>
            <a:ext cx="2971800" cy="393192"/>
          </a:xfrm>
          <a:prstGeom prst="rect">
            <a:avLst/>
          </a:prstGeom>
          <a:noFill/>
          <a:ln/>
        </p:spPr>
        <p:txBody>
          <a:bodyPr wrap="square" lIns="0" tIns="0" rIns="0" bIns="0" rtlCol="0" anchor="ctr"/>
          <a:lstStyle/>
          <a:p>
            <a:pPr algn="ctr" indent="0" marL="0">
              <a:buNone/>
            </a:pPr>
            <a:r>
              <a:rPr lang="en-US" sz="2200" dirty="0">
                <a:solidFill>
                  <a:srgbClr val="F8FAFC"/>
                </a:solidFill>
                <a:latin typeface="Calibri" pitchFamily="34" charset="0"/>
                <a:ea typeface="Calibri" pitchFamily="34" charset="-122"/>
                <a:cs typeface="Calibri" pitchFamily="34" charset="-120"/>
              </a:rPr>
              <a:t>cobertura unitária</a:t>
            </a:r>
            <a:endParaRPr lang="en-US" sz="2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13232" y="3913632"/>
          <a:ext cx="10789920" cy="914400"/>
        </p:xfrm>
        <a:graphic>
          <a:graphicData uri="http://schemas.openxmlformats.org/drawingml/2006/table">
            <a:tbl>
              <a:tblPr/>
              <a:tblGrid>
                <a:gridCol w="3200400"/>
                <a:gridCol w="7589520"/>
              </a:tblGrid>
              <a:tr h="539496">
                <a:tc>
                  <a:txBody>
                    <a:bodyPr/>
                    <a:lstStyle/>
                    <a:p>
                      <a:pPr indent="0" marL="0">
                        <a:buNone/>
                      </a:pPr>
                      <a:r>
                        <a:rPr lang="en-US" sz="1800" b="1" dirty="0">
                          <a:solidFill>
                            <a:srgbClr val="10BCD8"/>
                          </a:solidFill>
                          <a:latin typeface="Calibri" pitchFamily="34" charset="0"/>
                          <a:ea typeface="Calibri" pitchFamily="34" charset="-122"/>
                          <a:cs typeface="Calibri" pitchFamily="34" charset="-120"/>
                        </a:rPr>
                        <a:t>Camada</a:t>
                      </a:r>
                      <a:endParaRPr lang="en-US" sz="18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c>
                  <a:txBody>
                    <a:bodyPr/>
                    <a:lstStyle/>
                    <a:p>
                      <a:pPr indent="0" marL="0">
                        <a:buNone/>
                      </a:pPr>
                      <a:r>
                        <a:rPr lang="en-US" sz="1800" b="1" dirty="0">
                          <a:solidFill>
                            <a:srgbClr val="10BCD8"/>
                          </a:solidFill>
                          <a:latin typeface="Calibri" pitchFamily="34" charset="0"/>
                          <a:ea typeface="Calibri" pitchFamily="34" charset="-122"/>
                          <a:cs typeface="Calibri" pitchFamily="34" charset="-120"/>
                        </a:rPr>
                        <a:t>Tecnologias e validação</a:t>
                      </a:r>
                      <a:endParaRPr lang="en-US" sz="18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r>
              <a:tr h="539496">
                <a:tc>
                  <a:txBody>
                    <a:bodyPr/>
                    <a:lstStyle/>
                    <a:p>
                      <a:pPr indent="0" marL="0">
                        <a:buNone/>
                      </a:pPr>
                      <a:r>
                        <a:rPr lang="en-US" sz="1800" dirty="0">
                          <a:solidFill>
                            <a:srgbClr val="F8FAFC"/>
                          </a:solidFill>
                          <a:latin typeface="Calibri" pitchFamily="34" charset="0"/>
                          <a:ea typeface="Calibri" pitchFamily="34" charset="-122"/>
                          <a:cs typeface="Calibri" pitchFamily="34" charset="-120"/>
                        </a:rPr>
                        <a:t>Compilador e executor</a:t>
                      </a:r>
                      <a:endParaRPr lang="en-US" sz="18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1E293B"/>
                    </a:solidFill>
                  </a:tcPr>
                </a:tc>
                <a:tc>
                  <a:txBody>
                    <a:bodyPr/>
                    <a:lstStyle/>
                    <a:p>
                      <a:pPr indent="0" marL="0">
                        <a:buNone/>
                      </a:pPr>
                      <a:r>
                        <a:rPr lang="en-US" sz="1800" dirty="0">
                          <a:solidFill>
                            <a:srgbClr val="F8FAFC"/>
                          </a:solidFill>
                          <a:latin typeface="Calibri" pitchFamily="34" charset="0"/>
                          <a:ea typeface="Calibri" pitchFamily="34" charset="-122"/>
                          <a:cs typeface="Calibri" pitchFamily="34" charset="-120"/>
                        </a:rPr>
                        <a:t>Python 3.12, Poetry, Pydantic e loguru</a:t>
                      </a:r>
                      <a:endParaRPr lang="en-US" sz="18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1E293B"/>
                    </a:solidFill>
                  </a:tcPr>
                </a:tc>
              </a:tr>
              <a:tr h="539496">
                <a:tc>
                  <a:txBody>
                    <a:bodyPr/>
                    <a:lstStyle/>
                    <a:p>
                      <a:pPr indent="0" marL="0">
                        <a:buNone/>
                      </a:pPr>
                      <a:r>
                        <a:rPr lang="en-US" sz="1800" dirty="0">
                          <a:solidFill>
                            <a:srgbClr val="F8FAFC"/>
                          </a:solidFill>
                          <a:latin typeface="Calibri" pitchFamily="34" charset="0"/>
                          <a:ea typeface="Calibri" pitchFamily="34" charset="-122"/>
                          <a:cs typeface="Calibri" pitchFamily="34" charset="-120"/>
                        </a:rPr>
                        <a:t>Qualidade</a:t>
                      </a:r>
                      <a:endParaRPr lang="en-US" sz="18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c>
                  <a:txBody>
                    <a:bodyPr/>
                    <a:lstStyle/>
                    <a:p>
                      <a:pPr indent="0" marL="0">
                        <a:buNone/>
                      </a:pPr>
                      <a:r>
                        <a:rPr lang="en-US" sz="1800" dirty="0">
                          <a:solidFill>
                            <a:srgbClr val="F8FAFC"/>
                          </a:solidFill>
                          <a:latin typeface="Calibri" pitchFamily="34" charset="0"/>
                          <a:ea typeface="Calibri" pitchFamily="34" charset="-122"/>
                          <a:cs typeface="Calibri" pitchFamily="34" charset="-120"/>
                        </a:rPr>
                        <a:t>Ruff, mypy estrito, pytest e detector de segredos</a:t>
                      </a:r>
                      <a:endParaRPr lang="en-US" sz="18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0F1C30"/>
                    </a:solidFill>
                  </a:tcPr>
                </a:tc>
              </a:tr>
              <a:tr h="539496">
                <a:tc>
                  <a:txBody>
                    <a:bodyPr/>
                    <a:lstStyle/>
                    <a:p>
                      <a:pPr indent="0" marL="0">
                        <a:buNone/>
                      </a:pPr>
                      <a:r>
                        <a:rPr lang="en-US" sz="1800" dirty="0">
                          <a:solidFill>
                            <a:srgbClr val="F8FAFC"/>
                          </a:solidFill>
                          <a:latin typeface="Calibri" pitchFamily="34" charset="0"/>
                          <a:ea typeface="Calibri" pitchFamily="34" charset="-122"/>
                          <a:cs typeface="Calibri" pitchFamily="34" charset="-120"/>
                        </a:rPr>
                        <a:t>Editor e integração</a:t>
                      </a:r>
                      <a:endParaRPr lang="en-US" sz="18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1E293B"/>
                    </a:solidFill>
                  </a:tcPr>
                </a:tc>
                <a:tc>
                  <a:txBody>
                    <a:bodyPr/>
                    <a:lstStyle/>
                    <a:p>
                      <a:pPr indent="0" marL="0">
                        <a:buNone/>
                      </a:pPr>
                      <a:r>
                        <a:rPr lang="en-US" sz="1800" dirty="0">
                          <a:solidFill>
                            <a:srgbClr val="F8FAFC"/>
                          </a:solidFill>
                          <a:latin typeface="Calibri" pitchFamily="34" charset="0"/>
                          <a:ea typeface="Calibri" pitchFamily="34" charset="-122"/>
                          <a:cs typeface="Calibri" pitchFamily="34" charset="-120"/>
                        </a:rPr>
                        <a:t>JavaScript tipado, VS Code, Docker e nftables</a:t>
                      </a:r>
                      <a:endParaRPr lang="en-US" sz="1800" dirty="0">
                        <a:latin typeface="Calibri" charset="0"/>
                        <a:ea typeface="Calibri" charset="0"/>
                        <a:cs typeface="Calibri" charset="0"/>
                      </a:endParaRPr>
                    </a:p>
                  </a:txBody>
                  <a:tcPr marL="118872" marR="118872" marT="118872" marB="118872" anchor="mid">
                    <a:lnL w="8890" cap="flat" cmpd="sng" algn="ctr">
                      <a:solidFill>
                        <a:srgbClr val="283449"/>
                      </a:solidFill>
                      <a:prstDash val="solid"/>
                      <a:round/>
                      <a:headEnd type="none" w="med" len="med"/>
                      <a:tailEnd type="none" w="med" len="med"/>
                    </a:lnL>
                    <a:lnR w="8890" cap="flat" cmpd="sng" algn="ctr">
                      <a:solidFill>
                        <a:srgbClr val="283449"/>
                      </a:solidFill>
                      <a:prstDash val="solid"/>
                      <a:round/>
                      <a:headEnd type="none" w="med" len="med"/>
                      <a:tailEnd type="none" w="med" len="med"/>
                    </a:lnR>
                    <a:lnT w="8890" cap="flat" cmpd="sng" algn="ctr">
                      <a:solidFill>
                        <a:srgbClr val="283449"/>
                      </a:solidFill>
                      <a:prstDash val="solid"/>
                      <a:round/>
                      <a:headEnd type="none" w="med" len="med"/>
                      <a:tailEnd type="none" w="med" len="med"/>
                    </a:lnT>
                    <a:lnB w="8890" cap="flat" cmpd="sng" algn="ctr">
                      <a:solidFill>
                        <a:srgbClr val="283449"/>
                      </a:solidFill>
                      <a:prstDash val="solid"/>
                      <a:round/>
                      <a:headEnd type="none" w="med" len="med"/>
                      <a:tailEnd type="none" w="med" len="med"/>
                    </a:lnB>
                    <a:solidFill>
                      <a:srgbClr val="1E293B"/>
                    </a:solidFill>
                  </a:tcPr>
                </a:tc>
              </a:tr>
            </a:tbl>
          </a:graphicData>
        </a:graphic>
      </p:graphicFrame>
      <p:sp>
        <p:nvSpPr>
          <p:cNvPr id="20" name="Text 16"/>
          <p:cNvSpPr txBox="1"/>
          <p:nvPr/>
        </p:nvSpPr>
        <p:spPr>
          <a:xfrm>
            <a:off x="914400" y="6236208"/>
            <a:ext cx="10378440" cy="228600"/>
          </a:xfrm>
          <a:prstGeom prst="rect">
            <a:avLst/>
          </a:prstGeom>
          <a:noFill/>
          <a:ln/>
        </p:spPr>
        <p:txBody>
          <a:bodyPr wrap="square" lIns="0" tIns="0" rIns="0" bIns="0" rtlCol="0" anchor="ctr"/>
          <a:lstStyle/>
          <a:p>
            <a:pPr algn="ctr" indent="0" marL="0">
              <a:buNone/>
            </a:pPr>
            <a:r>
              <a:rPr lang="en-US" sz="1600" dirty="0">
                <a:solidFill>
                  <a:srgbClr val="4ADE80"/>
                </a:solidFill>
                <a:latin typeface="Calibri" pitchFamily="34" charset="0"/>
                <a:ea typeface="Calibri" pitchFamily="34" charset="-122"/>
                <a:cs typeface="Calibri" pitchFamily="34" charset="-120"/>
              </a:rPr>
              <a:t>CI aprovado: Windows, Ubuntu e laboratório de rede Linux</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324"/>
        </a:solidFill>
      </p:bgPr>
    </p:bg>
    <p:spTree>
      <p:nvGrpSpPr>
        <p:cNvPr id="1" name=""/>
        <p:cNvGrpSpPr/>
        <p:nvPr/>
      </p:nvGrpSpPr>
      <p:grpSpPr>
        <a:xfrm>
          <a:off x="0" y="0"/>
          <a:ext cx="0" cy="0"/>
          <a:chOff x="0" y="0"/>
          <a:chExt cx="0" cy="0"/>
        </a:xfrm>
      </p:grpSpPr>
      <p:sp>
        <p:nvSpPr>
          <p:cNvPr id="2" name="Shape 0"/>
          <p:cNvSpPr/>
          <p:nvPr/>
        </p:nvSpPr>
        <p:spPr>
          <a:xfrm>
            <a:off x="-1024128" y="-1005840"/>
            <a:ext cx="3456432" cy="3364992"/>
          </a:xfrm>
          <a:prstGeom prst="ellipse">
            <a:avLst/>
          </a:prstGeom>
          <a:solidFill>
            <a:srgbClr val="122B3F"/>
          </a:solidFill>
          <a:ln w="12700">
            <a:solidFill>
              <a:srgbClr val="333333">
                <a:alpha val="0"/>
              </a:srgbClr>
            </a:solidFill>
            <a:prstDash val="solid"/>
          </a:ln>
        </p:spPr>
      </p:sp>
      <p:sp>
        <p:nvSpPr>
          <p:cNvPr id="3" name="Shape 1"/>
          <p:cNvSpPr/>
          <p:nvPr/>
        </p:nvSpPr>
        <p:spPr>
          <a:xfrm>
            <a:off x="8686800" y="4709160"/>
            <a:ext cx="4663440" cy="3310128"/>
          </a:xfrm>
          <a:prstGeom prst="ellipse">
            <a:avLst/>
          </a:prstGeom>
          <a:solidFill>
            <a:srgbClr val="1D1D40"/>
          </a:solidFill>
          <a:ln w="12700">
            <a:solidFill>
              <a:srgbClr val="333333">
                <a:alpha val="0"/>
              </a:srgbClr>
            </a:solidFill>
            <a:prstDash val="solid"/>
          </a:ln>
        </p:spPr>
      </p:sp>
      <p:sp>
        <p:nvSpPr>
          <p:cNvPr id="4" name="Text 2"/>
          <p:cNvSpPr txBox="1"/>
          <p:nvPr/>
        </p:nvSpPr>
        <p:spPr>
          <a:xfrm>
            <a:off x="594360" y="292608"/>
            <a:ext cx="10469880" cy="530352"/>
          </a:xfrm>
          <a:prstGeom prst="rect">
            <a:avLst/>
          </a:prstGeom>
          <a:noFill/>
          <a:ln/>
        </p:spPr>
        <p:txBody>
          <a:bodyPr wrap="square" lIns="0" tIns="0" rIns="0" bIns="0" rtlCol="0" anchor="ctr"/>
          <a:lstStyle/>
          <a:p>
            <a:pPr algn="ctr" indent="0" marL="0">
              <a:buNone/>
            </a:pPr>
            <a:r>
              <a:rPr lang="en-US" sz="2900" b="1" dirty="0">
                <a:solidFill>
                  <a:srgbClr val="F8FAFC"/>
                </a:solidFill>
                <a:latin typeface="Arial" pitchFamily="34" charset="0"/>
                <a:ea typeface="Arial" pitchFamily="34" charset="-122"/>
                <a:cs typeface="Arial" pitchFamily="34" charset="-120"/>
              </a:rPr>
              <a:t>Limites da </a:t>
            </a:r>
            <a:pPr algn="ctr" indent="0" marL="0">
              <a:buNone/>
            </a:pPr>
            <a:r>
              <a:rPr lang="en-US" sz="2900" b="1" dirty="0">
                <a:solidFill>
                  <a:srgbClr val="10BCD8"/>
                </a:solidFill>
                <a:latin typeface="Arial" pitchFamily="34" charset="0"/>
                <a:ea typeface="Arial" pitchFamily="34" charset="-122"/>
                <a:cs typeface="Arial" pitchFamily="34" charset="-120"/>
              </a:rPr>
              <a:t>versão acadêmica</a:t>
            </a:r>
            <a:endParaRPr lang="en-US" sz="2900" dirty="0"/>
          </a:p>
        </p:txBody>
      </p:sp>
      <p:sp>
        <p:nvSpPr>
          <p:cNvPr id="5" name="Shape 3"/>
          <p:cNvSpPr/>
          <p:nvPr/>
        </p:nvSpPr>
        <p:spPr>
          <a:xfrm>
            <a:off x="10991088" y="310896"/>
            <a:ext cx="621792" cy="621792"/>
          </a:xfrm>
          <a:prstGeom prst="ellipse">
            <a:avLst/>
          </a:prstGeom>
          <a:solidFill>
            <a:srgbClr val="7B6FF0"/>
          </a:solidFill>
          <a:ln w="12700">
            <a:solidFill>
              <a:srgbClr val="7B6FF0">
                <a:alpha val="0"/>
              </a:srgbClr>
            </a:solidFill>
            <a:prstDash val="solid"/>
          </a:ln>
        </p:spPr>
      </p:sp>
      <p:pic>
        <p:nvPicPr>
          <p:cNvPr id="6" name="Image 0" descr="preencoded.png">    </p:cNvPr>
          <p:cNvPicPr>
            <a:picLocks noChangeAspect="1"/>
          </p:cNvPicPr>
          <p:nvPr/>
        </p:nvPicPr>
        <p:blipFill>
          <a:blip r:embed="rId1"/>
          <a:stretch>
            <a:fillRect/>
          </a:stretch>
        </p:blipFill>
        <p:spPr>
          <a:xfrm>
            <a:off x="11134100" y="453908"/>
            <a:ext cx="335768" cy="335768"/>
          </a:xfrm>
          <a:prstGeom prst="rect">
            <a:avLst/>
          </a:prstGeom>
        </p:spPr>
      </p:pic>
      <p:sp>
        <p:nvSpPr>
          <p:cNvPr id="7" name="Text 4"/>
          <p:cNvSpPr txBox="1"/>
          <p:nvPr/>
        </p:nvSpPr>
        <p:spPr>
          <a:xfrm>
            <a:off x="685800" y="987552"/>
            <a:ext cx="10789920" cy="384048"/>
          </a:xfrm>
          <a:prstGeom prst="rect">
            <a:avLst/>
          </a:prstGeom>
          <a:noFill/>
          <a:ln/>
        </p:spPr>
        <p:txBody>
          <a:bodyPr wrap="square" lIns="0" tIns="0" rIns="0" bIns="0" rtlCol="0" anchor="ctr"/>
          <a:lstStyle/>
          <a:p>
            <a:pPr algn="ctr" indent="0" marL="0">
              <a:buNone/>
            </a:pPr>
            <a:r>
              <a:rPr lang="en-US" sz="1800" dirty="0">
                <a:solidFill>
                  <a:srgbClr val="CBD5E1"/>
                </a:solidFill>
                <a:latin typeface="Calibri" pitchFamily="34" charset="0"/>
                <a:ea typeface="Calibri" pitchFamily="34" charset="-122"/>
                <a:cs typeface="Calibri" pitchFamily="34" charset="-120"/>
              </a:rPr>
              <a:t>O escopo controlado permite explicar e testar a implementação inteira</a:t>
            </a:r>
            <a:endParaRPr lang="en-US" sz="1800" dirty="0"/>
          </a:p>
        </p:txBody>
      </p:sp>
      <p:sp>
        <p:nvSpPr>
          <p:cNvPr id="8" name="Text 5"/>
          <p:cNvSpPr txBox="1"/>
          <p:nvPr/>
        </p:nvSpPr>
        <p:spPr>
          <a:xfrm>
            <a:off x="502920" y="6556248"/>
            <a:ext cx="7772400" cy="164592"/>
          </a:xfrm>
          <a:prstGeom prst="rect">
            <a:avLst/>
          </a:prstGeom>
          <a:noFill/>
          <a:ln/>
        </p:spPr>
        <p:txBody>
          <a:bodyPr wrap="square" lIns="0" tIns="0" rIns="0" bIns="0" rtlCol="0" anchor="ctr"/>
          <a:lstStyle/>
          <a:p>
            <a:pPr indent="0" marL="0">
              <a:buNone/>
            </a:pPr>
            <a:r>
              <a:rPr lang="en-US" sz="850" dirty="0">
                <a:solidFill>
                  <a:srgbClr val="8796AD"/>
                </a:solidFill>
                <a:latin typeface="Calibri" pitchFamily="34" charset="0"/>
                <a:ea typeface="Calibri" pitchFamily="34" charset="-122"/>
                <a:cs typeface="Calibri" pitchFamily="34" charset="-120"/>
              </a:rPr>
              <a:t>NetSec  ·  Redes + Segurança + Automação</a:t>
            </a:r>
            <a:endParaRPr lang="en-US" sz="850" dirty="0"/>
          </a:p>
        </p:txBody>
      </p:sp>
      <p:sp>
        <p:nvSpPr>
          <p:cNvPr id="9" name="Text 6"/>
          <p:cNvSpPr txBox="1"/>
          <p:nvPr/>
        </p:nvSpPr>
        <p:spPr>
          <a:xfrm>
            <a:off x="11292840" y="6547104"/>
            <a:ext cx="320040" cy="182880"/>
          </a:xfrm>
          <a:prstGeom prst="rect">
            <a:avLst/>
          </a:prstGeom>
          <a:noFill/>
          <a:ln/>
        </p:spPr>
        <p:txBody>
          <a:bodyPr wrap="square" lIns="0" tIns="0" rIns="0" bIns="0" rtlCol="0" anchor="ctr"/>
          <a:lstStyle/>
          <a:p>
            <a:pPr algn="r" indent="0" marL="0">
              <a:buNone/>
            </a:pPr>
            <a:r>
              <a:rPr lang="en-US" sz="850" dirty="0">
                <a:solidFill>
                  <a:srgbClr val="8796AD"/>
                </a:solidFill>
                <a:latin typeface="Calibri" pitchFamily="34" charset="0"/>
                <a:ea typeface="Calibri" pitchFamily="34" charset="-122"/>
                <a:cs typeface="Calibri" pitchFamily="34" charset="-120"/>
              </a:rPr>
              <a:t>18</a:t>
            </a:r>
            <a:endParaRPr lang="en-US" sz="850" dirty="0"/>
          </a:p>
        </p:txBody>
      </p:sp>
      <p:sp>
        <p:nvSpPr>
          <p:cNvPr id="10" name="Shape 7"/>
          <p:cNvSpPr/>
          <p:nvPr/>
        </p:nvSpPr>
        <p:spPr>
          <a:xfrm>
            <a:off x="685800" y="1719072"/>
            <a:ext cx="5230368" cy="4425696"/>
          </a:xfrm>
          <a:prstGeom prst="roundRect">
            <a:avLst>
              <a:gd name="adj" fmla="val 2479"/>
            </a:avLst>
          </a:prstGeom>
          <a:solidFill>
            <a:srgbClr val="1E293B"/>
          </a:solidFill>
          <a:ln w="7620">
            <a:solidFill>
              <a:srgbClr val="283449"/>
            </a:solidFill>
            <a:prstDash val="solid"/>
          </a:ln>
        </p:spPr>
      </p:sp>
      <p:sp>
        <p:nvSpPr>
          <p:cNvPr id="11" name="Shape 8"/>
          <p:cNvSpPr/>
          <p:nvPr/>
        </p:nvSpPr>
        <p:spPr>
          <a:xfrm>
            <a:off x="6199632" y="1719072"/>
            <a:ext cx="5303520" cy="4425696"/>
          </a:xfrm>
          <a:prstGeom prst="roundRect">
            <a:avLst>
              <a:gd name="adj" fmla="val 2479"/>
            </a:avLst>
          </a:prstGeom>
          <a:solidFill>
            <a:srgbClr val="0F1C30"/>
          </a:solidFill>
          <a:ln w="7620">
            <a:solidFill>
              <a:srgbClr val="283449"/>
            </a:solidFill>
            <a:prstDash val="solid"/>
          </a:ln>
        </p:spPr>
      </p:sp>
      <p:sp>
        <p:nvSpPr>
          <p:cNvPr id="12" name="Shape 9"/>
          <p:cNvSpPr/>
          <p:nvPr/>
        </p:nvSpPr>
        <p:spPr>
          <a:xfrm>
            <a:off x="960120" y="1993392"/>
            <a:ext cx="530352" cy="530352"/>
          </a:xfrm>
          <a:prstGeom prst="ellipse">
            <a:avLst/>
          </a:prstGeom>
          <a:solidFill>
            <a:srgbClr val="10BCD8"/>
          </a:solidFill>
          <a:ln w="12700">
            <a:solidFill>
              <a:srgbClr val="10BCD8">
                <a:alpha val="0"/>
              </a:srgbClr>
            </a:solidFill>
            <a:prstDash val="solid"/>
          </a:ln>
        </p:spPr>
      </p:sp>
      <p:pic>
        <p:nvPicPr>
          <p:cNvPr id="13" name="Image 1" descr="preencoded.png">    </p:cNvPr>
          <p:cNvPicPr>
            <a:picLocks noChangeAspect="1"/>
          </p:cNvPicPr>
          <p:nvPr/>
        </p:nvPicPr>
        <p:blipFill>
          <a:blip r:embed="rId2"/>
          <a:stretch>
            <a:fillRect/>
          </a:stretch>
        </p:blipFill>
        <p:spPr>
          <a:xfrm>
            <a:off x="1082101" y="2115373"/>
            <a:ext cx="286390" cy="286390"/>
          </a:xfrm>
          <a:prstGeom prst="rect">
            <a:avLst/>
          </a:prstGeom>
        </p:spPr>
      </p:pic>
      <p:sp>
        <p:nvSpPr>
          <p:cNvPr id="14" name="Text 10"/>
          <p:cNvSpPr txBox="1"/>
          <p:nvPr/>
        </p:nvSpPr>
        <p:spPr>
          <a:xfrm>
            <a:off x="1691640" y="1975104"/>
            <a:ext cx="3886200" cy="384048"/>
          </a:xfrm>
          <a:prstGeom prst="rect">
            <a:avLst/>
          </a:prstGeom>
          <a:noFill/>
          <a:ln/>
        </p:spPr>
        <p:txBody>
          <a:bodyPr wrap="square" lIns="0" tIns="0" rIns="0" bIns="0"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Linguagem</a:t>
            </a:r>
            <a:endParaRPr lang="en-US" sz="2100" dirty="0"/>
          </a:p>
        </p:txBody>
      </p:sp>
      <p:sp>
        <p:nvSpPr>
          <p:cNvPr id="15" name="Text 11"/>
          <p:cNvSpPr txBox="1"/>
          <p:nvPr/>
        </p:nvSpPr>
        <p:spPr>
          <a:xfrm>
            <a:off x="1691640" y="2423160"/>
            <a:ext cx="3886200" cy="758952"/>
          </a:xfrm>
          <a:prstGeom prst="rect">
            <a:avLst/>
          </a:prstGeom>
          <a:noFill/>
          <a:ln/>
        </p:spPr>
        <p:txBody>
          <a:bodyPr wrap="square" lIns="0" tIns="0" rIns="0" bIns="0" rtlCol="0" anchor="t"/>
          <a:lstStyle/>
          <a:p>
            <a:pPr indent="0" marL="0">
              <a:buNone/>
            </a:pPr>
            <a:r>
              <a:rPr lang="en-US" sz="1800" dirty="0">
                <a:solidFill>
                  <a:srgbClr val="CBD5E1"/>
                </a:solidFill>
                <a:latin typeface="Calibri" pitchFamily="34" charset="0"/>
                <a:ea typeface="Calibri" pitchFamily="34" charset="-122"/>
                <a:cs typeface="Calibri" pitchFamily="34" charset="-120"/>
              </a:rPr>
              <a:t>Condições estáticas e declarações imutáveis. Sem funções de usuário ou módulos.</a:t>
            </a:r>
            <a:endParaRPr lang="en-US" sz="1800" dirty="0"/>
          </a:p>
        </p:txBody>
      </p:sp>
      <p:sp>
        <p:nvSpPr>
          <p:cNvPr id="16" name="Shape 12"/>
          <p:cNvSpPr/>
          <p:nvPr/>
        </p:nvSpPr>
        <p:spPr>
          <a:xfrm>
            <a:off x="960120" y="4014216"/>
            <a:ext cx="530352" cy="530352"/>
          </a:xfrm>
          <a:prstGeom prst="ellipse">
            <a:avLst/>
          </a:prstGeom>
          <a:solidFill>
            <a:srgbClr val="7B6FF0"/>
          </a:solidFill>
          <a:ln w="12700">
            <a:solidFill>
              <a:srgbClr val="7B6FF0">
                <a:alpha val="0"/>
              </a:srgbClr>
            </a:solidFill>
            <a:prstDash val="solid"/>
          </a:ln>
        </p:spPr>
      </p:sp>
      <p:pic>
        <p:nvPicPr>
          <p:cNvPr id="17" name="Image 2" descr="preencoded.png">    </p:cNvPr>
          <p:cNvPicPr>
            <a:picLocks noChangeAspect="1"/>
          </p:cNvPicPr>
          <p:nvPr/>
        </p:nvPicPr>
        <p:blipFill>
          <a:blip r:embed="rId3"/>
          <a:stretch>
            <a:fillRect/>
          </a:stretch>
        </p:blipFill>
        <p:spPr>
          <a:xfrm>
            <a:off x="1082101" y="4136197"/>
            <a:ext cx="286390" cy="286390"/>
          </a:xfrm>
          <a:prstGeom prst="rect">
            <a:avLst/>
          </a:prstGeom>
        </p:spPr>
      </p:pic>
      <p:sp>
        <p:nvSpPr>
          <p:cNvPr id="18" name="Text 13"/>
          <p:cNvSpPr txBox="1"/>
          <p:nvPr/>
        </p:nvSpPr>
        <p:spPr>
          <a:xfrm>
            <a:off x="1691640" y="3995928"/>
            <a:ext cx="3886200" cy="384048"/>
          </a:xfrm>
          <a:prstGeom prst="rect">
            <a:avLst/>
          </a:prstGeom>
          <a:noFill/>
          <a:ln/>
        </p:spPr>
        <p:txBody>
          <a:bodyPr wrap="square" lIns="0" tIns="0" rIns="0" bIns="0"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Observações</a:t>
            </a:r>
            <a:endParaRPr lang="en-US" sz="2100" dirty="0"/>
          </a:p>
        </p:txBody>
      </p:sp>
      <p:sp>
        <p:nvSpPr>
          <p:cNvPr id="19" name="Text 14"/>
          <p:cNvSpPr txBox="1"/>
          <p:nvPr/>
        </p:nvSpPr>
        <p:spPr>
          <a:xfrm>
            <a:off x="1691640" y="4443984"/>
            <a:ext cx="3886200" cy="758952"/>
          </a:xfrm>
          <a:prstGeom prst="rect">
            <a:avLst/>
          </a:prstGeom>
          <a:noFill/>
          <a:ln/>
        </p:spPr>
        <p:txBody>
          <a:bodyPr wrap="square" lIns="0" tIns="0" rIns="0" bIns="0" rtlCol="0" anchor="t"/>
          <a:lstStyle/>
          <a:p>
            <a:pPr indent="0" marL="0">
              <a:buNone/>
            </a:pPr>
            <a:r>
              <a:rPr lang="en-US" sz="1800" dirty="0">
                <a:solidFill>
                  <a:srgbClr val="CBD5E1"/>
                </a:solidFill>
                <a:latin typeface="Calibri" pitchFamily="34" charset="0"/>
                <a:ea typeface="Calibri" pitchFamily="34" charset="-122"/>
                <a:cs typeface="Calibri" pitchFamily="34" charset="-120"/>
              </a:rPr>
              <a:t>Sondas limitadas de serviço. Sem identificação de vulnerabilidades.</a:t>
            </a:r>
            <a:endParaRPr lang="en-US" sz="1800" dirty="0"/>
          </a:p>
        </p:txBody>
      </p:sp>
      <p:sp>
        <p:nvSpPr>
          <p:cNvPr id="20" name="Shape 15"/>
          <p:cNvSpPr/>
          <p:nvPr/>
        </p:nvSpPr>
        <p:spPr>
          <a:xfrm>
            <a:off x="6483096" y="1993392"/>
            <a:ext cx="530352" cy="530352"/>
          </a:xfrm>
          <a:prstGeom prst="ellipse">
            <a:avLst/>
          </a:prstGeom>
          <a:solidFill>
            <a:srgbClr val="10BCD8"/>
          </a:solidFill>
          <a:ln w="12700">
            <a:solidFill>
              <a:srgbClr val="10BCD8">
                <a:alpha val="0"/>
              </a:srgbClr>
            </a:solidFill>
            <a:prstDash val="solid"/>
          </a:ln>
        </p:spPr>
      </p:sp>
      <p:pic>
        <p:nvPicPr>
          <p:cNvPr id="21" name="Image 3" descr="preencoded.png">    </p:cNvPr>
          <p:cNvPicPr>
            <a:picLocks noChangeAspect="1"/>
          </p:cNvPicPr>
          <p:nvPr/>
        </p:nvPicPr>
        <p:blipFill>
          <a:blip r:embed="rId4"/>
          <a:stretch>
            <a:fillRect/>
          </a:stretch>
        </p:blipFill>
        <p:spPr>
          <a:xfrm>
            <a:off x="6605077" y="2115373"/>
            <a:ext cx="286390" cy="286390"/>
          </a:xfrm>
          <a:prstGeom prst="rect">
            <a:avLst/>
          </a:prstGeom>
        </p:spPr>
      </p:pic>
      <p:sp>
        <p:nvSpPr>
          <p:cNvPr id="22" name="Text 16"/>
          <p:cNvSpPr txBox="1"/>
          <p:nvPr/>
        </p:nvSpPr>
        <p:spPr>
          <a:xfrm>
            <a:off x="7214616" y="1975104"/>
            <a:ext cx="3877056" cy="384048"/>
          </a:xfrm>
          <a:prstGeom prst="rect">
            <a:avLst/>
          </a:prstGeom>
          <a:noFill/>
          <a:ln/>
        </p:spPr>
        <p:txBody>
          <a:bodyPr wrap="square" lIns="0" tIns="0" rIns="0" bIns="0"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Firewall</a:t>
            </a:r>
            <a:endParaRPr lang="en-US" sz="2100" dirty="0"/>
          </a:p>
        </p:txBody>
      </p:sp>
      <p:sp>
        <p:nvSpPr>
          <p:cNvPr id="23" name="Text 17"/>
          <p:cNvSpPr txBox="1"/>
          <p:nvPr/>
        </p:nvSpPr>
        <p:spPr>
          <a:xfrm>
            <a:off x="7214616" y="2423160"/>
            <a:ext cx="3877056" cy="758952"/>
          </a:xfrm>
          <a:prstGeom prst="rect">
            <a:avLst/>
          </a:prstGeom>
          <a:noFill/>
          <a:ln/>
        </p:spPr>
        <p:txBody>
          <a:bodyPr wrap="square" lIns="0" tIns="0" rIns="0" bIns="0" rtlCol="0" anchor="t"/>
          <a:lstStyle/>
          <a:p>
            <a:pPr indent="0" marL="0">
              <a:buNone/>
            </a:pPr>
            <a:r>
              <a:rPr lang="en-US" sz="1800" dirty="0">
                <a:solidFill>
                  <a:srgbClr val="CBD5E1"/>
                </a:solidFill>
                <a:latin typeface="Calibri" pitchFamily="34" charset="0"/>
                <a:ea typeface="Calibri" pitchFamily="34" charset="-122"/>
                <a:cs typeface="Calibri" pitchFamily="34" charset="-120"/>
              </a:rPr>
              <a:t>Validação real no laboratório Linux. Windows nativo ainda não implementado.</a:t>
            </a:r>
            <a:endParaRPr lang="en-US" sz="1800" dirty="0"/>
          </a:p>
        </p:txBody>
      </p:sp>
      <p:sp>
        <p:nvSpPr>
          <p:cNvPr id="24" name="Shape 18"/>
          <p:cNvSpPr/>
          <p:nvPr/>
        </p:nvSpPr>
        <p:spPr>
          <a:xfrm>
            <a:off x="6483096" y="4014216"/>
            <a:ext cx="530352" cy="530352"/>
          </a:xfrm>
          <a:prstGeom prst="ellipse">
            <a:avLst/>
          </a:prstGeom>
          <a:solidFill>
            <a:srgbClr val="7B6FF0"/>
          </a:solidFill>
          <a:ln w="12700">
            <a:solidFill>
              <a:srgbClr val="7B6FF0">
                <a:alpha val="0"/>
              </a:srgbClr>
            </a:solidFill>
            <a:prstDash val="solid"/>
          </a:ln>
        </p:spPr>
      </p:sp>
      <p:pic>
        <p:nvPicPr>
          <p:cNvPr id="25" name="Image 4" descr="preencoded.png">    </p:cNvPr>
          <p:cNvPicPr>
            <a:picLocks noChangeAspect="1"/>
          </p:cNvPicPr>
          <p:nvPr/>
        </p:nvPicPr>
        <p:blipFill>
          <a:blip r:embed="rId5"/>
          <a:stretch>
            <a:fillRect/>
          </a:stretch>
        </p:blipFill>
        <p:spPr>
          <a:xfrm>
            <a:off x="6605077" y="4136197"/>
            <a:ext cx="286390" cy="286390"/>
          </a:xfrm>
          <a:prstGeom prst="rect">
            <a:avLst/>
          </a:prstGeom>
        </p:spPr>
      </p:pic>
      <p:sp>
        <p:nvSpPr>
          <p:cNvPr id="26" name="Text 19"/>
          <p:cNvSpPr txBox="1"/>
          <p:nvPr/>
        </p:nvSpPr>
        <p:spPr>
          <a:xfrm>
            <a:off x="7214616" y="3995928"/>
            <a:ext cx="3877056" cy="384048"/>
          </a:xfrm>
          <a:prstGeom prst="rect">
            <a:avLst/>
          </a:prstGeom>
          <a:noFill/>
          <a:ln/>
        </p:spPr>
        <p:txBody>
          <a:bodyPr wrap="square" lIns="0" tIns="0" rIns="0" bIns="0"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Operação distribuída</a:t>
            </a:r>
            <a:endParaRPr lang="en-US" sz="2100" dirty="0"/>
          </a:p>
        </p:txBody>
      </p:sp>
      <p:sp>
        <p:nvSpPr>
          <p:cNvPr id="27" name="Text 20"/>
          <p:cNvSpPr txBox="1"/>
          <p:nvPr/>
        </p:nvSpPr>
        <p:spPr>
          <a:xfrm>
            <a:off x="7214616" y="4443984"/>
            <a:ext cx="3877056" cy="758952"/>
          </a:xfrm>
          <a:prstGeom prst="rect">
            <a:avLst/>
          </a:prstGeom>
          <a:noFill/>
          <a:ln/>
        </p:spPr>
        <p:txBody>
          <a:bodyPr wrap="square" lIns="0" tIns="0" rIns="0" bIns="0" rtlCol="0" anchor="t"/>
          <a:lstStyle/>
          <a:p>
            <a:pPr indent="0" marL="0">
              <a:buNone/>
            </a:pPr>
            <a:r>
              <a:rPr lang="en-US" sz="1800" dirty="0">
                <a:solidFill>
                  <a:srgbClr val="CBD5E1"/>
                </a:solidFill>
                <a:latin typeface="Calibri" pitchFamily="34" charset="0"/>
                <a:ea typeface="Calibri" pitchFamily="34" charset="-122"/>
                <a:cs typeface="Calibri" pitchFamily="34" charset="-120"/>
              </a:rPr>
              <a:t>Sem administração remota autenticada, rollback global ou execução autônoma.</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324"/>
        </a:solidFill>
      </p:bgPr>
    </p:bg>
    <p:spTree>
      <p:nvGrpSpPr>
        <p:cNvPr id="1" name=""/>
        <p:cNvGrpSpPr/>
        <p:nvPr/>
      </p:nvGrpSpPr>
      <p:grpSpPr>
        <a:xfrm>
          <a:off x="0" y="0"/>
          <a:ext cx="0" cy="0"/>
          <a:chOff x="0" y="0"/>
          <a:chExt cx="0" cy="0"/>
        </a:xfrm>
      </p:grpSpPr>
      <p:sp>
        <p:nvSpPr>
          <p:cNvPr id="2" name="Shape 0"/>
          <p:cNvSpPr/>
          <p:nvPr/>
        </p:nvSpPr>
        <p:spPr>
          <a:xfrm>
            <a:off x="-1024128" y="-1005840"/>
            <a:ext cx="3456432" cy="3364992"/>
          </a:xfrm>
          <a:prstGeom prst="ellipse">
            <a:avLst/>
          </a:prstGeom>
          <a:solidFill>
            <a:srgbClr val="122B3F"/>
          </a:solidFill>
          <a:ln w="12700">
            <a:solidFill>
              <a:srgbClr val="333333">
                <a:alpha val="0"/>
              </a:srgbClr>
            </a:solidFill>
            <a:prstDash val="solid"/>
          </a:ln>
        </p:spPr>
      </p:sp>
      <p:sp>
        <p:nvSpPr>
          <p:cNvPr id="3" name="Shape 1"/>
          <p:cNvSpPr/>
          <p:nvPr/>
        </p:nvSpPr>
        <p:spPr>
          <a:xfrm>
            <a:off x="8686800" y="4709160"/>
            <a:ext cx="4663440" cy="3310128"/>
          </a:xfrm>
          <a:prstGeom prst="ellipse">
            <a:avLst/>
          </a:prstGeom>
          <a:solidFill>
            <a:srgbClr val="1D1D40"/>
          </a:solidFill>
          <a:ln w="12700">
            <a:solidFill>
              <a:srgbClr val="333333">
                <a:alpha val="0"/>
              </a:srgbClr>
            </a:solidFill>
            <a:prstDash val="solid"/>
          </a:ln>
        </p:spPr>
      </p:sp>
      <p:sp>
        <p:nvSpPr>
          <p:cNvPr id="4" name="Text 2"/>
          <p:cNvSpPr txBox="1"/>
          <p:nvPr/>
        </p:nvSpPr>
        <p:spPr>
          <a:xfrm>
            <a:off x="594360" y="292608"/>
            <a:ext cx="10469880" cy="530352"/>
          </a:xfrm>
          <a:prstGeom prst="rect">
            <a:avLst/>
          </a:prstGeom>
          <a:noFill/>
          <a:ln/>
        </p:spPr>
        <p:txBody>
          <a:bodyPr wrap="square" lIns="0" tIns="0" rIns="0" bIns="0" rtlCol="0" anchor="ctr"/>
          <a:lstStyle/>
          <a:p>
            <a:pPr algn="ctr" indent="0" marL="0">
              <a:buNone/>
            </a:pPr>
            <a:r>
              <a:rPr lang="en-US" sz="2900" b="1" dirty="0">
                <a:solidFill>
                  <a:srgbClr val="F8FAFC"/>
                </a:solidFill>
                <a:latin typeface="Arial" pitchFamily="34" charset="0"/>
                <a:ea typeface="Arial" pitchFamily="34" charset="-122"/>
                <a:cs typeface="Arial" pitchFamily="34" charset="-120"/>
              </a:rPr>
              <a:t>Conclusão e </a:t>
            </a:r>
            <a:pPr algn="ctr" indent="0" marL="0">
              <a:buNone/>
            </a:pPr>
            <a:r>
              <a:rPr lang="en-US" sz="2900" b="1" dirty="0">
                <a:solidFill>
                  <a:srgbClr val="10BCD8"/>
                </a:solidFill>
                <a:latin typeface="Arial" pitchFamily="34" charset="0"/>
                <a:ea typeface="Arial" pitchFamily="34" charset="-122"/>
                <a:cs typeface="Arial" pitchFamily="34" charset="-120"/>
              </a:rPr>
              <a:t>evolução</a:t>
            </a:r>
            <a:endParaRPr lang="en-US" sz="2900" dirty="0"/>
          </a:p>
        </p:txBody>
      </p:sp>
      <p:sp>
        <p:nvSpPr>
          <p:cNvPr id="5" name="Shape 3"/>
          <p:cNvSpPr/>
          <p:nvPr/>
        </p:nvSpPr>
        <p:spPr>
          <a:xfrm>
            <a:off x="10991088" y="310896"/>
            <a:ext cx="621792" cy="621792"/>
          </a:xfrm>
          <a:prstGeom prst="ellipse">
            <a:avLst/>
          </a:prstGeom>
          <a:solidFill>
            <a:srgbClr val="7B6FF0"/>
          </a:solidFill>
          <a:ln w="12700">
            <a:solidFill>
              <a:srgbClr val="7B6FF0">
                <a:alpha val="0"/>
              </a:srgbClr>
            </a:solidFill>
            <a:prstDash val="solid"/>
          </a:ln>
        </p:spPr>
      </p:sp>
      <p:pic>
        <p:nvPicPr>
          <p:cNvPr id="6" name="Image 0" descr="preencoded.png">    </p:cNvPr>
          <p:cNvPicPr>
            <a:picLocks noChangeAspect="1"/>
          </p:cNvPicPr>
          <p:nvPr/>
        </p:nvPicPr>
        <p:blipFill>
          <a:blip r:embed="rId1"/>
          <a:stretch>
            <a:fillRect/>
          </a:stretch>
        </p:blipFill>
        <p:spPr>
          <a:xfrm>
            <a:off x="11134100" y="453908"/>
            <a:ext cx="335768" cy="335768"/>
          </a:xfrm>
          <a:prstGeom prst="rect">
            <a:avLst/>
          </a:prstGeom>
        </p:spPr>
      </p:pic>
      <p:sp>
        <p:nvSpPr>
          <p:cNvPr id="7" name="Text 4"/>
          <p:cNvSpPr txBox="1"/>
          <p:nvPr/>
        </p:nvSpPr>
        <p:spPr>
          <a:xfrm>
            <a:off x="685800" y="987552"/>
            <a:ext cx="10789920" cy="384048"/>
          </a:xfrm>
          <a:prstGeom prst="rect">
            <a:avLst/>
          </a:prstGeom>
          <a:noFill/>
          <a:ln/>
        </p:spPr>
        <p:txBody>
          <a:bodyPr wrap="square" lIns="0" tIns="0" rIns="0" bIns="0" rtlCol="0" anchor="ctr"/>
          <a:lstStyle/>
          <a:p>
            <a:pPr algn="ctr" indent="0" marL="0">
              <a:buNone/>
            </a:pPr>
            <a:r>
              <a:rPr lang="en-US" sz="1800" dirty="0">
                <a:solidFill>
                  <a:srgbClr val="CBD5E1"/>
                </a:solidFill>
                <a:latin typeface="Calibri" pitchFamily="34" charset="0"/>
                <a:ea typeface="Calibri" pitchFamily="34" charset="-122"/>
                <a:cs typeface="Calibri" pitchFamily="34" charset="-120"/>
              </a:rPr>
              <a:t>Uma linguagem executável com semântica de domínio demonstrável</a:t>
            </a:r>
            <a:endParaRPr lang="en-US" sz="1800" dirty="0"/>
          </a:p>
        </p:txBody>
      </p:sp>
      <p:sp>
        <p:nvSpPr>
          <p:cNvPr id="8" name="Text 5"/>
          <p:cNvSpPr txBox="1"/>
          <p:nvPr/>
        </p:nvSpPr>
        <p:spPr>
          <a:xfrm>
            <a:off x="502920" y="6556248"/>
            <a:ext cx="7772400" cy="164592"/>
          </a:xfrm>
          <a:prstGeom prst="rect">
            <a:avLst/>
          </a:prstGeom>
          <a:noFill/>
          <a:ln/>
        </p:spPr>
        <p:txBody>
          <a:bodyPr wrap="square" lIns="0" tIns="0" rIns="0" bIns="0" rtlCol="0" anchor="ctr"/>
          <a:lstStyle/>
          <a:p>
            <a:pPr indent="0" marL="0">
              <a:buNone/>
            </a:pPr>
            <a:r>
              <a:rPr lang="en-US" sz="850" dirty="0">
                <a:solidFill>
                  <a:srgbClr val="8796AD"/>
                </a:solidFill>
                <a:latin typeface="Calibri" pitchFamily="34" charset="0"/>
                <a:ea typeface="Calibri" pitchFamily="34" charset="-122"/>
                <a:cs typeface="Calibri" pitchFamily="34" charset="-120"/>
              </a:rPr>
              <a:t>NetSec  ·  Redes + Segurança + Automação</a:t>
            </a:r>
            <a:endParaRPr lang="en-US" sz="850" dirty="0"/>
          </a:p>
        </p:txBody>
      </p:sp>
      <p:sp>
        <p:nvSpPr>
          <p:cNvPr id="9" name="Text 6"/>
          <p:cNvSpPr txBox="1"/>
          <p:nvPr/>
        </p:nvSpPr>
        <p:spPr>
          <a:xfrm>
            <a:off x="11292840" y="6547104"/>
            <a:ext cx="320040" cy="182880"/>
          </a:xfrm>
          <a:prstGeom prst="rect">
            <a:avLst/>
          </a:prstGeom>
          <a:noFill/>
          <a:ln/>
        </p:spPr>
        <p:txBody>
          <a:bodyPr wrap="square" lIns="0" tIns="0" rIns="0" bIns="0" rtlCol="0" anchor="ctr"/>
          <a:lstStyle/>
          <a:p>
            <a:pPr algn="r" indent="0" marL="0">
              <a:buNone/>
            </a:pPr>
            <a:r>
              <a:rPr lang="en-US" sz="850" dirty="0">
                <a:solidFill>
                  <a:srgbClr val="8796AD"/>
                </a:solidFill>
                <a:latin typeface="Calibri" pitchFamily="34" charset="0"/>
                <a:ea typeface="Calibri" pitchFamily="34" charset="-122"/>
                <a:cs typeface="Calibri" pitchFamily="34" charset="-120"/>
              </a:rPr>
              <a:t>19</a:t>
            </a:r>
            <a:endParaRPr lang="en-US" sz="850" dirty="0"/>
          </a:p>
        </p:txBody>
      </p:sp>
      <p:sp>
        <p:nvSpPr>
          <p:cNvPr id="10" name="Shape 7"/>
          <p:cNvSpPr/>
          <p:nvPr/>
        </p:nvSpPr>
        <p:spPr>
          <a:xfrm>
            <a:off x="932688" y="1828800"/>
            <a:ext cx="530352" cy="530352"/>
          </a:xfrm>
          <a:prstGeom prst="ellipse">
            <a:avLst/>
          </a:prstGeom>
          <a:solidFill>
            <a:srgbClr val="10BCD8"/>
          </a:solidFill>
          <a:ln w="12700">
            <a:solidFill>
              <a:srgbClr val="10BCD8">
                <a:alpha val="0"/>
              </a:srgbClr>
            </a:solidFill>
            <a:prstDash val="solid"/>
          </a:ln>
        </p:spPr>
      </p:sp>
      <p:pic>
        <p:nvPicPr>
          <p:cNvPr id="11" name="Image 1" descr="preencoded.png">    </p:cNvPr>
          <p:cNvPicPr>
            <a:picLocks noChangeAspect="1"/>
          </p:cNvPicPr>
          <p:nvPr/>
        </p:nvPicPr>
        <p:blipFill>
          <a:blip r:embed="rId2"/>
          <a:stretch>
            <a:fillRect/>
          </a:stretch>
        </p:blipFill>
        <p:spPr>
          <a:xfrm>
            <a:off x="1054669" y="1950781"/>
            <a:ext cx="286390" cy="286390"/>
          </a:xfrm>
          <a:prstGeom prst="rect">
            <a:avLst/>
          </a:prstGeom>
        </p:spPr>
      </p:pic>
      <p:sp>
        <p:nvSpPr>
          <p:cNvPr id="12" name="Text 8"/>
          <p:cNvSpPr txBox="1"/>
          <p:nvPr/>
        </p:nvSpPr>
        <p:spPr>
          <a:xfrm>
            <a:off x="1664208" y="1810512"/>
            <a:ext cx="9509760" cy="384048"/>
          </a:xfrm>
          <a:prstGeom prst="rect">
            <a:avLst/>
          </a:prstGeom>
          <a:noFill/>
          <a:ln/>
        </p:spPr>
        <p:txBody>
          <a:bodyPr wrap="square" lIns="0" tIns="0" rIns="0" bIns="0"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Entrega acadêmica</a:t>
            </a:r>
            <a:endParaRPr lang="en-US" sz="2100" dirty="0"/>
          </a:p>
        </p:txBody>
      </p:sp>
      <p:sp>
        <p:nvSpPr>
          <p:cNvPr id="13" name="Text 9"/>
          <p:cNvSpPr txBox="1"/>
          <p:nvPr/>
        </p:nvSpPr>
        <p:spPr>
          <a:xfrm>
            <a:off x="1664208" y="2258568"/>
            <a:ext cx="9509760" cy="758952"/>
          </a:xfrm>
          <a:prstGeom prst="rect">
            <a:avLst/>
          </a:prstGeom>
          <a:noFill/>
          <a:ln/>
        </p:spPr>
        <p:txBody>
          <a:bodyPr wrap="square" lIns="0" tIns="0" rIns="0" bIns="0" rtlCol="0" anchor="t"/>
          <a:lstStyle/>
          <a:p>
            <a:pPr indent="0" marL="0">
              <a:buNone/>
            </a:pPr>
            <a:r>
              <a:rPr lang="en-US" sz="1800" dirty="0">
                <a:solidFill>
                  <a:srgbClr val="CBD5E1"/>
                </a:solidFill>
                <a:latin typeface="Calibri" pitchFamily="34" charset="0"/>
                <a:ea typeface="Calibri" pitchFamily="34" charset="-122"/>
                <a:cs typeface="Calibri" pitchFamily="34" charset="-120"/>
              </a:rPr>
              <a:t>Código legível, gramática definida, compilador próprio e editor integrado.</a:t>
            </a:r>
            <a:endParaRPr lang="en-US" sz="1800" dirty="0"/>
          </a:p>
        </p:txBody>
      </p:sp>
      <p:sp>
        <p:nvSpPr>
          <p:cNvPr id="14" name="Shape 10"/>
          <p:cNvSpPr/>
          <p:nvPr/>
        </p:nvSpPr>
        <p:spPr>
          <a:xfrm>
            <a:off x="932688" y="3273552"/>
            <a:ext cx="530352" cy="530352"/>
          </a:xfrm>
          <a:prstGeom prst="ellipse">
            <a:avLst/>
          </a:prstGeom>
          <a:solidFill>
            <a:srgbClr val="7B6FF0"/>
          </a:solidFill>
          <a:ln w="12700">
            <a:solidFill>
              <a:srgbClr val="7B6FF0">
                <a:alpha val="0"/>
              </a:srgbClr>
            </a:solidFill>
            <a:prstDash val="solid"/>
          </a:ln>
        </p:spPr>
      </p:sp>
      <p:pic>
        <p:nvPicPr>
          <p:cNvPr id="15" name="Image 2" descr="preencoded.png">    </p:cNvPr>
          <p:cNvPicPr>
            <a:picLocks noChangeAspect="1"/>
          </p:cNvPicPr>
          <p:nvPr/>
        </p:nvPicPr>
        <p:blipFill>
          <a:blip r:embed="rId3"/>
          <a:stretch>
            <a:fillRect/>
          </a:stretch>
        </p:blipFill>
        <p:spPr>
          <a:xfrm>
            <a:off x="1054669" y="3395533"/>
            <a:ext cx="286390" cy="286390"/>
          </a:xfrm>
          <a:prstGeom prst="rect">
            <a:avLst/>
          </a:prstGeom>
        </p:spPr>
      </p:pic>
      <p:sp>
        <p:nvSpPr>
          <p:cNvPr id="16" name="Text 11"/>
          <p:cNvSpPr txBox="1"/>
          <p:nvPr/>
        </p:nvSpPr>
        <p:spPr>
          <a:xfrm>
            <a:off x="1664208" y="3255264"/>
            <a:ext cx="9509760" cy="384048"/>
          </a:xfrm>
          <a:prstGeom prst="rect">
            <a:avLst/>
          </a:prstGeom>
          <a:noFill/>
          <a:ln/>
        </p:spPr>
        <p:txBody>
          <a:bodyPr wrap="square" lIns="0" tIns="0" rIns="0" bIns="0"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Benefício demonstrado</a:t>
            </a:r>
            <a:endParaRPr lang="en-US" sz="2100" dirty="0"/>
          </a:p>
        </p:txBody>
      </p:sp>
      <p:sp>
        <p:nvSpPr>
          <p:cNvPr id="17" name="Text 12"/>
          <p:cNvSpPr txBox="1"/>
          <p:nvPr/>
        </p:nvSpPr>
        <p:spPr>
          <a:xfrm>
            <a:off x="1664208" y="3703320"/>
            <a:ext cx="9509760" cy="758952"/>
          </a:xfrm>
          <a:prstGeom prst="rect">
            <a:avLst/>
          </a:prstGeom>
          <a:noFill/>
          <a:ln/>
        </p:spPr>
        <p:txBody>
          <a:bodyPr wrap="square" lIns="0" tIns="0" rIns="0" bIns="0" rtlCol="0" anchor="t"/>
          <a:lstStyle/>
          <a:p>
            <a:pPr indent="0" marL="0">
              <a:buNone/>
            </a:pPr>
            <a:r>
              <a:rPr lang="en-US" sz="1800" dirty="0">
                <a:solidFill>
                  <a:srgbClr val="CBD5E1"/>
                </a:solidFill>
                <a:latin typeface="Calibri" pitchFamily="34" charset="0"/>
                <a:ea typeface="Calibri" pitchFamily="34" charset="-122"/>
                <a:cs typeface="Calibri" pitchFamily="34" charset="-120"/>
              </a:rPr>
              <a:t>Políticas contraditórias são recusadas antes de qualquer ação de rede.</a:t>
            </a:r>
            <a:endParaRPr lang="en-US" sz="1800" dirty="0"/>
          </a:p>
        </p:txBody>
      </p:sp>
      <p:sp>
        <p:nvSpPr>
          <p:cNvPr id="18" name="Shape 13"/>
          <p:cNvSpPr/>
          <p:nvPr/>
        </p:nvSpPr>
        <p:spPr>
          <a:xfrm>
            <a:off x="932688" y="4727448"/>
            <a:ext cx="530352" cy="530352"/>
          </a:xfrm>
          <a:prstGeom prst="ellipse">
            <a:avLst/>
          </a:prstGeom>
          <a:solidFill>
            <a:srgbClr val="10BCD8"/>
          </a:solidFill>
          <a:ln w="12700">
            <a:solidFill>
              <a:srgbClr val="10BCD8">
                <a:alpha val="0"/>
              </a:srgbClr>
            </a:solidFill>
            <a:prstDash val="solid"/>
          </a:ln>
        </p:spPr>
      </p:sp>
      <p:pic>
        <p:nvPicPr>
          <p:cNvPr id="19" name="Image 3" descr="preencoded.png">    </p:cNvPr>
          <p:cNvPicPr>
            <a:picLocks noChangeAspect="1"/>
          </p:cNvPicPr>
          <p:nvPr/>
        </p:nvPicPr>
        <p:blipFill>
          <a:blip r:embed="rId4"/>
          <a:stretch>
            <a:fillRect/>
          </a:stretch>
        </p:blipFill>
        <p:spPr>
          <a:xfrm>
            <a:off x="1054669" y="4849429"/>
            <a:ext cx="286390" cy="286390"/>
          </a:xfrm>
          <a:prstGeom prst="rect">
            <a:avLst/>
          </a:prstGeom>
        </p:spPr>
      </p:pic>
      <p:sp>
        <p:nvSpPr>
          <p:cNvPr id="20" name="Text 14"/>
          <p:cNvSpPr txBox="1"/>
          <p:nvPr/>
        </p:nvSpPr>
        <p:spPr>
          <a:xfrm>
            <a:off x="1664208" y="4709160"/>
            <a:ext cx="9509760" cy="384048"/>
          </a:xfrm>
          <a:prstGeom prst="rect">
            <a:avLst/>
          </a:prstGeom>
          <a:noFill/>
          <a:ln/>
        </p:spPr>
        <p:txBody>
          <a:bodyPr wrap="square" lIns="0" tIns="0" rIns="0" bIns="0"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Evolução profissional separada</a:t>
            </a:r>
            <a:endParaRPr lang="en-US" sz="2100" dirty="0"/>
          </a:p>
        </p:txBody>
      </p:sp>
      <p:sp>
        <p:nvSpPr>
          <p:cNvPr id="21" name="Text 15"/>
          <p:cNvSpPr txBox="1"/>
          <p:nvPr/>
        </p:nvSpPr>
        <p:spPr>
          <a:xfrm>
            <a:off x="1664208" y="5157216"/>
            <a:ext cx="9509760" cy="758952"/>
          </a:xfrm>
          <a:prstGeom prst="rect">
            <a:avLst/>
          </a:prstGeom>
          <a:noFill/>
          <a:ln/>
        </p:spPr>
        <p:txBody>
          <a:bodyPr wrap="square" lIns="0" tIns="0" rIns="0" bIns="0" rtlCol="0" anchor="t"/>
          <a:lstStyle/>
          <a:p>
            <a:pPr indent="0" marL="0">
              <a:buNone/>
            </a:pPr>
            <a:r>
              <a:rPr lang="en-US" sz="1800" dirty="0">
                <a:solidFill>
                  <a:srgbClr val="CBD5E1"/>
                </a:solidFill>
                <a:latin typeface="Calibri" pitchFamily="34" charset="0"/>
                <a:ea typeface="Calibri" pitchFamily="34" charset="-122"/>
                <a:cs typeface="Calibri" pitchFamily="34" charset="-120"/>
              </a:rPr>
              <a:t>Linux nativo primeiro. Depois Windows, acesso remoto e automações operacionais.</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324"/>
        </a:solidFill>
      </p:bgPr>
    </p:bg>
    <p:spTree>
      <p:nvGrpSpPr>
        <p:cNvPr id="1" name=""/>
        <p:cNvGrpSpPr/>
        <p:nvPr/>
      </p:nvGrpSpPr>
      <p:grpSpPr>
        <a:xfrm>
          <a:off x="0" y="0"/>
          <a:ext cx="0" cy="0"/>
          <a:chOff x="0" y="0"/>
          <a:chExt cx="0" cy="0"/>
        </a:xfrm>
      </p:grpSpPr>
      <p:sp>
        <p:nvSpPr>
          <p:cNvPr id="2" name="Shape 0"/>
          <p:cNvSpPr/>
          <p:nvPr/>
        </p:nvSpPr>
        <p:spPr>
          <a:xfrm>
            <a:off x="-1024128" y="-1005840"/>
            <a:ext cx="3456432" cy="3364992"/>
          </a:xfrm>
          <a:prstGeom prst="ellipse">
            <a:avLst/>
          </a:prstGeom>
          <a:solidFill>
            <a:srgbClr val="122B3F"/>
          </a:solidFill>
          <a:ln w="12700">
            <a:solidFill>
              <a:srgbClr val="333333">
                <a:alpha val="0"/>
              </a:srgbClr>
            </a:solidFill>
            <a:prstDash val="solid"/>
          </a:ln>
        </p:spPr>
      </p:sp>
      <p:sp>
        <p:nvSpPr>
          <p:cNvPr id="3" name="Shape 1"/>
          <p:cNvSpPr/>
          <p:nvPr/>
        </p:nvSpPr>
        <p:spPr>
          <a:xfrm>
            <a:off x="8686800" y="4709160"/>
            <a:ext cx="4663440" cy="3310128"/>
          </a:xfrm>
          <a:prstGeom prst="ellipse">
            <a:avLst/>
          </a:prstGeom>
          <a:solidFill>
            <a:srgbClr val="1D1D40"/>
          </a:solidFill>
          <a:ln w="12700">
            <a:solidFill>
              <a:srgbClr val="333333">
                <a:alpha val="0"/>
              </a:srgbClr>
            </a:solidFill>
            <a:prstDash val="solid"/>
          </a:ln>
        </p:spPr>
      </p:sp>
      <p:sp>
        <p:nvSpPr>
          <p:cNvPr id="4" name="Text 2"/>
          <p:cNvSpPr txBox="1"/>
          <p:nvPr/>
        </p:nvSpPr>
        <p:spPr>
          <a:xfrm>
            <a:off x="594360" y="292608"/>
            <a:ext cx="10469880" cy="530352"/>
          </a:xfrm>
          <a:prstGeom prst="rect">
            <a:avLst/>
          </a:prstGeom>
          <a:noFill/>
          <a:ln/>
        </p:spPr>
        <p:txBody>
          <a:bodyPr wrap="square" lIns="0" tIns="0" rIns="0" bIns="0" rtlCol="0" anchor="ctr"/>
          <a:lstStyle/>
          <a:p>
            <a:pPr algn="ctr" indent="0" marL="0">
              <a:buNone/>
            </a:pPr>
            <a:r>
              <a:rPr lang="en-US" sz="2900" b="1" dirty="0">
                <a:solidFill>
                  <a:srgbClr val="F8FAFC"/>
                </a:solidFill>
                <a:latin typeface="Arial" pitchFamily="34" charset="0"/>
                <a:ea typeface="Arial" pitchFamily="34" charset="-122"/>
                <a:cs typeface="Arial" pitchFamily="34" charset="-120"/>
              </a:rPr>
              <a:t>Referências e </a:t>
            </a:r>
            <a:pPr algn="ctr" indent="0" marL="0">
              <a:buNone/>
            </a:pPr>
            <a:r>
              <a:rPr lang="en-US" sz="2900" b="1" dirty="0">
                <a:solidFill>
                  <a:srgbClr val="10BCD8"/>
                </a:solidFill>
                <a:latin typeface="Arial" pitchFamily="34" charset="0"/>
                <a:ea typeface="Arial" pitchFamily="34" charset="-122"/>
                <a:cs typeface="Arial" pitchFamily="34" charset="-120"/>
              </a:rPr>
              <a:t>reprodução</a:t>
            </a:r>
            <a:endParaRPr lang="en-US" sz="2900" dirty="0"/>
          </a:p>
        </p:txBody>
      </p:sp>
      <p:sp>
        <p:nvSpPr>
          <p:cNvPr id="5" name="Shape 3"/>
          <p:cNvSpPr/>
          <p:nvPr/>
        </p:nvSpPr>
        <p:spPr>
          <a:xfrm>
            <a:off x="10991088" y="310896"/>
            <a:ext cx="621792" cy="621792"/>
          </a:xfrm>
          <a:prstGeom prst="ellipse">
            <a:avLst/>
          </a:prstGeom>
          <a:solidFill>
            <a:srgbClr val="7B6FF0"/>
          </a:solidFill>
          <a:ln w="12700">
            <a:solidFill>
              <a:srgbClr val="7B6FF0">
                <a:alpha val="0"/>
              </a:srgbClr>
            </a:solidFill>
            <a:prstDash val="solid"/>
          </a:ln>
        </p:spPr>
      </p:sp>
      <p:pic>
        <p:nvPicPr>
          <p:cNvPr id="6" name="Image 0" descr="preencoded.png">    </p:cNvPr>
          <p:cNvPicPr>
            <a:picLocks noChangeAspect="1"/>
          </p:cNvPicPr>
          <p:nvPr/>
        </p:nvPicPr>
        <p:blipFill>
          <a:blip r:embed="rId1"/>
          <a:stretch>
            <a:fillRect/>
          </a:stretch>
        </p:blipFill>
        <p:spPr>
          <a:xfrm>
            <a:off x="11134100" y="453908"/>
            <a:ext cx="335768" cy="335768"/>
          </a:xfrm>
          <a:prstGeom prst="rect">
            <a:avLst/>
          </a:prstGeom>
        </p:spPr>
      </p:pic>
      <p:sp>
        <p:nvSpPr>
          <p:cNvPr id="7" name="Text 4"/>
          <p:cNvSpPr txBox="1"/>
          <p:nvPr/>
        </p:nvSpPr>
        <p:spPr>
          <a:xfrm>
            <a:off x="502920" y="6556248"/>
            <a:ext cx="7772400" cy="164592"/>
          </a:xfrm>
          <a:prstGeom prst="rect">
            <a:avLst/>
          </a:prstGeom>
          <a:noFill/>
          <a:ln/>
        </p:spPr>
        <p:txBody>
          <a:bodyPr wrap="square" lIns="0" tIns="0" rIns="0" bIns="0" rtlCol="0" anchor="ctr"/>
          <a:lstStyle/>
          <a:p>
            <a:pPr indent="0" marL="0">
              <a:buNone/>
            </a:pPr>
            <a:r>
              <a:rPr lang="en-US" sz="850" dirty="0">
                <a:solidFill>
                  <a:srgbClr val="8796AD"/>
                </a:solidFill>
                <a:latin typeface="Calibri" pitchFamily="34" charset="0"/>
                <a:ea typeface="Calibri" pitchFamily="34" charset="-122"/>
                <a:cs typeface="Calibri" pitchFamily="34" charset="-120"/>
              </a:rPr>
              <a:t>NetSec  ·  Redes + Segurança + Automação</a:t>
            </a:r>
            <a:endParaRPr lang="en-US" sz="850" dirty="0"/>
          </a:p>
        </p:txBody>
      </p:sp>
      <p:sp>
        <p:nvSpPr>
          <p:cNvPr id="8" name="Text 5"/>
          <p:cNvSpPr txBox="1"/>
          <p:nvPr/>
        </p:nvSpPr>
        <p:spPr>
          <a:xfrm>
            <a:off x="11292840" y="6547104"/>
            <a:ext cx="320040" cy="182880"/>
          </a:xfrm>
          <a:prstGeom prst="rect">
            <a:avLst/>
          </a:prstGeom>
          <a:noFill/>
          <a:ln/>
        </p:spPr>
        <p:txBody>
          <a:bodyPr wrap="square" lIns="0" tIns="0" rIns="0" bIns="0" rtlCol="0" anchor="ctr"/>
          <a:lstStyle/>
          <a:p>
            <a:pPr algn="r" indent="0" marL="0">
              <a:buNone/>
            </a:pPr>
            <a:r>
              <a:rPr lang="en-US" sz="850" dirty="0">
                <a:solidFill>
                  <a:srgbClr val="8796AD"/>
                </a:solidFill>
                <a:latin typeface="Calibri" pitchFamily="34" charset="0"/>
                <a:ea typeface="Calibri" pitchFamily="34" charset="-122"/>
                <a:cs typeface="Calibri" pitchFamily="34" charset="-120"/>
              </a:rPr>
              <a:t>20</a:t>
            </a:r>
            <a:endParaRPr lang="en-US" sz="850" dirty="0"/>
          </a:p>
        </p:txBody>
      </p:sp>
      <p:sp>
        <p:nvSpPr>
          <p:cNvPr id="9" name="Shape 6"/>
          <p:cNvSpPr/>
          <p:nvPr/>
        </p:nvSpPr>
        <p:spPr>
          <a:xfrm>
            <a:off x="795528" y="1298448"/>
            <a:ext cx="402336" cy="402336"/>
          </a:xfrm>
          <a:prstGeom prst="ellipse">
            <a:avLst/>
          </a:prstGeom>
          <a:solidFill>
            <a:srgbClr val="10BCD8"/>
          </a:solidFill>
          <a:ln w="12700">
            <a:solidFill>
              <a:srgbClr val="10BCD8">
                <a:alpha val="0"/>
              </a:srgbClr>
            </a:solidFill>
            <a:prstDash val="solid"/>
          </a:ln>
        </p:spPr>
      </p:sp>
      <p:pic>
        <p:nvPicPr>
          <p:cNvPr id="10" name="Image 1" descr="preencoded.png">    </p:cNvPr>
          <p:cNvPicPr>
            <a:picLocks noChangeAspect="1"/>
          </p:cNvPicPr>
          <p:nvPr/>
        </p:nvPicPr>
        <p:blipFill>
          <a:blip r:embed="rId2"/>
          <a:stretch>
            <a:fillRect/>
          </a:stretch>
        </p:blipFill>
        <p:spPr>
          <a:xfrm>
            <a:off x="888065" y="1390985"/>
            <a:ext cx="217261" cy="217261"/>
          </a:xfrm>
          <a:prstGeom prst="rect">
            <a:avLst/>
          </a:prstGeom>
        </p:spPr>
      </p:pic>
      <p:sp>
        <p:nvSpPr>
          <p:cNvPr id="11" name="Text 7">
            <a:hlinkClick r:id="rId3" tooltip=""/>
          </p:cNvPr>
          <p:cNvSpPr txBox="1"/>
          <p:nvPr/>
        </p:nvSpPr>
        <p:spPr>
          <a:xfrm>
            <a:off x="1417320" y="1252728"/>
            <a:ext cx="9784080" cy="356616"/>
          </a:xfrm>
          <a:prstGeom prst="rect">
            <a:avLst/>
          </a:prstGeom>
          <a:noFill/>
          <a:ln/>
        </p:spPr>
        <p:txBody>
          <a:bodyPr wrap="square" lIns="0" tIns="0" rIns="0" bIns="0" rtlCol="0" anchor="ctr"/>
          <a:lstStyle/>
          <a:p>
            <a:pPr indent="0" marL="0">
              <a:buNone/>
            </a:pPr>
            <a:r>
              <a:rPr lang="en-US" sz="2300" b="1" u="sng" dirty="0">
                <a:solidFill>
                  <a:srgbClr val="F8FAF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Código e especificação da NetSec</a:t>
            </a:r>
            <a:endParaRPr lang="en-US" sz="2300" dirty="0"/>
          </a:p>
        </p:txBody>
      </p:sp>
      <p:sp>
        <p:nvSpPr>
          <p:cNvPr id="12" name="Text 8"/>
          <p:cNvSpPr txBox="1"/>
          <p:nvPr/>
        </p:nvSpPr>
        <p:spPr>
          <a:xfrm>
            <a:off x="1417320" y="1673352"/>
            <a:ext cx="9784080" cy="320040"/>
          </a:xfrm>
          <a:prstGeom prst="rect">
            <a:avLst/>
          </a:prstGeom>
          <a:noFill/>
          <a:ln/>
        </p:spPr>
        <p:txBody>
          <a:bodyPr wrap="square" lIns="0" tIns="0" rIns="0" bIns="0" rtlCol="0" anchor="ctr"/>
          <a:lstStyle/>
          <a:p>
            <a:pPr indent="0" marL="0">
              <a:buNone/>
            </a:pPr>
            <a:r>
              <a:rPr lang="en-US" sz="1800" dirty="0">
                <a:solidFill>
                  <a:srgbClr val="CBD5E1"/>
                </a:solidFill>
                <a:latin typeface="Calibri" pitchFamily="34" charset="0"/>
                <a:ea typeface="Calibri" pitchFamily="34" charset="-122"/>
                <a:cs typeface="Calibri" pitchFamily="34" charset="-120"/>
              </a:rPr>
              <a:t>docs/especificacao.md e docs/arquitetura.md</a:t>
            </a:r>
            <a:endParaRPr lang="en-US" sz="1800" dirty="0"/>
          </a:p>
        </p:txBody>
      </p:sp>
      <p:sp>
        <p:nvSpPr>
          <p:cNvPr id="13" name="Shape 9"/>
          <p:cNvSpPr/>
          <p:nvPr/>
        </p:nvSpPr>
        <p:spPr>
          <a:xfrm>
            <a:off x="795528" y="2258568"/>
            <a:ext cx="402336" cy="402336"/>
          </a:xfrm>
          <a:prstGeom prst="ellipse">
            <a:avLst/>
          </a:prstGeom>
          <a:solidFill>
            <a:srgbClr val="7B6FF0"/>
          </a:solidFill>
          <a:ln w="12700">
            <a:solidFill>
              <a:srgbClr val="7B6FF0">
                <a:alpha val="0"/>
              </a:srgbClr>
            </a:solidFill>
            <a:prstDash val="solid"/>
          </a:ln>
        </p:spPr>
      </p:sp>
      <p:pic>
        <p:nvPicPr>
          <p:cNvPr id="14" name="Image 2" descr="preencoded.png">    </p:cNvPr>
          <p:cNvPicPr>
            <a:picLocks noChangeAspect="1"/>
          </p:cNvPicPr>
          <p:nvPr/>
        </p:nvPicPr>
        <p:blipFill>
          <a:blip r:embed="rId4"/>
          <a:stretch>
            <a:fillRect/>
          </a:stretch>
        </p:blipFill>
        <p:spPr>
          <a:xfrm>
            <a:off x="888065" y="2351105"/>
            <a:ext cx="217261" cy="217261"/>
          </a:xfrm>
          <a:prstGeom prst="rect">
            <a:avLst/>
          </a:prstGeom>
        </p:spPr>
      </p:pic>
      <p:sp>
        <p:nvSpPr>
          <p:cNvPr id="15" name="Text 10">
            <a:hlinkClick r:id="rId5" tooltip=""/>
          </p:cNvPr>
          <p:cNvSpPr txBox="1"/>
          <p:nvPr/>
        </p:nvSpPr>
        <p:spPr>
          <a:xfrm>
            <a:off x="1417320" y="2212848"/>
            <a:ext cx="9784080" cy="356616"/>
          </a:xfrm>
          <a:prstGeom prst="rect">
            <a:avLst/>
          </a:prstGeom>
          <a:noFill/>
          <a:ln/>
        </p:spPr>
        <p:txBody>
          <a:bodyPr wrap="square" lIns="0" tIns="0" rIns="0" bIns="0" rtlCol="0" anchor="ctr"/>
          <a:lstStyle/>
          <a:p>
            <a:pPr indent="0" marL="0">
              <a:buNone/>
            </a:pPr>
            <a:r>
              <a:rPr lang="en-US" sz="2300" b="1" u="sng" dirty="0">
                <a:solidFill>
                  <a:srgbClr val="F8FAFC"/>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Evidências do marco acadêmico</a:t>
            </a:r>
            <a:endParaRPr lang="en-US" sz="2300" dirty="0"/>
          </a:p>
        </p:txBody>
      </p:sp>
      <p:sp>
        <p:nvSpPr>
          <p:cNvPr id="16" name="Text 11"/>
          <p:cNvSpPr txBox="1"/>
          <p:nvPr/>
        </p:nvSpPr>
        <p:spPr>
          <a:xfrm>
            <a:off x="1417320" y="2633472"/>
            <a:ext cx="9784080" cy="320040"/>
          </a:xfrm>
          <a:prstGeom prst="rect">
            <a:avLst/>
          </a:prstGeom>
          <a:noFill/>
          <a:ln/>
        </p:spPr>
        <p:txBody>
          <a:bodyPr wrap="square" lIns="0" tIns="0" rIns="0" bIns="0" rtlCol="0" anchor="ctr"/>
          <a:lstStyle/>
          <a:p>
            <a:pPr indent="0" marL="0">
              <a:buNone/>
            </a:pPr>
            <a:r>
              <a:rPr lang="en-US" sz="1800" dirty="0">
                <a:solidFill>
                  <a:srgbClr val="CBD5E1"/>
                </a:solidFill>
                <a:latin typeface="Calibri" pitchFamily="34" charset="0"/>
                <a:ea typeface="Calibri" pitchFamily="34" charset="-122"/>
                <a:cs typeface="Calibri" pitchFamily="34" charset="-120"/>
              </a:rPr>
              <a:t>docs/validacao-2026-09-18.md</a:t>
            </a:r>
            <a:endParaRPr lang="en-US" sz="1800" dirty="0"/>
          </a:p>
        </p:txBody>
      </p:sp>
      <p:sp>
        <p:nvSpPr>
          <p:cNvPr id="17" name="Shape 12"/>
          <p:cNvSpPr/>
          <p:nvPr/>
        </p:nvSpPr>
        <p:spPr>
          <a:xfrm>
            <a:off x="795528" y="3218688"/>
            <a:ext cx="402336" cy="402336"/>
          </a:xfrm>
          <a:prstGeom prst="ellipse">
            <a:avLst/>
          </a:prstGeom>
          <a:solidFill>
            <a:srgbClr val="10BCD8"/>
          </a:solidFill>
          <a:ln w="12700">
            <a:solidFill>
              <a:srgbClr val="10BCD8">
                <a:alpha val="0"/>
              </a:srgbClr>
            </a:solidFill>
            <a:prstDash val="solid"/>
          </a:ln>
        </p:spPr>
      </p:sp>
      <p:pic>
        <p:nvPicPr>
          <p:cNvPr id="18" name="Image 3" descr="preencoded.png">    </p:cNvPr>
          <p:cNvPicPr>
            <a:picLocks noChangeAspect="1"/>
          </p:cNvPicPr>
          <p:nvPr/>
        </p:nvPicPr>
        <p:blipFill>
          <a:blip r:embed="rId6"/>
          <a:stretch>
            <a:fillRect/>
          </a:stretch>
        </p:blipFill>
        <p:spPr>
          <a:xfrm>
            <a:off x="888065" y="3311225"/>
            <a:ext cx="217261" cy="217261"/>
          </a:xfrm>
          <a:prstGeom prst="rect">
            <a:avLst/>
          </a:prstGeom>
        </p:spPr>
      </p:pic>
      <p:sp>
        <p:nvSpPr>
          <p:cNvPr id="19" name="Text 13">
            <a:hlinkClick r:id="rId7" tooltip=""/>
          </p:cNvPr>
          <p:cNvSpPr txBox="1"/>
          <p:nvPr/>
        </p:nvSpPr>
        <p:spPr>
          <a:xfrm>
            <a:off x="1417320" y="3172968"/>
            <a:ext cx="9784080" cy="356616"/>
          </a:xfrm>
          <a:prstGeom prst="rect">
            <a:avLst/>
          </a:prstGeom>
          <a:noFill/>
          <a:ln/>
        </p:spPr>
        <p:txBody>
          <a:bodyPr wrap="square" lIns="0" tIns="0" rIns="0" bIns="0" rtlCol="0" anchor="ctr"/>
          <a:lstStyle/>
          <a:p>
            <a:pPr indent="0" marL="0">
              <a:buNone/>
            </a:pPr>
            <a:r>
              <a:rPr lang="en-US" sz="2300" b="1" u="sng" dirty="0">
                <a:solidFill>
                  <a:srgbClr val="F8FAFC"/>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Python: endereços IP e redes</a:t>
            </a:r>
            <a:endParaRPr lang="en-US" sz="2300" dirty="0"/>
          </a:p>
        </p:txBody>
      </p:sp>
      <p:sp>
        <p:nvSpPr>
          <p:cNvPr id="20" name="Text 14"/>
          <p:cNvSpPr txBox="1"/>
          <p:nvPr/>
        </p:nvSpPr>
        <p:spPr>
          <a:xfrm>
            <a:off x="1417320" y="3593592"/>
            <a:ext cx="9784080" cy="320040"/>
          </a:xfrm>
          <a:prstGeom prst="rect">
            <a:avLst/>
          </a:prstGeom>
          <a:noFill/>
          <a:ln/>
        </p:spPr>
        <p:txBody>
          <a:bodyPr wrap="square" lIns="0" tIns="0" rIns="0" bIns="0" rtlCol="0" anchor="ctr"/>
          <a:lstStyle/>
          <a:p>
            <a:pPr indent="0" marL="0">
              <a:buNone/>
            </a:pPr>
            <a:r>
              <a:rPr lang="en-US" sz="1800" dirty="0">
                <a:solidFill>
                  <a:srgbClr val="CBD5E1"/>
                </a:solidFill>
                <a:latin typeface="Calibri" pitchFamily="34" charset="0"/>
                <a:ea typeface="Calibri" pitchFamily="34" charset="-122"/>
                <a:cs typeface="Calibri" pitchFamily="34" charset="-120"/>
              </a:rPr>
              <a:t>Representação e validação de IPv4, IPv6 e CIDR</a:t>
            </a:r>
            <a:endParaRPr lang="en-US" sz="1800" dirty="0"/>
          </a:p>
        </p:txBody>
      </p:sp>
      <p:sp>
        <p:nvSpPr>
          <p:cNvPr id="21" name="Shape 15"/>
          <p:cNvSpPr/>
          <p:nvPr/>
        </p:nvSpPr>
        <p:spPr>
          <a:xfrm>
            <a:off x="795528" y="4178808"/>
            <a:ext cx="402336" cy="402336"/>
          </a:xfrm>
          <a:prstGeom prst="ellipse">
            <a:avLst/>
          </a:prstGeom>
          <a:solidFill>
            <a:srgbClr val="7B6FF0"/>
          </a:solidFill>
          <a:ln w="12700">
            <a:solidFill>
              <a:srgbClr val="7B6FF0">
                <a:alpha val="0"/>
              </a:srgbClr>
            </a:solidFill>
            <a:prstDash val="solid"/>
          </a:ln>
        </p:spPr>
      </p:sp>
      <p:pic>
        <p:nvPicPr>
          <p:cNvPr id="22" name="Image 4" descr="preencoded.png">    </p:cNvPr>
          <p:cNvPicPr>
            <a:picLocks noChangeAspect="1"/>
          </p:cNvPicPr>
          <p:nvPr/>
        </p:nvPicPr>
        <p:blipFill>
          <a:blip r:embed="rId8"/>
          <a:stretch>
            <a:fillRect/>
          </a:stretch>
        </p:blipFill>
        <p:spPr>
          <a:xfrm>
            <a:off x="888065" y="4271345"/>
            <a:ext cx="217261" cy="217261"/>
          </a:xfrm>
          <a:prstGeom prst="rect">
            <a:avLst/>
          </a:prstGeom>
        </p:spPr>
      </p:pic>
      <p:sp>
        <p:nvSpPr>
          <p:cNvPr id="23" name="Text 16">
            <a:hlinkClick r:id="rId9" tooltip=""/>
          </p:cNvPr>
          <p:cNvSpPr txBox="1"/>
          <p:nvPr/>
        </p:nvSpPr>
        <p:spPr>
          <a:xfrm>
            <a:off x="1417320" y="4133088"/>
            <a:ext cx="9784080" cy="356616"/>
          </a:xfrm>
          <a:prstGeom prst="rect">
            <a:avLst/>
          </a:prstGeom>
          <a:noFill/>
          <a:ln/>
        </p:spPr>
        <p:txBody>
          <a:bodyPr wrap="square" lIns="0" tIns="0" rIns="0" bIns="0" rtlCol="0" anchor="ctr"/>
          <a:lstStyle/>
          <a:p>
            <a:pPr indent="0" marL="0">
              <a:buNone/>
            </a:pPr>
            <a:r>
              <a:rPr lang="en-US" sz="2300" b="1" u="sng" dirty="0">
                <a:solidFill>
                  <a:srgbClr val="F8FAFC"/>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VS Code: recursos para linguagens</a:t>
            </a:r>
            <a:endParaRPr lang="en-US" sz="2300" dirty="0"/>
          </a:p>
        </p:txBody>
      </p:sp>
      <p:sp>
        <p:nvSpPr>
          <p:cNvPr id="24" name="Text 17"/>
          <p:cNvSpPr txBox="1"/>
          <p:nvPr/>
        </p:nvSpPr>
        <p:spPr>
          <a:xfrm>
            <a:off x="1417320" y="4553712"/>
            <a:ext cx="9784080" cy="320040"/>
          </a:xfrm>
          <a:prstGeom prst="rect">
            <a:avLst/>
          </a:prstGeom>
          <a:noFill/>
          <a:ln/>
        </p:spPr>
        <p:txBody>
          <a:bodyPr wrap="square" lIns="0" tIns="0" rIns="0" bIns="0" rtlCol="0" anchor="ctr"/>
          <a:lstStyle/>
          <a:p>
            <a:pPr indent="0" marL="0">
              <a:buNone/>
            </a:pPr>
            <a:r>
              <a:rPr lang="en-US" sz="1800" dirty="0">
                <a:solidFill>
                  <a:srgbClr val="CBD5E1"/>
                </a:solidFill>
                <a:latin typeface="Calibri" pitchFamily="34" charset="0"/>
                <a:ea typeface="Calibri" pitchFamily="34" charset="-122"/>
                <a:cs typeface="Calibri" pitchFamily="34" charset="-120"/>
              </a:rPr>
              <a:t>Completion, hover, definição e diagnósticos</a:t>
            </a:r>
            <a:endParaRPr lang="en-US" sz="1800" dirty="0"/>
          </a:p>
        </p:txBody>
      </p:sp>
      <p:sp>
        <p:nvSpPr>
          <p:cNvPr id="25" name="Shape 18"/>
          <p:cNvSpPr/>
          <p:nvPr/>
        </p:nvSpPr>
        <p:spPr>
          <a:xfrm>
            <a:off x="795528" y="5138928"/>
            <a:ext cx="402336" cy="402336"/>
          </a:xfrm>
          <a:prstGeom prst="ellipse">
            <a:avLst/>
          </a:prstGeom>
          <a:solidFill>
            <a:srgbClr val="10BCD8"/>
          </a:solidFill>
          <a:ln w="12700">
            <a:solidFill>
              <a:srgbClr val="10BCD8">
                <a:alpha val="0"/>
              </a:srgbClr>
            </a:solidFill>
            <a:prstDash val="solid"/>
          </a:ln>
        </p:spPr>
      </p:sp>
      <p:pic>
        <p:nvPicPr>
          <p:cNvPr id="26" name="Image 5" descr="preencoded.png">    </p:cNvPr>
          <p:cNvPicPr>
            <a:picLocks noChangeAspect="1"/>
          </p:cNvPicPr>
          <p:nvPr/>
        </p:nvPicPr>
        <p:blipFill>
          <a:blip r:embed="rId10"/>
          <a:stretch>
            <a:fillRect/>
          </a:stretch>
        </p:blipFill>
        <p:spPr>
          <a:xfrm>
            <a:off x="888065" y="5231465"/>
            <a:ext cx="217261" cy="217261"/>
          </a:xfrm>
          <a:prstGeom prst="rect">
            <a:avLst/>
          </a:prstGeom>
        </p:spPr>
      </p:pic>
      <p:sp>
        <p:nvSpPr>
          <p:cNvPr id="27" name="Text 19">
            <a:hlinkClick r:id="rId11" tooltip=""/>
          </p:cNvPr>
          <p:cNvSpPr txBox="1"/>
          <p:nvPr/>
        </p:nvSpPr>
        <p:spPr>
          <a:xfrm>
            <a:off x="1417320" y="5093208"/>
            <a:ext cx="9784080" cy="356616"/>
          </a:xfrm>
          <a:prstGeom prst="rect">
            <a:avLst/>
          </a:prstGeom>
          <a:noFill/>
          <a:ln/>
        </p:spPr>
        <p:txBody>
          <a:bodyPr wrap="square" lIns="0" tIns="0" rIns="0" bIns="0" rtlCol="0" anchor="ctr"/>
          <a:lstStyle/>
          <a:p>
            <a:pPr indent="0" marL="0">
              <a:buNone/>
            </a:pPr>
            <a:r>
              <a:rPr lang="en-US" sz="2300" b="1" u="sng" dirty="0">
                <a:solidFill>
                  <a:srgbClr val="F8FAFC"/>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nftables: referência oficial</a:t>
            </a:r>
            <a:endParaRPr lang="en-US" sz="2300" dirty="0"/>
          </a:p>
        </p:txBody>
      </p:sp>
      <p:sp>
        <p:nvSpPr>
          <p:cNvPr id="28" name="Text 20"/>
          <p:cNvSpPr txBox="1"/>
          <p:nvPr/>
        </p:nvSpPr>
        <p:spPr>
          <a:xfrm>
            <a:off x="1417320" y="5513832"/>
            <a:ext cx="9784080" cy="320040"/>
          </a:xfrm>
          <a:prstGeom prst="rect">
            <a:avLst/>
          </a:prstGeom>
          <a:noFill/>
          <a:ln/>
        </p:spPr>
        <p:txBody>
          <a:bodyPr wrap="square" lIns="0" tIns="0" rIns="0" bIns="0" rtlCol="0" anchor="ctr"/>
          <a:lstStyle/>
          <a:p>
            <a:pPr indent="0" marL="0">
              <a:buNone/>
            </a:pPr>
            <a:r>
              <a:rPr lang="en-US" sz="1800" dirty="0">
                <a:solidFill>
                  <a:srgbClr val="CBD5E1"/>
                </a:solidFill>
                <a:latin typeface="Calibri" pitchFamily="34" charset="0"/>
                <a:ea typeface="Calibri" pitchFamily="34" charset="-122"/>
                <a:cs typeface="Calibri" pitchFamily="34" charset="-120"/>
              </a:rPr>
              <a:t>Tabelas, chains, regras e consultas</a:t>
            </a:r>
            <a:endParaRPr lang="en-US" sz="1800" dirty="0"/>
          </a:p>
        </p:txBody>
      </p:sp>
      <p:sp>
        <p:nvSpPr>
          <p:cNvPr id="29" name="Text 21"/>
          <p:cNvSpPr txBox="1"/>
          <p:nvPr/>
        </p:nvSpPr>
        <p:spPr>
          <a:xfrm>
            <a:off x="960120" y="6217920"/>
            <a:ext cx="10332720" cy="256032"/>
          </a:xfrm>
          <a:prstGeom prst="rect">
            <a:avLst/>
          </a:prstGeom>
          <a:noFill/>
          <a:ln/>
        </p:spPr>
        <p:txBody>
          <a:bodyPr wrap="square" lIns="0" tIns="0" rIns="0" bIns="0" rtlCol="0" anchor="ctr"/>
          <a:lstStyle/>
          <a:p>
            <a:pPr algn="ctr" indent="0" marL="0">
              <a:buNone/>
            </a:pPr>
            <a:r>
              <a:rPr lang="en-US" sz="1500" dirty="0">
                <a:solidFill>
                  <a:srgbClr val="8796AD"/>
                </a:solidFill>
                <a:latin typeface="Calibri" pitchFamily="34" charset="0"/>
                <a:ea typeface="Calibri" pitchFamily="34" charset="-122"/>
                <a:cs typeface="Calibri" pitchFamily="34" charset="-120"/>
              </a:rPr>
              <a:t>Links clicáveis nos títulos. Comandos e fontes completos nas notas.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NetSec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NetSec: linguagem para redes e segurança</dc:title>
  <dc:subject>Implementação e demonstração da linguagem NetSec</dc:subject>
  <dc:creator>Matheus</dc:creator>
  <cp:lastModifiedBy>Matheus</cp:lastModifiedBy>
  <cp:revision>1</cp:revision>
  <dcterms:created xsi:type="dcterms:W3CDTF">2026-09-18T17:18:12Z</dcterms:created>
  <dcterms:modified xsi:type="dcterms:W3CDTF">2026-09-18T17:18:12Z</dcterms:modified>
</cp:coreProperties>
</file>